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3"/>
    <p:sldId id="258" r:id="rId4"/>
    <p:sldId id="257" r:id="rId5"/>
    <p:sldId id="303" r:id="rId6"/>
    <p:sldId id="264" r:id="rId7"/>
    <p:sldId id="265" r:id="rId9"/>
    <p:sldId id="279" r:id="rId10"/>
    <p:sldId id="280" r:id="rId11"/>
    <p:sldId id="270" r:id="rId12"/>
    <p:sldId id="278" r:id="rId13"/>
    <p:sldId id="260" r:id="rId14"/>
    <p:sldId id="277" r:id="rId15"/>
    <p:sldId id="281" r:id="rId16"/>
    <p:sldId id="282" r:id="rId17"/>
    <p:sldId id="283" r:id="rId18"/>
    <p:sldId id="300" r:id="rId19"/>
    <p:sldId id="301" r:id="rId20"/>
    <p:sldId id="302" r:id="rId21"/>
    <p:sldId id="287" r:id="rId22"/>
    <p:sldId id="288" r:id="rId23"/>
    <p:sldId id="284" r:id="rId24"/>
    <p:sldId id="285" r:id="rId25"/>
    <p:sldId id="289" r:id="rId26"/>
    <p:sldId id="295" r:id="rId27"/>
    <p:sldId id="296" r:id="rId28"/>
    <p:sldId id="286" r:id="rId29"/>
    <p:sldId id="299" r:id="rId30"/>
    <p:sldId id="290" r:id="rId31"/>
    <p:sldId id="292" r:id="rId32"/>
    <p:sldId id="304" r:id="rId33"/>
    <p:sldId id="297" r:id="rId34"/>
    <p:sldId id="298" r:id="rId35"/>
    <p:sldId id="261" r:id="rId36"/>
    <p:sldId id="262" r:id="rId37"/>
    <p:sldId id="266" r:id="rId38"/>
    <p:sldId id="275"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3"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EEEE"/>
    <a:srgbClr val="0070AE"/>
    <a:srgbClr val="F4F4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showGuides="1">
      <p:cViewPr>
        <p:scale>
          <a:sx n="75" d="100"/>
          <a:sy n="75" d="100"/>
        </p:scale>
        <p:origin x="-528" y="-72"/>
      </p:cViewPr>
      <p:guideLst>
        <p:guide orient="horz" pos="2133"/>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17AE092-D234-4E03-BA54-B249280609B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84BF4B24-468A-4634-8E7F-B7B20210124A}"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617AE092-D234-4E03-BA54-B249280609B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4BF4B24-468A-4634-8E7F-B7B20210124A}"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17AE092-D234-4E03-BA54-B249280609B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4BF4B24-468A-4634-8E7F-B7B20210124A}"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617AE092-D234-4E03-BA54-B249280609B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4BF4B24-468A-4634-8E7F-B7B20210124A}"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617AE092-D234-4E03-BA54-B249280609B4}"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4BF4B24-468A-4634-8E7F-B7B20210124A}"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17AE092-D234-4E03-BA54-B249280609B4}"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84BF4B24-468A-4634-8E7F-B7B20210124A}"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7AE092-D234-4E03-BA54-B249280609B4}"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84BF4B24-468A-4634-8E7F-B7B20210124A}"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17AE092-D234-4E03-BA54-B249280609B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84BF4B24-468A-4634-8E7F-B7B20210124A}"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17AE092-D234-4E03-BA54-B249280609B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4BF4B24-468A-4634-8E7F-B7B20210124A}"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17AE092-D234-4E03-BA54-B249280609B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4BF4B24-468A-4634-8E7F-B7B20210124A}"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17AE092-D234-4E03-BA54-B249280609B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4BF4B24-468A-4634-8E7F-B7B20210124A}" type="slidenum">
              <a:rPr lang="en-IN" smtClean="0"/>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endParaRPr lang="en-US"/>
          </a:p>
        </p:txBody>
      </p:sp>
      <p:sp>
        <p:nvSpPr>
          <p:cNvPr id="5" name="Date Placeholder 4"/>
          <p:cNvSpPr>
            <a:spLocks noGrp="1"/>
          </p:cNvSpPr>
          <p:nvPr>
            <p:ph type="dt" sz="half" idx="10"/>
          </p:nvPr>
        </p:nvSpPr>
        <p:spPr/>
        <p:txBody>
          <a:bodyPr/>
          <a:lstStyle/>
          <a:p>
            <a:fld id="{617AE092-D234-4E03-BA54-B249280609B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4BF4B24-468A-4634-8E7F-B7B20210124A}" type="slidenum">
              <a:rPr lang="en-IN" smtClean="0"/>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endParaRPr lang="en-US"/>
          </a:p>
        </p:txBody>
      </p:sp>
      <p:sp>
        <p:nvSpPr>
          <p:cNvPr id="5" name="Date Placeholder 4"/>
          <p:cNvSpPr>
            <a:spLocks noGrp="1"/>
          </p:cNvSpPr>
          <p:nvPr>
            <p:ph type="dt" sz="half" idx="10"/>
          </p:nvPr>
        </p:nvSpPr>
        <p:spPr/>
        <p:txBody>
          <a:bodyPr/>
          <a:lstStyle/>
          <a:p>
            <a:fld id="{617AE092-D234-4E03-BA54-B249280609B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4BF4B24-468A-4634-8E7F-B7B20210124A}" type="slidenum">
              <a:rPr lang="en-IN" smtClean="0"/>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endParaRPr lang="en-US"/>
          </a:p>
        </p:txBody>
      </p:sp>
      <p:sp>
        <p:nvSpPr>
          <p:cNvPr id="5" name="Date Placeholder 4"/>
          <p:cNvSpPr>
            <a:spLocks noGrp="1"/>
          </p:cNvSpPr>
          <p:nvPr>
            <p:ph type="dt" sz="half" idx="10"/>
          </p:nvPr>
        </p:nvSpPr>
        <p:spPr/>
        <p:txBody>
          <a:bodyPr/>
          <a:lstStyle/>
          <a:p>
            <a:fld id="{617AE092-D234-4E03-BA54-B249280609B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4BF4B24-468A-4634-8E7F-B7B20210124A}" type="slidenum">
              <a:rPr lang="en-IN" smtClean="0"/>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617AE092-D234-4E03-BA54-B249280609B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4BF4B24-468A-4634-8E7F-B7B20210124A}" type="slidenum">
              <a:rPr lang="en-IN" smtClean="0"/>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617AE092-D234-4E03-BA54-B249280609B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4BF4B24-468A-4634-8E7F-B7B20210124A}"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0">
          <a:fgClr>
            <a:srgbClr val="0070C0"/>
          </a:fgClr>
          <a:bgClr>
            <a:srgbClr val="00B0F0"/>
          </a:bgClr>
        </a:pattFill>
        <a:effectLst/>
      </p:bgPr>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17AE092-D234-4E03-BA54-B249280609B4}" type="datetimeFigureOut">
              <a:rPr lang="en-IN" smtClean="0"/>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84BF4B24-468A-4634-8E7F-B7B20210124A}"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jpeg"/><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0">
          <a:fgClr>
            <a:srgbClr val="0070C0"/>
          </a:fgClr>
          <a:bgClr>
            <a:srgbClr val="0070C0"/>
          </a:bgClr>
        </a:patt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dirty="0"/>
          </a:p>
        </p:txBody>
      </p:sp>
      <p:sp>
        <p:nvSpPr>
          <p:cNvPr id="3" name="Subtitle 2"/>
          <p:cNvSpPr>
            <a:spLocks noGrp="1"/>
          </p:cNvSpPr>
          <p:nvPr>
            <p:ph type="subTitle" idx="1"/>
          </p:nvPr>
        </p:nvSpPr>
        <p:spPr/>
        <p:txBody>
          <a:bodyPr/>
          <a:lstStyle/>
          <a:p>
            <a:endParaRPr lang="en-IN"/>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0800" y="20320"/>
            <a:ext cx="12192000" cy="6858000"/>
          </a:xfrm>
          <a:prstGeom prst="rect">
            <a:avLst/>
          </a:prstGeom>
        </p:spPr>
      </p:pic>
      <p:sp>
        <p:nvSpPr>
          <p:cNvPr id="7" name="TextBox 6"/>
          <p:cNvSpPr txBox="1"/>
          <p:nvPr/>
        </p:nvSpPr>
        <p:spPr>
          <a:xfrm>
            <a:off x="1073426" y="415729"/>
            <a:ext cx="9521687" cy="1938992"/>
          </a:xfrm>
          <a:prstGeom prst="rect">
            <a:avLst/>
          </a:prstGeom>
          <a:noFill/>
        </p:spPr>
        <p:txBody>
          <a:bodyPr wrap="square" rtlCol="0">
            <a:spAutoFit/>
          </a:bodyPr>
          <a:lstStyle/>
          <a:p>
            <a:r>
              <a:rPr lang="en-US" sz="4000" b="1" i="1" dirty="0">
                <a:solidFill>
                  <a:schemeClr val="bg1"/>
                </a:solidFill>
                <a:latin typeface="Constantia" panose="02030602050306030303" pitchFamily="18" charset="0"/>
                <a:ea typeface="Calibri" panose="020F0502020204030204" pitchFamily="34" charset="0"/>
                <a:cs typeface="Calibri" panose="020F0502020204030204" pitchFamily="34" charset="0"/>
              </a:rPr>
              <a:t>A Lightweight Machine Learning Framework for Mitigating DoS Attacks in IoT Networks</a:t>
            </a:r>
            <a:endParaRPr lang="en-IN" sz="4000" b="1" i="1" dirty="0">
              <a:solidFill>
                <a:schemeClr val="bg1"/>
              </a:solidFill>
              <a:latin typeface="Constantia" panose="02030602050306030303" pitchFamily="18" charset="0"/>
              <a:ea typeface="Calibri" panose="020F0502020204030204" pitchFamily="34" charset="0"/>
              <a:cs typeface="Calibri" panose="020F0502020204030204" pitchFamily="34" charset="0"/>
            </a:endParaRPr>
          </a:p>
        </p:txBody>
      </p:sp>
      <p:sp>
        <p:nvSpPr>
          <p:cNvPr id="8" name="TextBox 7"/>
          <p:cNvSpPr txBox="1"/>
          <p:nvPr/>
        </p:nvSpPr>
        <p:spPr>
          <a:xfrm>
            <a:off x="6689034" y="2919915"/>
            <a:ext cx="4492487" cy="1200329"/>
          </a:xfrm>
          <a:prstGeom prst="rect">
            <a:avLst/>
          </a:prstGeom>
          <a:noFill/>
        </p:spPr>
        <p:txBody>
          <a:bodyPr wrap="square" rtlCol="0">
            <a:spAutoFit/>
          </a:bodyPr>
          <a:lstStyle/>
          <a:p>
            <a:r>
              <a:rPr lang="en-IN" sz="2400" dirty="0" err="1">
                <a:solidFill>
                  <a:schemeClr val="bg1"/>
                </a:solidFill>
                <a:latin typeface="Britannic Bold" panose="020B0903060703020204" pitchFamily="34" charset="0"/>
              </a:rPr>
              <a:t>Palguni</a:t>
            </a:r>
            <a:r>
              <a:rPr lang="en-IN" sz="2400" dirty="0">
                <a:solidFill>
                  <a:schemeClr val="bg1"/>
                </a:solidFill>
                <a:latin typeface="Britannic Bold" panose="020B0903060703020204" pitchFamily="34" charset="0"/>
              </a:rPr>
              <a:t> T R          1SI22AD031</a:t>
            </a:r>
            <a:endParaRPr lang="en-IN" sz="2400" dirty="0">
              <a:solidFill>
                <a:schemeClr val="bg1"/>
              </a:solidFill>
              <a:latin typeface="Britannic Bold" panose="020B0903060703020204" pitchFamily="34" charset="0"/>
            </a:endParaRPr>
          </a:p>
          <a:p>
            <a:r>
              <a:rPr lang="en-IN" sz="2400" dirty="0">
                <a:solidFill>
                  <a:schemeClr val="bg1"/>
                </a:solidFill>
                <a:latin typeface="Britannic Bold" panose="020B0903060703020204" pitchFamily="34" charset="0"/>
              </a:rPr>
              <a:t>Deepthi U             1SI22AD012</a:t>
            </a:r>
            <a:endParaRPr lang="en-IN" sz="2400" dirty="0">
              <a:solidFill>
                <a:schemeClr val="bg1"/>
              </a:solidFill>
              <a:latin typeface="Britannic Bold" panose="020B0903060703020204" pitchFamily="34" charset="0"/>
            </a:endParaRPr>
          </a:p>
          <a:p>
            <a:r>
              <a:rPr lang="en-IN" sz="2400" dirty="0" err="1">
                <a:solidFill>
                  <a:schemeClr val="bg1"/>
                </a:solidFill>
                <a:latin typeface="Britannic Bold" panose="020B0903060703020204" pitchFamily="34" charset="0"/>
              </a:rPr>
              <a:t>Meghashree</a:t>
            </a:r>
            <a:r>
              <a:rPr lang="en-IN" sz="2400" dirty="0">
                <a:solidFill>
                  <a:schemeClr val="bg1"/>
                </a:solidFill>
                <a:latin typeface="Britannic Bold" panose="020B0903060703020204" pitchFamily="34" charset="0"/>
              </a:rPr>
              <a:t> R      1SI22AD026</a:t>
            </a:r>
            <a:endParaRPr lang="en-IN" sz="2400" dirty="0">
              <a:solidFill>
                <a:schemeClr val="bg1"/>
              </a:solidFill>
              <a:latin typeface="Britannic Bold" panose="020B0903060703020204" pitchFamily="34" charset="0"/>
            </a:endParaRPr>
          </a:p>
        </p:txBody>
      </p:sp>
      <p:sp>
        <p:nvSpPr>
          <p:cNvPr id="9" name="TextBox 8"/>
          <p:cNvSpPr txBox="1"/>
          <p:nvPr/>
        </p:nvSpPr>
        <p:spPr>
          <a:xfrm>
            <a:off x="6630262" y="4937260"/>
            <a:ext cx="5218044" cy="1383665"/>
          </a:xfrm>
          <a:prstGeom prst="rect">
            <a:avLst/>
          </a:prstGeom>
          <a:noFill/>
        </p:spPr>
        <p:txBody>
          <a:bodyPr wrap="square" rtlCol="0">
            <a:spAutoFit/>
          </a:bodyPr>
          <a:lstStyle/>
          <a:p>
            <a:r>
              <a:rPr lang="en-IN" sz="2800" b="1" dirty="0">
                <a:solidFill>
                  <a:schemeClr val="bg1"/>
                </a:solidFill>
                <a:latin typeface="Britannic Bold" panose="020B0903060703020204" pitchFamily="34" charset="0"/>
              </a:rPr>
              <a:t>Guide </a:t>
            </a:r>
            <a:r>
              <a:rPr lang="en-US" altLang="en-IN" sz="2800" b="1" dirty="0">
                <a:solidFill>
                  <a:schemeClr val="bg1"/>
                </a:solidFill>
                <a:latin typeface="Britannic Bold" panose="020B0903060703020204" pitchFamily="34" charset="0"/>
              </a:rPr>
              <a:t>:</a:t>
            </a:r>
            <a:endParaRPr lang="en-IN" sz="2800" b="1" dirty="0">
              <a:solidFill>
                <a:schemeClr val="bg1"/>
              </a:solidFill>
              <a:latin typeface="Britannic Bold" panose="020B0903060703020204" pitchFamily="34" charset="0"/>
            </a:endParaRPr>
          </a:p>
          <a:p>
            <a:r>
              <a:rPr lang="en-IN" sz="2800" b="1" dirty="0">
                <a:solidFill>
                  <a:schemeClr val="bg1"/>
                </a:solidFill>
                <a:latin typeface="Britannic Bold" panose="020B0903060703020204" pitchFamily="34" charset="0"/>
              </a:rPr>
              <a:t>          </a:t>
            </a:r>
            <a:r>
              <a:rPr lang="en-IN" sz="2800" dirty="0">
                <a:solidFill>
                  <a:schemeClr val="bg1"/>
                </a:solidFill>
                <a:latin typeface="Britannic Bold" panose="020B0903060703020204" pitchFamily="34" charset="0"/>
              </a:rPr>
              <a:t>Dr. M B Nirmala</a:t>
            </a:r>
            <a:endParaRPr lang="en-IN" sz="2800" dirty="0">
              <a:solidFill>
                <a:schemeClr val="bg1"/>
              </a:solidFill>
              <a:latin typeface="Britannic Bold" panose="020B0903060703020204" pitchFamily="34" charset="0"/>
            </a:endParaRPr>
          </a:p>
          <a:p>
            <a:r>
              <a:rPr lang="en-IN" sz="2800" dirty="0">
                <a:solidFill>
                  <a:schemeClr val="bg1"/>
                </a:solidFill>
                <a:latin typeface="Britannic Bold" panose="020B0903060703020204" pitchFamily="34" charset="0"/>
              </a:rPr>
              <a:t>          Associate Professor</a:t>
            </a:r>
            <a:endParaRPr lang="en-IN" sz="2800" dirty="0">
              <a:solidFill>
                <a:schemeClr val="bg1"/>
              </a:solidFill>
              <a:latin typeface="Britannic Bold" panose="020B0903060703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 name="Title 1"/>
          <p:cNvSpPr>
            <a:spLocks noGrp="1"/>
          </p:cNvSpPr>
          <p:nvPr>
            <p:ph type="title"/>
          </p:nvPr>
        </p:nvSpPr>
        <p:spPr>
          <a:xfrm>
            <a:off x="2592705" y="280035"/>
            <a:ext cx="8911590" cy="781050"/>
          </a:xfrm>
          <a:ln>
            <a:solidFill>
              <a:schemeClr val="tx1"/>
            </a:solidFill>
          </a:ln>
        </p:spPr>
        <p:txBody>
          <a:bodyPr/>
          <a:lstStyle/>
          <a:p>
            <a:r>
              <a:rPr lang="en-IN" b="1" dirty="0">
                <a:solidFill>
                  <a:schemeClr val="bg1"/>
                </a:solidFill>
                <a:latin typeface="Verdana" panose="020B0604030504040204" charset="0"/>
                <a:ea typeface="Verdana" panose="020B0604030504040204" charset="0"/>
              </a:rPr>
              <a:t>Introduction to the </a:t>
            </a:r>
            <a:r>
              <a:rPr lang="en-US" altLang="en-IN" b="1" dirty="0">
                <a:solidFill>
                  <a:schemeClr val="bg1"/>
                </a:solidFill>
                <a:latin typeface="Verdana" panose="020B0604030504040204" charset="0"/>
                <a:ea typeface="Verdana" panose="020B0604030504040204" charset="0"/>
              </a:rPr>
              <a:t>P</a:t>
            </a:r>
            <a:r>
              <a:rPr lang="en-IN" b="1" dirty="0">
                <a:solidFill>
                  <a:schemeClr val="bg1"/>
                </a:solidFill>
                <a:latin typeface="Verdana" panose="020B0604030504040204" charset="0"/>
                <a:ea typeface="Verdana" panose="020B0604030504040204" charset="0"/>
              </a:rPr>
              <a:t>roject</a:t>
            </a:r>
            <a:endParaRPr lang="en-IN" b="1" dirty="0">
              <a:solidFill>
                <a:schemeClr val="bg1"/>
              </a:solidFill>
              <a:latin typeface="Verdana" panose="020B0604030504040204" charset="0"/>
              <a:ea typeface="Verdana" panose="020B0604030504040204" charset="0"/>
            </a:endParaRPr>
          </a:p>
        </p:txBody>
      </p:sp>
      <p:sp>
        <p:nvSpPr>
          <p:cNvPr id="8" name="Text Box 7"/>
          <p:cNvSpPr txBox="1"/>
          <p:nvPr/>
        </p:nvSpPr>
        <p:spPr>
          <a:xfrm>
            <a:off x="2592705" y="1061085"/>
            <a:ext cx="8976360" cy="5163185"/>
          </a:xfrm>
          <a:prstGeom prst="rect">
            <a:avLst/>
          </a:prstGeom>
          <a:noFill/>
        </p:spPr>
        <p:txBody>
          <a:bodyPr wrap="square" rtlCol="0">
            <a:noAutofit/>
          </a:bodyPr>
          <a:lstStyle/>
          <a:p>
            <a:pPr marL="285750" indent="-285750" algn="just">
              <a:buClr>
                <a:srgbClr val="FFFFFF"/>
              </a:buClr>
              <a:buFont typeface="Wingdings" panose="05000000000000000000" charset="0"/>
              <a:buChar char="Ø"/>
            </a:pPr>
            <a:r>
              <a:rPr lang="en-US" sz="1700" dirty="0">
                <a:solidFill>
                  <a:schemeClr val="bg1"/>
                </a:solidFill>
                <a:latin typeface="Verdana" panose="020B0604030504040204" charset="0"/>
                <a:ea typeface="Ebrima" panose="02000000000000000000" pitchFamily="2" charset="0"/>
                <a:cs typeface="Verdana" panose="020B0604030504040204" charset="0"/>
                <a:sym typeface="+mn-ea"/>
              </a:rPr>
              <a:t>The rapid growth of IoT devices has brought transformative benefits across various industries, but it has also introduced critical security vulnerabilities, especially to Denial of Service (DoS) attacks. These attacks overwhelm IoT networks by flooding them with malicious traffic, leading to service disruptions. </a:t>
            </a:r>
            <a:endParaRPr lang="en-US" sz="1700" dirty="0">
              <a:solidFill>
                <a:schemeClr val="bg1"/>
              </a:solidFill>
              <a:latin typeface="Verdana" panose="020B0604030504040204" charset="0"/>
              <a:ea typeface="Ebrima" panose="02000000000000000000" pitchFamily="2" charset="0"/>
              <a:cs typeface="Verdana" panose="020B0604030504040204" charset="0"/>
              <a:sym typeface="+mn-ea"/>
            </a:endParaRPr>
          </a:p>
          <a:p>
            <a:pPr marL="285750" indent="-285750" algn="just">
              <a:buClr>
                <a:srgbClr val="FFFFFF"/>
              </a:buClr>
              <a:buFont typeface="Wingdings" panose="05000000000000000000" charset="0"/>
              <a:buChar char="Ø"/>
            </a:pPr>
            <a:endParaRPr lang="en-US" sz="1700" dirty="0">
              <a:solidFill>
                <a:schemeClr val="bg1"/>
              </a:solidFill>
              <a:latin typeface="Verdana" panose="020B0604030504040204" charset="0"/>
              <a:ea typeface="Ebrima" panose="02000000000000000000" pitchFamily="2" charset="0"/>
              <a:cs typeface="Verdana" panose="020B0604030504040204" charset="0"/>
            </a:endParaRPr>
          </a:p>
          <a:p>
            <a:pPr marL="285750" indent="-285750" algn="just">
              <a:buClr>
                <a:srgbClr val="FFFFFF"/>
              </a:buClr>
              <a:buFont typeface="Wingdings" panose="05000000000000000000" charset="0"/>
              <a:buChar char="Ø"/>
            </a:pPr>
            <a:r>
              <a:rPr lang="en-US" sz="1700" dirty="0">
                <a:solidFill>
                  <a:schemeClr val="bg1"/>
                </a:solidFill>
                <a:latin typeface="Verdana" panose="020B0604030504040204" charset="0"/>
                <a:ea typeface="Ebrima" panose="02000000000000000000" pitchFamily="2" charset="0"/>
                <a:cs typeface="Verdana" panose="020B0604030504040204" charset="0"/>
                <a:sym typeface="+mn-ea"/>
              </a:rPr>
              <a:t>This project proposes a lightweight machine learning framework designed to detect and mitigate DoS attacks in real-time, while maintaining minimal computational and energy overhead. </a:t>
            </a:r>
            <a:endParaRPr lang="en-US" sz="1700" dirty="0">
              <a:solidFill>
                <a:schemeClr val="bg1"/>
              </a:solidFill>
              <a:latin typeface="Verdana" panose="020B0604030504040204" charset="0"/>
              <a:ea typeface="Ebrima" panose="02000000000000000000" pitchFamily="2" charset="0"/>
              <a:cs typeface="Verdana" panose="020B0604030504040204" charset="0"/>
              <a:sym typeface="+mn-ea"/>
            </a:endParaRPr>
          </a:p>
          <a:p>
            <a:pPr marL="285750" indent="-285750" algn="just">
              <a:buClr>
                <a:srgbClr val="FFFFFF"/>
              </a:buClr>
              <a:buFont typeface="Wingdings" panose="05000000000000000000" charset="0"/>
              <a:buChar char="Ø"/>
            </a:pPr>
            <a:endParaRPr lang="en-US" sz="1700" dirty="0">
              <a:solidFill>
                <a:schemeClr val="bg1"/>
              </a:solidFill>
              <a:latin typeface="Verdana" panose="020B0604030504040204" charset="0"/>
              <a:ea typeface="Ebrima" panose="02000000000000000000" pitchFamily="2" charset="0"/>
              <a:cs typeface="Verdana" panose="020B0604030504040204" charset="0"/>
            </a:endParaRPr>
          </a:p>
          <a:p>
            <a:pPr marL="285750" indent="-285750" algn="just">
              <a:buClr>
                <a:srgbClr val="FFFFFF"/>
              </a:buClr>
              <a:buFont typeface="Wingdings" panose="05000000000000000000" charset="0"/>
              <a:buChar char="Ø"/>
            </a:pPr>
            <a:r>
              <a:rPr lang="en-US" sz="1700" dirty="0">
                <a:solidFill>
                  <a:schemeClr val="bg1"/>
                </a:solidFill>
                <a:latin typeface="Verdana" panose="020B0604030504040204" charset="0"/>
                <a:ea typeface="Ebrima" panose="02000000000000000000" pitchFamily="2" charset="0"/>
                <a:cs typeface="Verdana" panose="020B0604030504040204" charset="0"/>
                <a:sym typeface="+mn-ea"/>
              </a:rPr>
              <a:t>The framework clusters sensor nodes to facilitate efficient monitoring, and uses </a:t>
            </a:r>
            <a:r>
              <a:rPr lang="en-US" sz="1700" u="sng" dirty="0">
                <a:solidFill>
                  <a:schemeClr val="bg1"/>
                </a:solidFill>
                <a:latin typeface="Verdana" panose="020B0604030504040204" charset="0"/>
                <a:ea typeface="Ebrima" panose="02000000000000000000" pitchFamily="2" charset="0"/>
                <a:cs typeface="Verdana" panose="020B0604030504040204" charset="0"/>
                <a:sym typeface="+mn-ea"/>
              </a:rPr>
              <a:t>Decision Tree </a:t>
            </a:r>
            <a:r>
              <a:rPr lang="en-US" sz="1700" u="sng" dirty="0" err="1">
                <a:solidFill>
                  <a:schemeClr val="bg1"/>
                </a:solidFill>
                <a:latin typeface="Verdana" panose="020B0604030504040204" charset="0"/>
                <a:ea typeface="Ebrima" panose="02000000000000000000" pitchFamily="2" charset="0"/>
                <a:cs typeface="Verdana" panose="020B0604030504040204" charset="0"/>
                <a:sym typeface="+mn-ea"/>
              </a:rPr>
              <a:t>algorithm,random</a:t>
            </a:r>
            <a:r>
              <a:rPr lang="en-US" sz="1700" u="sng" dirty="0">
                <a:solidFill>
                  <a:schemeClr val="bg1"/>
                </a:solidFill>
                <a:latin typeface="Verdana" panose="020B0604030504040204" charset="0"/>
                <a:ea typeface="Ebrima" panose="02000000000000000000" pitchFamily="2" charset="0"/>
                <a:cs typeface="Verdana" panose="020B0604030504040204" charset="0"/>
                <a:sym typeface="+mn-ea"/>
              </a:rPr>
              <a:t> </a:t>
            </a:r>
            <a:r>
              <a:rPr lang="en-US" sz="1700" u="sng" dirty="0" err="1">
                <a:solidFill>
                  <a:schemeClr val="bg1"/>
                </a:solidFill>
                <a:latin typeface="Verdana" panose="020B0604030504040204" charset="0"/>
                <a:ea typeface="Ebrima" panose="02000000000000000000" pitchFamily="2" charset="0"/>
                <a:cs typeface="Verdana" panose="020B0604030504040204" charset="0"/>
                <a:sym typeface="+mn-ea"/>
              </a:rPr>
              <a:t>forest,K</a:t>
            </a:r>
            <a:r>
              <a:rPr lang="en-US" sz="1700" u="sng" dirty="0">
                <a:solidFill>
                  <a:schemeClr val="bg1"/>
                </a:solidFill>
                <a:latin typeface="Verdana" panose="020B0604030504040204" charset="0"/>
                <a:ea typeface="Ebrima" panose="02000000000000000000" pitchFamily="2" charset="0"/>
                <a:cs typeface="Verdana" panose="020B0604030504040204" charset="0"/>
                <a:sym typeface="+mn-ea"/>
              </a:rPr>
              <a:t>-nearest neighbor(KNN), longest short-term memory(LSTM), neural network(Multilayer perceptron) </a:t>
            </a:r>
            <a:r>
              <a:rPr lang="en-US" sz="1700" dirty="0">
                <a:solidFill>
                  <a:schemeClr val="bg1"/>
                </a:solidFill>
                <a:latin typeface="Verdana" panose="020B0604030504040204" charset="0"/>
                <a:ea typeface="Ebrima" panose="02000000000000000000" pitchFamily="2" charset="0"/>
                <a:cs typeface="Verdana" panose="020B0604030504040204" charset="0"/>
                <a:sym typeface="+mn-ea"/>
              </a:rPr>
              <a:t> to identify malicious activity such as excessive recharge requests. </a:t>
            </a:r>
            <a:endParaRPr lang="en-US" sz="1700" dirty="0">
              <a:solidFill>
                <a:schemeClr val="bg1"/>
              </a:solidFill>
              <a:latin typeface="Verdana" panose="020B0604030504040204" charset="0"/>
              <a:ea typeface="Ebrima" panose="02000000000000000000" pitchFamily="2" charset="0"/>
              <a:cs typeface="Verdana" panose="020B0604030504040204" charset="0"/>
              <a:sym typeface="+mn-ea"/>
            </a:endParaRPr>
          </a:p>
          <a:p>
            <a:pPr marL="285750" indent="-285750" algn="just">
              <a:buClr>
                <a:srgbClr val="FFFFFF"/>
              </a:buClr>
              <a:buFont typeface="Wingdings" panose="05000000000000000000" charset="0"/>
              <a:buChar char="Ø"/>
            </a:pPr>
            <a:endParaRPr lang="en-US" sz="1700" dirty="0">
              <a:solidFill>
                <a:schemeClr val="bg1"/>
              </a:solidFill>
              <a:latin typeface="Verdana" panose="020B0604030504040204" charset="0"/>
              <a:ea typeface="Ebrima" panose="02000000000000000000" pitchFamily="2" charset="0"/>
              <a:cs typeface="Verdana" panose="020B0604030504040204" charset="0"/>
            </a:endParaRPr>
          </a:p>
          <a:p>
            <a:pPr marL="285750" indent="-285750" algn="just">
              <a:buClr>
                <a:srgbClr val="FFFFFF"/>
              </a:buClr>
              <a:buFont typeface="Wingdings" panose="05000000000000000000" charset="0"/>
              <a:buChar char="Ø"/>
            </a:pPr>
            <a:r>
              <a:rPr lang="en-US" sz="1700" dirty="0">
                <a:solidFill>
                  <a:schemeClr val="bg1"/>
                </a:solidFill>
                <a:latin typeface="Verdana" panose="020B0604030504040204" charset="0"/>
                <a:ea typeface="Ebrima" panose="02000000000000000000" pitchFamily="2" charset="0"/>
                <a:cs typeface="Verdana" panose="020B0604030504040204" charset="0"/>
                <a:sym typeface="+mn-ea"/>
              </a:rPr>
              <a:t>The solution provides a balance between security and resource efficiency, ensuring that IoT networks remain secure without compromising performance. </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pct50">
          <a:fgClr>
            <a:srgbClr val="0070C0"/>
          </a:fgClr>
          <a:bgClr>
            <a:srgbClr val="00B0F0"/>
          </a:bgClr>
        </a:pattFill>
        <a:effectLst/>
      </p:bgPr>
    </p:bg>
    <p:spTree>
      <p:nvGrpSpPr>
        <p:cNvPr id="1" name=""/>
        <p:cNvGrpSpPr/>
        <p:nvPr/>
      </p:nvGrpSpPr>
      <p:grpSpPr>
        <a:xfrm>
          <a:off x="0" y="0"/>
          <a:ext cx="0" cy="0"/>
          <a:chOff x="0" y="0"/>
          <a:chExt cx="0" cy="0"/>
        </a:xfrm>
      </p:grpSpPr>
      <p:sp useBgFill="1">
        <p:nvSpPr>
          <p:cNvPr id="2" name="Title 1"/>
          <p:cNvSpPr>
            <a:spLocks noGrp="1"/>
          </p:cNvSpPr>
          <p:nvPr>
            <p:ph type="title"/>
          </p:nvPr>
        </p:nvSpPr>
        <p:spPr>
          <a:xfrm>
            <a:off x="1922145" y="498475"/>
            <a:ext cx="8809990" cy="763270"/>
          </a:xfrm>
          <a:ln>
            <a:solidFill>
              <a:schemeClr val="tx1"/>
            </a:solidFill>
          </a:ln>
        </p:spPr>
        <p:txBody>
          <a:bodyPr/>
          <a:lstStyle/>
          <a:p>
            <a:r>
              <a:rPr lang="en-IN" b="1" dirty="0">
                <a:solidFill>
                  <a:schemeClr val="bg1"/>
                </a:solidFill>
                <a:latin typeface="Verdana" panose="020B0604030504040204" charset="0"/>
                <a:cs typeface="Verdana" panose="020B0604030504040204" charset="0"/>
              </a:rPr>
              <a:t>Problem Statement</a:t>
            </a:r>
            <a:endParaRPr lang="en-IN" b="1" dirty="0">
              <a:solidFill>
                <a:schemeClr val="bg1"/>
              </a:solidFill>
              <a:latin typeface="Verdana" panose="020B0604030504040204" charset="0"/>
              <a:cs typeface="Verdana" panose="020B0604030504040204" charset="0"/>
            </a:endParaRPr>
          </a:p>
        </p:txBody>
      </p:sp>
      <p:sp>
        <p:nvSpPr>
          <p:cNvPr id="3" name="Content Placeholder 2"/>
          <p:cNvSpPr>
            <a:spLocks noGrp="1"/>
          </p:cNvSpPr>
          <p:nvPr>
            <p:ph idx="1"/>
          </p:nvPr>
        </p:nvSpPr>
        <p:spPr>
          <a:xfrm>
            <a:off x="1836420" y="1393190"/>
            <a:ext cx="9306877" cy="4667250"/>
          </a:xfrm>
        </p:spPr>
        <p:txBody>
          <a:bodyPr>
            <a:noAutofit/>
          </a:bodyPr>
          <a:lstStyle/>
          <a:p>
            <a:pPr algn="just">
              <a:buClr>
                <a:srgbClr val="FFFFFF"/>
              </a:buClr>
              <a:buFont typeface="Wingdings" panose="05000000000000000000" charset="0"/>
              <a:buChar char="Ø"/>
            </a:pPr>
            <a:r>
              <a:rPr lang="en-US" altLang="en-US" sz="1500" dirty="0">
                <a:solidFill>
                  <a:schemeClr val="bg1"/>
                </a:solidFill>
                <a:latin typeface="Verdana" panose="020B0604030504040204" charset="0"/>
                <a:ea typeface="Verdana" panose="020B0604030504040204" charset="0"/>
              </a:rPr>
              <a:t>DoS Attacks on IoT Networks: Denial of Service (DoS) attacks disrupt the availability of IoT networks by overwhelming systems with malicious traffic, causing downtime and degraded performance.</a:t>
            </a:r>
            <a:endParaRPr lang="en-US" altLang="en-US" sz="1500" dirty="0">
              <a:solidFill>
                <a:schemeClr val="bg1"/>
              </a:solidFill>
              <a:latin typeface="Verdana" panose="020B0604030504040204" charset="0"/>
              <a:ea typeface="Verdana" panose="020B0604030504040204" charset="0"/>
            </a:endParaRPr>
          </a:p>
          <a:p>
            <a:pPr algn="just">
              <a:buClr>
                <a:srgbClr val="FFFFFF"/>
              </a:buClr>
              <a:buFont typeface="Wingdings" panose="05000000000000000000" charset="0"/>
              <a:buChar char="Ø"/>
            </a:pPr>
            <a:endParaRPr lang="en-US" altLang="en-US" sz="1500" dirty="0">
              <a:solidFill>
                <a:schemeClr val="bg1"/>
              </a:solidFill>
              <a:latin typeface="Verdana" panose="020B0604030504040204" charset="0"/>
              <a:ea typeface="Verdana" panose="020B0604030504040204" charset="0"/>
            </a:endParaRPr>
          </a:p>
          <a:p>
            <a:pPr algn="just">
              <a:buClr>
                <a:srgbClr val="FFFFFF"/>
              </a:buClr>
              <a:buFont typeface="Wingdings" panose="05000000000000000000" charset="0"/>
              <a:buChar char="Ø"/>
            </a:pPr>
            <a:r>
              <a:rPr lang="en-US" altLang="en-US" sz="1500" dirty="0">
                <a:solidFill>
                  <a:schemeClr val="bg1"/>
                </a:solidFill>
                <a:latin typeface="Verdana" panose="020B0604030504040204" charset="0"/>
                <a:ea typeface="Verdana" panose="020B0604030504040204" charset="0"/>
              </a:rPr>
              <a:t>Resource Constraints of IoT Devices: IoT devices have limited computational and energy resources, making it difficult to implement traditional security solutions that require high processing power and energy.</a:t>
            </a:r>
            <a:endParaRPr lang="en-US" altLang="en-US" sz="1500" dirty="0">
              <a:solidFill>
                <a:schemeClr val="bg1"/>
              </a:solidFill>
              <a:latin typeface="Verdana" panose="020B0604030504040204" charset="0"/>
              <a:ea typeface="Verdana" panose="020B0604030504040204" charset="0"/>
            </a:endParaRPr>
          </a:p>
          <a:p>
            <a:pPr algn="just">
              <a:buClr>
                <a:srgbClr val="FFFFFF"/>
              </a:buClr>
              <a:buFont typeface="Wingdings" panose="05000000000000000000" charset="0"/>
              <a:buChar char="Ø"/>
            </a:pPr>
            <a:endParaRPr lang="en-US" altLang="en-US" sz="1500" dirty="0">
              <a:solidFill>
                <a:schemeClr val="bg1"/>
              </a:solidFill>
              <a:latin typeface="Verdana" panose="020B0604030504040204" charset="0"/>
              <a:ea typeface="Verdana" panose="020B0604030504040204" charset="0"/>
            </a:endParaRPr>
          </a:p>
          <a:p>
            <a:pPr algn="just">
              <a:buClr>
                <a:srgbClr val="FFFFFF"/>
              </a:buClr>
              <a:buFont typeface="Wingdings" panose="05000000000000000000" charset="0"/>
              <a:buChar char="Ø"/>
            </a:pPr>
            <a:r>
              <a:rPr lang="en-US" altLang="en-US" sz="1500" dirty="0">
                <a:solidFill>
                  <a:schemeClr val="bg1"/>
                </a:solidFill>
                <a:latin typeface="Verdana" panose="020B0604030504040204" charset="0"/>
                <a:ea typeface="Verdana" panose="020B0604030504040204" charset="0"/>
              </a:rPr>
              <a:t>Need for Real-time Detection: IoT networks require rapid detection and response to DoS attacks to minimize disruptions and maintain the continuous operation of critical services.</a:t>
            </a:r>
            <a:endParaRPr lang="en-US" altLang="en-US" sz="1500" dirty="0">
              <a:solidFill>
                <a:schemeClr val="bg1"/>
              </a:solidFill>
              <a:latin typeface="Verdana" panose="020B0604030504040204" charset="0"/>
              <a:ea typeface="Verdana" panose="020B0604030504040204" charset="0"/>
            </a:endParaRPr>
          </a:p>
          <a:p>
            <a:pPr algn="just">
              <a:buClr>
                <a:srgbClr val="FFFFFF"/>
              </a:buClr>
              <a:buFont typeface="Wingdings" panose="05000000000000000000" charset="0"/>
              <a:buChar char="Ø"/>
            </a:pPr>
            <a:endParaRPr lang="en-US" altLang="en-US" sz="1500" dirty="0">
              <a:solidFill>
                <a:schemeClr val="bg1"/>
              </a:solidFill>
              <a:latin typeface="Verdana" panose="020B0604030504040204" charset="0"/>
              <a:ea typeface="Verdana" panose="020B0604030504040204" charset="0"/>
            </a:endParaRPr>
          </a:p>
          <a:p>
            <a:pPr algn="just">
              <a:buClr>
                <a:srgbClr val="FFFFFF"/>
              </a:buClr>
              <a:buFont typeface="Wingdings" panose="05000000000000000000" charset="0"/>
              <a:buChar char="Ø"/>
            </a:pPr>
            <a:r>
              <a:rPr lang="en-US" altLang="en-US" sz="1500" dirty="0">
                <a:solidFill>
                  <a:schemeClr val="bg1"/>
                </a:solidFill>
                <a:latin typeface="Verdana" panose="020B0604030504040204" charset="0"/>
                <a:ea typeface="Verdana" panose="020B0604030504040204" charset="0"/>
              </a:rPr>
              <a:t>Accuracy in Detection: The detection system must accurately differentiate between legitimate traffic and attacks, avoiding false positives and negatives to ensure the integrity and availability of services.</a:t>
            </a:r>
            <a:endParaRPr lang="en-US" altLang="en-US" sz="1500" dirty="0">
              <a:solidFill>
                <a:schemeClr val="bg1"/>
              </a:solidFill>
              <a:latin typeface="Verdana" panose="020B0604030504040204" charset="0"/>
              <a:ea typeface="Verdana" panose="020B0604030504040204" charset="0"/>
            </a:endParaRPr>
          </a:p>
          <a:p>
            <a:pPr marL="0" indent="0" algn="just">
              <a:buClr>
                <a:srgbClr val="FFFFFF"/>
              </a:buClr>
              <a:buFont typeface="Wingdings" panose="05000000000000000000" charset="0"/>
              <a:buNone/>
            </a:pPr>
            <a:endParaRPr lang="en-US" altLang="en-US" sz="1500" dirty="0">
              <a:solidFill>
                <a:schemeClr val="bg1"/>
              </a:solidFill>
              <a:latin typeface="Verdana" panose="020B0604030504040204" charset="0"/>
              <a:ea typeface="Verdana" panose="020B0604030504040204" charset="0"/>
            </a:endParaRPr>
          </a:p>
          <a:p>
            <a:pPr algn="just">
              <a:buClr>
                <a:srgbClr val="FFFFFF"/>
              </a:buClr>
              <a:buFont typeface="Wingdings" panose="05000000000000000000" charset="0"/>
              <a:buChar char="Ø"/>
            </a:pPr>
            <a:r>
              <a:rPr lang="en-US" altLang="en-US" sz="1500" dirty="0">
                <a:solidFill>
                  <a:schemeClr val="bg1"/>
                </a:solidFill>
                <a:latin typeface="Verdana" panose="020B0604030504040204" charset="0"/>
                <a:ea typeface="Verdana" panose="020B0604030504040204" charset="0"/>
              </a:rPr>
              <a:t>Scalability and Efficiency: The solution must scale to accommodate growing IoT networks while minimizing computational and energy overhead to preserve the performance and longevity of resource-constrained devices.</a:t>
            </a:r>
            <a:endParaRPr lang="en-US" altLang="en-US" sz="1500" dirty="0">
              <a:solidFill>
                <a:schemeClr val="bg1"/>
              </a:solidFill>
              <a:latin typeface="Verdana" panose="020B0604030504040204" charset="0"/>
              <a:ea typeface="Verdana" panose="020B060403050404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3615" y="301999"/>
            <a:ext cx="8911687" cy="1202498"/>
          </a:xfrm>
        </p:spPr>
        <p:txBody>
          <a:bodyPr>
            <a:normAutofit/>
          </a:bodyPr>
          <a:lstStyle/>
          <a:p>
            <a:r>
              <a:rPr lang="en-US" b="1" dirty="0">
                <a:solidFill>
                  <a:schemeClr val="bg1"/>
                </a:solidFill>
                <a:latin typeface="Verdana" panose="020B0604030504040204" charset="0"/>
                <a:ea typeface="Verdana" panose="020B0604030504040204" charset="0"/>
              </a:rPr>
              <a:t>Objectives:</a:t>
            </a:r>
            <a:endParaRPr lang="en-US" b="1" dirty="0">
              <a:solidFill>
                <a:schemeClr val="bg1"/>
              </a:solidFill>
              <a:latin typeface="Verdana" panose="020B0604030504040204" charset="0"/>
              <a:ea typeface="Verdana" panose="020B0604030504040204" charset="0"/>
            </a:endParaRPr>
          </a:p>
        </p:txBody>
      </p:sp>
      <p:sp>
        <p:nvSpPr>
          <p:cNvPr id="3" name="Content Placeholder 2"/>
          <p:cNvSpPr>
            <a:spLocks noGrp="1"/>
          </p:cNvSpPr>
          <p:nvPr>
            <p:ph idx="1"/>
          </p:nvPr>
        </p:nvSpPr>
        <p:spPr>
          <a:xfrm>
            <a:off x="1841500" y="1141730"/>
            <a:ext cx="9663430" cy="5716270"/>
          </a:xfrm>
        </p:spPr>
        <p:txBody>
          <a:bodyPr>
            <a:normAutofit fontScale="90000"/>
          </a:bodyPr>
          <a:lstStyle/>
          <a:p>
            <a:pPr algn="just"/>
            <a:r>
              <a:rPr lang="en-US" altLang="en-US" sz="1700" dirty="0">
                <a:solidFill>
                  <a:schemeClr val="bg1"/>
                </a:solidFill>
                <a:latin typeface="Verdana" panose="020B0604030504040204" charset="0"/>
                <a:ea typeface="Verdana" panose="020B0604030504040204" charset="0"/>
              </a:rPr>
              <a:t>To Develop a Lightweight Machine Learning Framework: Aim to design an efficient framework using machine learning techniques to detect and mitigate DoS attacks with minimal computational and energy overhead.</a:t>
            </a:r>
            <a:endParaRPr lang="en-US" altLang="en-US" sz="1700" dirty="0">
              <a:solidFill>
                <a:schemeClr val="bg1"/>
              </a:solidFill>
              <a:latin typeface="Verdana" panose="020B0604030504040204" charset="0"/>
              <a:ea typeface="Verdana" panose="020B0604030504040204" charset="0"/>
            </a:endParaRPr>
          </a:p>
          <a:p>
            <a:pPr algn="just"/>
            <a:endParaRPr lang="en-US" altLang="en-US" sz="1700" dirty="0">
              <a:solidFill>
                <a:schemeClr val="bg1"/>
              </a:solidFill>
              <a:latin typeface="Verdana" panose="020B0604030504040204" charset="0"/>
              <a:ea typeface="Verdana" panose="020B0604030504040204" charset="0"/>
            </a:endParaRPr>
          </a:p>
          <a:p>
            <a:pPr algn="just"/>
            <a:r>
              <a:rPr lang="en-US" altLang="en-US" sz="1700" dirty="0">
                <a:solidFill>
                  <a:schemeClr val="bg1"/>
                </a:solidFill>
                <a:latin typeface="Verdana" panose="020B0604030504040204" charset="0"/>
                <a:ea typeface="Verdana" panose="020B0604030504040204" charset="0"/>
              </a:rPr>
              <a:t>To Ensure Real-time Detection and Response: Strive to enable real-time detection and mitigation of DoS attacks, ensuring that IoT devices remain operational without significant disruptions.</a:t>
            </a:r>
            <a:endParaRPr lang="en-US" altLang="en-US" sz="1700" dirty="0">
              <a:solidFill>
                <a:schemeClr val="bg1"/>
              </a:solidFill>
              <a:latin typeface="Verdana" panose="020B0604030504040204" charset="0"/>
              <a:ea typeface="Verdana" panose="020B0604030504040204" charset="0"/>
            </a:endParaRPr>
          </a:p>
          <a:p>
            <a:pPr algn="just"/>
            <a:endParaRPr lang="en-US" altLang="en-US" sz="1700" dirty="0">
              <a:solidFill>
                <a:schemeClr val="bg1"/>
              </a:solidFill>
              <a:latin typeface="Verdana" panose="020B0604030504040204" charset="0"/>
              <a:ea typeface="Verdana" panose="020B0604030504040204" charset="0"/>
            </a:endParaRPr>
          </a:p>
          <a:p>
            <a:pPr algn="just"/>
            <a:r>
              <a:rPr lang="en-US" altLang="en-US" sz="1700" dirty="0">
                <a:solidFill>
                  <a:schemeClr val="bg1"/>
                </a:solidFill>
                <a:latin typeface="Verdana" panose="020B0604030504040204" charset="0"/>
                <a:ea typeface="Verdana" panose="020B0604030504040204" charset="0"/>
              </a:rPr>
              <a:t>To Achieve High Detection Accuracy: Focus on ensuring that the framework accurately identifies malicious traffic while minimizing false positives and false negatives, preserving legitimate traffic and system availability.</a:t>
            </a:r>
            <a:endParaRPr lang="en-US" altLang="en-US" sz="1700" dirty="0">
              <a:solidFill>
                <a:schemeClr val="bg1"/>
              </a:solidFill>
              <a:latin typeface="Verdana" panose="020B0604030504040204" charset="0"/>
              <a:ea typeface="Verdana" panose="020B0604030504040204" charset="0"/>
            </a:endParaRPr>
          </a:p>
          <a:p>
            <a:pPr algn="just"/>
            <a:endParaRPr lang="en-US" altLang="en-US" sz="1700" dirty="0">
              <a:solidFill>
                <a:schemeClr val="bg1"/>
              </a:solidFill>
              <a:latin typeface="Verdana" panose="020B0604030504040204" charset="0"/>
              <a:ea typeface="Verdana" panose="020B0604030504040204" charset="0"/>
            </a:endParaRPr>
          </a:p>
          <a:p>
            <a:pPr algn="just"/>
            <a:r>
              <a:rPr lang="en-US" altLang="en-US" sz="1700" dirty="0">
                <a:solidFill>
                  <a:schemeClr val="bg1"/>
                </a:solidFill>
                <a:latin typeface="Verdana" panose="020B0604030504040204" charset="0"/>
                <a:ea typeface="Verdana" panose="020B0604030504040204" charset="0"/>
              </a:rPr>
              <a:t>To Maintain Energy Efficiency: Aim to optimize the framework to minimize energy consumption, making it suitable for deployment on resource-constrained IoT devices without affecting their performance.</a:t>
            </a:r>
            <a:endParaRPr lang="en-US" altLang="en-US" sz="1700" dirty="0">
              <a:solidFill>
                <a:schemeClr val="bg1"/>
              </a:solidFill>
              <a:latin typeface="Verdana" panose="020B0604030504040204" charset="0"/>
              <a:ea typeface="Verdana" panose="020B0604030504040204" charset="0"/>
            </a:endParaRPr>
          </a:p>
          <a:p>
            <a:pPr algn="just"/>
            <a:endParaRPr lang="en-US" altLang="en-US" sz="1700" dirty="0">
              <a:solidFill>
                <a:schemeClr val="bg1"/>
              </a:solidFill>
              <a:latin typeface="Verdana" panose="020B0604030504040204" charset="0"/>
              <a:ea typeface="Verdana" panose="020B0604030504040204" charset="0"/>
            </a:endParaRPr>
          </a:p>
          <a:p>
            <a:pPr algn="just"/>
            <a:r>
              <a:rPr lang="en-US" altLang="en-US" sz="1700" dirty="0">
                <a:solidFill>
                  <a:schemeClr val="bg1"/>
                </a:solidFill>
                <a:latin typeface="Verdana" panose="020B0604030504040204" charset="0"/>
                <a:ea typeface="Verdana" panose="020B0604030504040204" charset="0"/>
              </a:rPr>
              <a:t>To Enhance Security and Reliability: Work towards improving the overall security, reliability, and resilience of IoT networks by providing a robust solution against DoS attacks, ensuring the continuous availability of services in these environments.</a:t>
            </a:r>
            <a:endParaRPr lang="en-US" altLang="en-US" sz="1700" dirty="0">
              <a:solidFill>
                <a:schemeClr val="bg1"/>
              </a:solidFill>
              <a:latin typeface="Verdana" panose="020B0604030504040204" charset="0"/>
              <a:ea typeface="Verdana" panose="020B060403050404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7775" y="0"/>
            <a:ext cx="8911590" cy="441960"/>
          </a:xfrm>
        </p:spPr>
        <p:txBody>
          <a:bodyPr>
            <a:normAutofit fontScale="90000"/>
          </a:bodyPr>
          <a:lstStyle/>
          <a:p>
            <a:r>
              <a:rPr lang="en-US" b="1">
                <a:solidFill>
                  <a:schemeClr val="bg1"/>
                </a:solidFill>
                <a:latin typeface="Verdana" panose="020B0604030504040204" charset="0"/>
                <a:cs typeface="Verdana" panose="020B0604030504040204" charset="0"/>
              </a:rPr>
              <a:t>LITERATURE SURVEY</a:t>
            </a:r>
            <a:endParaRPr lang="en-US" b="1">
              <a:solidFill>
                <a:schemeClr val="bg1"/>
              </a:solidFill>
              <a:latin typeface="Verdana" panose="020B0604030504040204" charset="0"/>
              <a:cs typeface="Verdana" panose="020B0604030504040204" charset="0"/>
            </a:endParaRPr>
          </a:p>
        </p:txBody>
      </p:sp>
      <p:graphicFrame>
        <p:nvGraphicFramePr>
          <p:cNvPr id="9" name="Table 8"/>
          <p:cNvGraphicFramePr/>
          <p:nvPr>
            <p:custDataLst>
              <p:tags r:id="rId1"/>
            </p:custDataLst>
          </p:nvPr>
        </p:nvGraphicFramePr>
        <p:xfrm>
          <a:off x="1776730" y="718820"/>
          <a:ext cx="9931400" cy="5744210"/>
        </p:xfrm>
        <a:graphic>
          <a:graphicData uri="http://schemas.openxmlformats.org/drawingml/2006/table">
            <a:tbl>
              <a:tblPr firstRow="1" bandRow="1">
                <a:tableStyleId>{5C22544A-7EE6-4342-B048-85BDC9FD1C3A}</a:tableStyleId>
              </a:tblPr>
              <a:tblGrid>
                <a:gridCol w="1986280"/>
                <a:gridCol w="1986280"/>
                <a:gridCol w="1986280"/>
                <a:gridCol w="1986280"/>
                <a:gridCol w="1986280"/>
              </a:tblGrid>
              <a:tr h="382270">
                <a:tc>
                  <a:txBody>
                    <a:bodyPr/>
                    <a:lstStyle/>
                    <a:p>
                      <a:pPr marL="0" indent="0" algn="l">
                        <a:lnSpc>
                          <a:spcPct val="107000"/>
                        </a:lnSpc>
                        <a:spcBef>
                          <a:spcPct val="0"/>
                        </a:spcBef>
                        <a:spcAft>
                          <a:spcPct val="0"/>
                        </a:spcAft>
                      </a:pPr>
                      <a:r>
                        <a:rPr sz="900">
                          <a:solidFill>
                            <a:schemeClr val="tx1"/>
                          </a:solidFill>
                          <a:latin typeface="Verdana" panose="020B0604030504040204" charset="0"/>
                          <a:ea typeface="Calibri" panose="020F0502020204030204"/>
                          <a:cs typeface="Verdana" panose="020B0604030504040204" charset="0"/>
                        </a:rPr>
                        <a:t>Paper Title </a:t>
                      </a:r>
                      <a:endParaRPr sz="900">
                        <a:solidFill>
                          <a:schemeClr val="tx1"/>
                        </a:solidFill>
                        <a:latin typeface="Verdana" panose="020B0604030504040204" charset="0"/>
                        <a:ea typeface="Calibri" panose="020F0502020204030204"/>
                        <a:cs typeface="Verdana" panose="020B0604030504040204" charset="0"/>
                      </a:endParaRPr>
                    </a:p>
                  </a:txBody>
                  <a:tcPr marL="68580" marR="68580" marT="0" marB="0"/>
                </a:tc>
                <a:tc>
                  <a:txBody>
                    <a:bodyPr/>
                    <a:lstStyle/>
                    <a:p>
                      <a:pPr marL="0" indent="0" algn="l">
                        <a:lnSpc>
                          <a:spcPct val="107000"/>
                        </a:lnSpc>
                        <a:spcBef>
                          <a:spcPct val="0"/>
                        </a:spcBef>
                        <a:spcAft>
                          <a:spcPct val="0"/>
                        </a:spcAft>
                      </a:pPr>
                      <a:r>
                        <a:rPr sz="900">
                          <a:solidFill>
                            <a:schemeClr val="tx1"/>
                          </a:solidFill>
                          <a:latin typeface="Verdana" panose="020B0604030504040204" charset="0"/>
                          <a:ea typeface="Calibri" panose="020F0502020204030204"/>
                          <a:cs typeface="Verdana" panose="020B0604030504040204" charset="0"/>
                        </a:rPr>
                        <a:t>Author Name</a:t>
                      </a:r>
                      <a:endParaRPr sz="900">
                        <a:solidFill>
                          <a:schemeClr val="tx1"/>
                        </a:solidFill>
                        <a:latin typeface="Verdana" panose="020B0604030504040204" charset="0"/>
                        <a:ea typeface="Calibri" panose="020F0502020204030204"/>
                        <a:cs typeface="Verdana" panose="020B0604030504040204" charset="0"/>
                      </a:endParaRPr>
                    </a:p>
                  </a:txBody>
                  <a:tcPr marL="68580" marR="68580" marT="0" marB="0"/>
                </a:tc>
                <a:tc>
                  <a:txBody>
                    <a:bodyPr/>
                    <a:lstStyle/>
                    <a:p>
                      <a:pPr marL="0" indent="0" algn="l">
                        <a:lnSpc>
                          <a:spcPct val="107000"/>
                        </a:lnSpc>
                        <a:spcBef>
                          <a:spcPct val="0"/>
                        </a:spcBef>
                        <a:spcAft>
                          <a:spcPct val="0"/>
                        </a:spcAft>
                      </a:pPr>
                      <a:r>
                        <a:rPr sz="900">
                          <a:solidFill>
                            <a:schemeClr val="tx1"/>
                          </a:solidFill>
                          <a:latin typeface="Verdana" panose="020B0604030504040204" charset="0"/>
                          <a:ea typeface="Calibri" panose="020F0502020204030204"/>
                          <a:cs typeface="Verdana" panose="020B0604030504040204" charset="0"/>
                        </a:rPr>
                        <a:t>Objective</a:t>
                      </a:r>
                      <a:endParaRPr sz="900">
                        <a:solidFill>
                          <a:schemeClr val="tx1"/>
                        </a:solidFill>
                        <a:latin typeface="Verdana" panose="020B0604030504040204" charset="0"/>
                        <a:ea typeface="Calibri" panose="020F0502020204030204"/>
                        <a:cs typeface="Verdana" panose="020B0604030504040204" charset="0"/>
                      </a:endParaRPr>
                    </a:p>
                  </a:txBody>
                  <a:tcPr marL="68580" marR="68580" marT="0" marB="0"/>
                </a:tc>
                <a:tc>
                  <a:txBody>
                    <a:bodyPr/>
                    <a:lstStyle/>
                    <a:p>
                      <a:pPr marL="0" indent="0" algn="l">
                        <a:lnSpc>
                          <a:spcPct val="107000"/>
                        </a:lnSpc>
                        <a:spcBef>
                          <a:spcPct val="0"/>
                        </a:spcBef>
                        <a:spcAft>
                          <a:spcPct val="0"/>
                        </a:spcAft>
                      </a:pPr>
                      <a:r>
                        <a:rPr sz="900">
                          <a:solidFill>
                            <a:schemeClr val="tx1"/>
                          </a:solidFill>
                          <a:latin typeface="Verdana" panose="020B0604030504040204" charset="0"/>
                          <a:ea typeface="Calibri" panose="020F0502020204030204"/>
                          <a:cs typeface="Verdana" panose="020B0604030504040204" charset="0"/>
                        </a:rPr>
                        <a:t>Proposed Method</a:t>
                      </a:r>
                      <a:endParaRPr sz="900">
                        <a:solidFill>
                          <a:schemeClr val="tx1"/>
                        </a:solidFill>
                        <a:latin typeface="Verdana" panose="020B0604030504040204" charset="0"/>
                        <a:ea typeface="Calibri" panose="020F0502020204030204"/>
                        <a:cs typeface="Verdana" panose="020B0604030504040204" charset="0"/>
                      </a:endParaRPr>
                    </a:p>
                  </a:txBody>
                  <a:tcPr marL="68580" marR="68580" marT="0" marB="0"/>
                </a:tc>
                <a:tc>
                  <a:txBody>
                    <a:bodyPr/>
                    <a:lstStyle/>
                    <a:p>
                      <a:pPr marL="0" indent="0" algn="l">
                        <a:lnSpc>
                          <a:spcPct val="107000"/>
                        </a:lnSpc>
                        <a:spcBef>
                          <a:spcPct val="0"/>
                        </a:spcBef>
                        <a:spcAft>
                          <a:spcPct val="0"/>
                        </a:spcAft>
                      </a:pPr>
                      <a:r>
                        <a:rPr sz="900">
                          <a:solidFill>
                            <a:schemeClr val="tx1"/>
                          </a:solidFill>
                          <a:latin typeface="Verdana" panose="020B0604030504040204" charset="0"/>
                          <a:ea typeface="Calibri" panose="020F0502020204030204"/>
                          <a:cs typeface="Verdana" panose="020B0604030504040204" charset="0"/>
                        </a:rPr>
                        <a:t>Drawbacks</a:t>
                      </a:r>
                      <a:endParaRPr sz="900">
                        <a:solidFill>
                          <a:schemeClr val="tx1"/>
                        </a:solidFill>
                        <a:latin typeface="Verdana" panose="020B0604030504040204" charset="0"/>
                        <a:ea typeface="Calibri" panose="020F0502020204030204"/>
                        <a:cs typeface="Verdana" panose="020B0604030504040204" charset="0"/>
                      </a:endParaRPr>
                    </a:p>
                  </a:txBody>
                  <a:tcPr marL="68580" marR="68580" marT="0" marB="0"/>
                </a:tc>
              </a:tr>
              <a:tr h="2829560">
                <a:tc>
                  <a:txBody>
                    <a:bodyPr/>
                    <a:lstStyle/>
                    <a:p>
                      <a:pPr marL="0" indent="0" algn="l">
                        <a:lnSpc>
                          <a:spcPct val="107000"/>
                        </a:lnSpc>
                        <a:spcBef>
                          <a:spcPct val="0"/>
                        </a:spcBef>
                        <a:spcAft>
                          <a:spcPct val="0"/>
                        </a:spcAft>
                      </a:pPr>
                      <a:r>
                        <a:rPr sz="900" b="1" dirty="0">
                          <a:latin typeface="Verdana" panose="020B0604030504040204" charset="0"/>
                          <a:ea typeface="Calibri" panose="020F0502020204030204"/>
                          <a:cs typeface="Verdana" panose="020B0604030504040204" charset="0"/>
                        </a:rPr>
                        <a:t>An Intrusion Detection and Prevention System against DOS Attacks for Internet-Integrated WSN</a:t>
                      </a:r>
                      <a:endParaRPr sz="900" b="1" dirty="0">
                        <a:latin typeface="Verdana" panose="020B0604030504040204" charset="0"/>
                        <a:ea typeface="Calibri" panose="020F0502020204030204"/>
                        <a:cs typeface="Verdana" panose="020B0604030504040204" charset="0"/>
                      </a:endParaRPr>
                    </a:p>
                  </a:txBody>
                  <a:tcPr marL="68580" marR="68580" marT="0" marB="0"/>
                </a:tc>
                <a:tc>
                  <a:txBody>
                    <a:bodyPr/>
                    <a:lstStyle/>
                    <a:p>
                      <a:pPr marL="0" indent="0" algn="l">
                        <a:lnSpc>
                          <a:spcPct val="107000"/>
                        </a:lnSpc>
                        <a:spcBef>
                          <a:spcPct val="0"/>
                        </a:spcBef>
                        <a:spcAft>
                          <a:spcPct val="0"/>
                        </a:spcAft>
                      </a:pPr>
                      <a:r>
                        <a:rPr sz="900" b="1">
                          <a:latin typeface="Verdana" panose="020B0604030504040204" charset="0"/>
                          <a:ea typeface="Calibri" panose="020F0502020204030204"/>
                          <a:cs typeface="Verdana" panose="020B0604030504040204" charset="0"/>
                        </a:rPr>
                        <a:t>Santhosh Kumar B J,</a:t>
                      </a:r>
                      <a:endParaRPr sz="900" b="1">
                        <a:latin typeface="Verdana" panose="020B0604030504040204" charset="0"/>
                        <a:ea typeface="Calibri" panose="020F0502020204030204"/>
                        <a:cs typeface="Verdana" panose="020B0604030504040204" charset="0"/>
                      </a:endParaRPr>
                    </a:p>
                    <a:p>
                      <a:pPr marL="0" indent="0" algn="l">
                        <a:lnSpc>
                          <a:spcPct val="107000"/>
                        </a:lnSpc>
                        <a:spcBef>
                          <a:spcPct val="0"/>
                        </a:spcBef>
                        <a:spcAft>
                          <a:spcPct val="0"/>
                        </a:spcAft>
                      </a:pPr>
                      <a:r>
                        <a:rPr sz="900" b="1">
                          <a:latin typeface="Verdana" panose="020B0604030504040204" charset="0"/>
                          <a:ea typeface="Calibri" panose="020F0502020204030204"/>
                          <a:cs typeface="Verdana" panose="020B0604030504040204" charset="0"/>
                        </a:rPr>
                        <a:t>Somnath Sinha</a:t>
                      </a:r>
                      <a:endParaRPr sz="900" b="1">
                        <a:latin typeface="Verdana" panose="020B0604030504040204" charset="0"/>
                        <a:ea typeface="Calibri" panose="020F0502020204030204"/>
                        <a:cs typeface="Verdana" panose="020B0604030504040204" charset="0"/>
                      </a:endParaRPr>
                    </a:p>
                  </a:txBody>
                  <a:tcPr marL="68580" marR="68580" marT="0" marB="0"/>
                </a:tc>
                <a:tc>
                  <a:txBody>
                    <a:bodyPr/>
                    <a:lstStyle/>
                    <a:p>
                      <a:pPr marL="0" indent="0" algn="l">
                        <a:lnSpc>
                          <a:spcPct val="107000"/>
                        </a:lnSpc>
                        <a:spcBef>
                          <a:spcPct val="0"/>
                        </a:spcBef>
                        <a:spcAft>
                          <a:spcPct val="0"/>
                        </a:spcAft>
                      </a:pPr>
                      <a:r>
                        <a:rPr sz="900" b="1">
                          <a:latin typeface="Verdana" panose="020B0604030504040204" charset="0"/>
                          <a:ea typeface="Calibri" panose="020F0502020204030204"/>
                          <a:cs typeface="Verdana" panose="020B0604030504040204" charset="0"/>
                        </a:rPr>
                        <a:t>Develop an  IDPS to safeguard Internet-integrated WSNs from DoS attacks, specifically focusing on flooding and jamming attacks</a:t>
                      </a:r>
                      <a:endParaRPr sz="900" b="1">
                        <a:latin typeface="Verdana" panose="020B0604030504040204" charset="0"/>
                        <a:ea typeface="Calibri" panose="020F0502020204030204"/>
                        <a:cs typeface="Verdana" panose="020B0604030504040204" charset="0"/>
                      </a:endParaRPr>
                    </a:p>
                  </a:txBody>
                  <a:tcPr marL="68580" marR="68580" marT="0" marB="0"/>
                </a:tc>
                <a:tc>
                  <a:txBody>
                    <a:bodyPr/>
                    <a:lstStyle/>
                    <a:p>
                      <a:pPr marL="0" indent="0" algn="l">
                        <a:lnSpc>
                          <a:spcPct val="150000"/>
                        </a:lnSpc>
                        <a:spcBef>
                          <a:spcPct val="0"/>
                        </a:spcBef>
                        <a:spcAft>
                          <a:spcPct val="0"/>
                        </a:spcAft>
                      </a:pPr>
                      <a:r>
                        <a:rPr sz="900" b="1">
                          <a:latin typeface="Verdana" panose="020B0604030504040204" charset="0"/>
                          <a:ea typeface="Calibri" panose="020F0502020204030204"/>
                          <a:cs typeface="Verdana" panose="020B0604030504040204" charset="0"/>
                        </a:rPr>
                        <a:t>IDS monitors key security metrics such as PDR and residual packet energy to detect anomalies. When inconsistencies are detected,such as congestion or unauthorized access, the system takes preventive actions like blocking communication to mitigate the attacks.</a:t>
                      </a:r>
                      <a:endParaRPr sz="900" b="1">
                        <a:latin typeface="Verdana" panose="020B0604030504040204" charset="0"/>
                        <a:ea typeface="Calibri" panose="020F0502020204030204"/>
                        <a:cs typeface="Verdana" panose="020B0604030504040204" charset="0"/>
                      </a:endParaRPr>
                    </a:p>
                  </a:txBody>
                  <a:tcPr marL="68580" marR="68580" marT="0" marB="0"/>
                </a:tc>
                <a:tc>
                  <a:txBody>
                    <a:bodyPr/>
                    <a:lstStyle/>
                    <a:p>
                      <a:pPr marL="0" indent="0" algn="l">
                        <a:spcBef>
                          <a:spcPts val="500"/>
                        </a:spcBef>
                        <a:spcAft>
                          <a:spcPts val="500"/>
                        </a:spcAft>
                      </a:pPr>
                      <a:r>
                        <a:rPr sz="900" b="1">
                          <a:latin typeface="Verdana" panose="020B0604030504040204" charset="0"/>
                          <a:ea typeface="Verdana" panose="020B0604030504040204"/>
                          <a:cs typeface="Verdana" panose="020B0604030504040204" charset="0"/>
                        </a:rPr>
                        <a:t>Relying solely on encryption-based techniques for DoS attack prevention in WSNs has been proven inefficient, often failing to address the complexity and variety of DoS attacks effectively. Implementing a multi-layered security approach that combines anomaly detection, behavioral analysis, and machine learning techniques could enhance the detection and prevention of diverse DoS attacks in internet-integrated WSNs.</a:t>
                      </a:r>
                      <a:endParaRPr sz="900" b="1">
                        <a:latin typeface="Verdana" panose="020B0604030504040204" charset="0"/>
                        <a:ea typeface="Verdana" panose="020B0604030504040204"/>
                        <a:cs typeface="Verdana" panose="020B0604030504040204" charset="0"/>
                      </a:endParaRPr>
                    </a:p>
                    <a:p>
                      <a:pPr marL="0" indent="0" algn="l">
                        <a:lnSpc>
                          <a:spcPct val="107000"/>
                        </a:lnSpc>
                        <a:spcBef>
                          <a:spcPct val="0"/>
                        </a:spcBef>
                        <a:spcAft>
                          <a:spcPct val="0"/>
                        </a:spcAft>
                      </a:pPr>
                      <a:r>
                        <a:rPr sz="900" b="1">
                          <a:latin typeface="Verdana" panose="020B0604030504040204" charset="0"/>
                          <a:ea typeface="Calibri" panose="020F0502020204030204"/>
                          <a:cs typeface="Verdana" panose="020B0604030504040204" charset="0"/>
                        </a:rPr>
                        <a:t> </a:t>
                      </a:r>
                      <a:endParaRPr sz="900" b="1">
                        <a:latin typeface="Verdana" panose="020B0604030504040204" charset="0"/>
                        <a:ea typeface="Calibri" panose="020F0502020204030204"/>
                        <a:cs typeface="Verdana" panose="020B0604030504040204" charset="0"/>
                      </a:endParaRPr>
                    </a:p>
                  </a:txBody>
                  <a:tcPr marL="68580" marR="68580" marT="0" marB="0"/>
                </a:tc>
              </a:tr>
              <a:tr h="2532380">
                <a:tc>
                  <a:txBody>
                    <a:bodyPr/>
                    <a:lstStyle/>
                    <a:p>
                      <a:pPr marL="0" indent="0" algn="l">
                        <a:lnSpc>
                          <a:spcPct val="107000"/>
                        </a:lnSpc>
                        <a:spcBef>
                          <a:spcPct val="0"/>
                        </a:spcBef>
                        <a:spcAft>
                          <a:spcPct val="0"/>
                        </a:spcAft>
                      </a:pPr>
                      <a:r>
                        <a:rPr sz="900" b="1">
                          <a:latin typeface="Verdana" panose="020B0604030504040204" charset="0"/>
                          <a:ea typeface="Calibri" panose="020F0502020204030204"/>
                          <a:cs typeface="Verdana" panose="020B0604030504040204" charset="0"/>
                        </a:rPr>
                        <a:t>Detection of Denial-of-Service Attack in Wireless Sensor Networks: A Lightweight Machine Learning Approach</a:t>
                      </a:r>
                      <a:endParaRPr sz="900" b="1">
                        <a:latin typeface="Verdana" panose="020B0604030504040204" charset="0"/>
                        <a:ea typeface="Calibri" panose="020F0502020204030204"/>
                        <a:cs typeface="Verdana" panose="020B0604030504040204" charset="0"/>
                      </a:endParaRPr>
                    </a:p>
                  </a:txBody>
                  <a:tcPr marL="68580" marR="68580" marT="0" marB="0"/>
                </a:tc>
                <a:tc>
                  <a:txBody>
                    <a:bodyPr/>
                    <a:lstStyle/>
                    <a:p>
                      <a:pPr marL="0" indent="0" algn="l">
                        <a:lnSpc>
                          <a:spcPct val="107000"/>
                        </a:lnSpc>
                        <a:spcBef>
                          <a:spcPct val="0"/>
                        </a:spcBef>
                        <a:spcAft>
                          <a:spcPct val="0"/>
                        </a:spcAft>
                      </a:pPr>
                      <a:r>
                        <a:rPr sz="900" b="1">
                          <a:latin typeface="Verdana" panose="020B0604030504040204" charset="0"/>
                          <a:ea typeface="Calibri" panose="020F0502020204030204"/>
                          <a:cs typeface="Verdana" panose="020B0604030504040204" charset="0"/>
                        </a:rPr>
                        <a:t>Muawia A Elsadig</a:t>
                      </a:r>
                      <a:endParaRPr sz="900" b="1">
                        <a:latin typeface="Verdana" panose="020B0604030504040204" charset="0"/>
                        <a:ea typeface="Calibri" panose="020F0502020204030204"/>
                        <a:cs typeface="Verdana" panose="020B0604030504040204" charset="0"/>
                      </a:endParaRPr>
                    </a:p>
                  </a:txBody>
                  <a:tcPr marL="68580" marR="68580" marT="0" marB="0"/>
                </a:tc>
                <a:tc>
                  <a:txBody>
                    <a:bodyPr/>
                    <a:lstStyle/>
                    <a:p>
                      <a:pPr marL="0" indent="0" algn="l">
                        <a:lnSpc>
                          <a:spcPct val="107000"/>
                        </a:lnSpc>
                        <a:spcBef>
                          <a:spcPct val="0"/>
                        </a:spcBef>
                        <a:spcAft>
                          <a:spcPct val="0"/>
                        </a:spcAft>
                      </a:pPr>
                      <a:r>
                        <a:rPr sz="900" b="1">
                          <a:latin typeface="Verdana" panose="020B0604030504040204" charset="0"/>
                          <a:ea typeface="Aptos"/>
                          <a:cs typeface="Verdana" panose="020B0604030504040204" charset="0"/>
                        </a:rPr>
                        <a:t>Building lightweight machine learning approach for detecting  DoS attacks in WSNs  using a DT algorithm with the Gini feature selection method.</a:t>
                      </a:r>
                      <a:endParaRPr sz="900" b="1">
                        <a:latin typeface="Verdana" panose="020B0604030504040204" charset="0"/>
                        <a:ea typeface="Aptos"/>
                        <a:cs typeface="Verdana" panose="020B0604030504040204" charset="0"/>
                      </a:endParaRPr>
                    </a:p>
                    <a:p>
                      <a:pPr marL="0" indent="0" algn="l">
                        <a:lnSpc>
                          <a:spcPct val="107000"/>
                        </a:lnSpc>
                        <a:spcBef>
                          <a:spcPct val="0"/>
                        </a:spcBef>
                        <a:spcAft>
                          <a:spcPct val="0"/>
                        </a:spcAft>
                      </a:pPr>
                      <a:r>
                        <a:rPr sz="900" b="1">
                          <a:latin typeface="Verdana" panose="020B0604030504040204" charset="0"/>
                          <a:ea typeface="Calibri" panose="020F0502020204030204"/>
                          <a:cs typeface="Verdana" panose="020B0604030504040204" charset="0"/>
                        </a:rPr>
                        <a:t> </a:t>
                      </a:r>
                      <a:endParaRPr sz="900" b="1">
                        <a:latin typeface="Verdana" panose="020B0604030504040204" charset="0"/>
                        <a:ea typeface="Calibri" panose="020F0502020204030204"/>
                        <a:cs typeface="Verdana" panose="020B0604030504040204" charset="0"/>
                      </a:endParaRPr>
                    </a:p>
                  </a:txBody>
                  <a:tcPr marL="68580" marR="68580" marT="0" marB="0"/>
                </a:tc>
                <a:tc>
                  <a:txBody>
                    <a:bodyPr/>
                    <a:lstStyle/>
                    <a:p>
                      <a:pPr marL="0" indent="0" algn="l">
                        <a:lnSpc>
                          <a:spcPct val="114000"/>
                        </a:lnSpc>
                        <a:spcBef>
                          <a:spcPct val="0"/>
                        </a:spcBef>
                        <a:spcAft>
                          <a:spcPts val="800"/>
                        </a:spcAft>
                      </a:pPr>
                      <a:r>
                        <a:rPr sz="900" b="1">
                          <a:latin typeface="Verdana" panose="020B0604030504040204" charset="0"/>
                          <a:ea typeface="Aptos"/>
                          <a:cs typeface="Verdana" panose="020B0604030504040204" charset="0"/>
                        </a:rPr>
                        <a:t> </a:t>
                      </a:r>
                      <a:r>
                        <a:rPr sz="900" b="1">
                          <a:latin typeface="Verdana" panose="020B0604030504040204" charset="0"/>
                          <a:ea typeface="SimSun" panose="02010600030101010101" pitchFamily="2" charset="-122"/>
                          <a:cs typeface="Verdana" panose="020B0604030504040204" charset="0"/>
                        </a:rPr>
                        <a:t>This study presents a lightweight machine learning approach for detecting DoS attacks in WSNs using a Decision Tree algorithm with Gini feature selection. It addresses WSN vulnerabilities, particularly resource constraints like limited energy, low computational power, and restricted bandwidth, which make them susceptible to DoS attacks. </a:t>
                      </a:r>
                      <a:endParaRPr sz="900" b="1">
                        <a:latin typeface="Verdana" panose="020B0604030504040204" charset="0"/>
                        <a:ea typeface="SimSun" panose="02010600030101010101" pitchFamily="2" charset="-122"/>
                        <a:cs typeface="Verdana" panose="020B0604030504040204" charset="0"/>
                      </a:endParaRPr>
                    </a:p>
                    <a:p>
                      <a:pPr marL="0" indent="0" algn="l">
                        <a:lnSpc>
                          <a:spcPct val="107000"/>
                        </a:lnSpc>
                        <a:spcBef>
                          <a:spcPct val="0"/>
                        </a:spcBef>
                        <a:spcAft>
                          <a:spcPct val="0"/>
                        </a:spcAft>
                      </a:pPr>
                      <a:r>
                        <a:rPr sz="900" b="1">
                          <a:latin typeface="Verdana" panose="020B0604030504040204" charset="0"/>
                          <a:ea typeface="Calibri" panose="020F0502020204030204"/>
                          <a:cs typeface="Verdana" panose="020B0604030504040204" charset="0"/>
                        </a:rPr>
                        <a:t> </a:t>
                      </a:r>
                      <a:endParaRPr sz="900" b="1">
                        <a:latin typeface="Verdana" panose="020B0604030504040204" charset="0"/>
                        <a:ea typeface="Calibri" panose="020F0502020204030204"/>
                        <a:cs typeface="Verdana" panose="020B0604030504040204" charset="0"/>
                      </a:endParaRPr>
                    </a:p>
                  </a:txBody>
                  <a:tcPr marL="68580" marR="68580" marT="0" marB="0"/>
                </a:tc>
                <a:tc>
                  <a:txBody>
                    <a:bodyPr/>
                    <a:lstStyle/>
                    <a:p>
                      <a:pPr marL="0" indent="0" algn="l">
                        <a:spcBef>
                          <a:spcPts val="500"/>
                        </a:spcBef>
                        <a:spcAft>
                          <a:spcPts val="500"/>
                        </a:spcAft>
                      </a:pPr>
                      <a:r>
                        <a:rPr sz="900" b="1" dirty="0">
                          <a:latin typeface="Verdana" panose="020B0604030504040204" charset="0"/>
                          <a:ea typeface="Verdana" panose="020B0604030504040204"/>
                          <a:cs typeface="Verdana" panose="020B0604030504040204" charset="0"/>
                        </a:rPr>
                        <a:t>The proposed decision tree (DT) algorithm, while effective, may not achieve the highest accuracy compared to more complex models like Random Forest (RF), which, although slower, can outperform it in certain scenarios. Utilizing an ensemble learning approach that combines the strengths of multiple classifiers, such as RF and DT, could improve accuracy </a:t>
                      </a:r>
                      <a:endParaRPr sz="900" b="1" dirty="0">
                        <a:latin typeface="Verdana" panose="020B0604030504040204" charset="0"/>
                        <a:ea typeface="Verdana" panose="020B0604030504040204"/>
                        <a:cs typeface="Verdana" panose="020B0604030504040204" charset="0"/>
                      </a:endParaRPr>
                    </a:p>
                  </a:txBody>
                  <a:tcPr marL="68580" marR="68580" marT="0" marB="0"/>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p:nvPr>
            <p:custDataLst>
              <p:tags r:id="rId1"/>
            </p:custDataLst>
          </p:nvPr>
        </p:nvGraphicFramePr>
        <p:xfrm>
          <a:off x="1688465" y="426720"/>
          <a:ext cx="9642475" cy="6084570"/>
        </p:xfrm>
        <a:graphic>
          <a:graphicData uri="http://schemas.openxmlformats.org/drawingml/2006/table">
            <a:tbl>
              <a:tblPr firstRow="1" bandRow="1">
                <a:tableStyleId>{5C22544A-7EE6-4342-B048-85BDC9FD1C3A}</a:tableStyleId>
              </a:tblPr>
              <a:tblGrid>
                <a:gridCol w="1928495"/>
                <a:gridCol w="1928495"/>
                <a:gridCol w="1928495"/>
                <a:gridCol w="1928495"/>
                <a:gridCol w="1928495"/>
              </a:tblGrid>
              <a:tr h="3042285">
                <a:tc>
                  <a:txBody>
                    <a:bodyPr/>
                    <a:lstStyle/>
                    <a:p>
                      <a:pPr marL="0" indent="0">
                        <a:lnSpc>
                          <a:spcPct val="107000"/>
                        </a:lnSpc>
                        <a:spcBef>
                          <a:spcPct val="0"/>
                        </a:spcBef>
                        <a:spcAft>
                          <a:spcPct val="0"/>
                        </a:spcAft>
                      </a:pPr>
                      <a:r>
                        <a:rPr sz="1000" dirty="0">
                          <a:solidFill>
                            <a:schemeClr val="tx1"/>
                          </a:solidFill>
                          <a:latin typeface="Verdana" panose="020B0604030504040204" charset="0"/>
                          <a:ea typeface="Calibri" panose="020F0502020204030204"/>
                          <a:cs typeface="Verdana" panose="020B0604030504040204" charset="0"/>
                        </a:rPr>
                        <a:t>Dos attack Detection in wireless sensor networks (WSN)Using Hybrid Machine learning Model</a:t>
                      </a:r>
                      <a:endParaRPr sz="1000" dirty="0">
                        <a:solidFill>
                          <a:schemeClr val="tx1"/>
                        </a:solidFill>
                        <a:latin typeface="Verdana" panose="020B0604030504040204" charset="0"/>
                        <a:ea typeface="Calibri" panose="020F0502020204030204"/>
                        <a:cs typeface="Verdana" panose="020B0604030504040204" charset="0"/>
                      </a:endParaRPr>
                    </a:p>
                  </a:txBody>
                  <a:tcPr marL="68580" marR="68580" marT="0" marB="0">
                    <a:solidFill>
                      <a:schemeClr val="accent2">
                        <a:lumMod val="20000"/>
                        <a:lumOff val="80000"/>
                      </a:schemeClr>
                    </a:solidFill>
                  </a:tcPr>
                </a:tc>
                <a:tc>
                  <a:txBody>
                    <a:bodyPr/>
                    <a:lstStyle/>
                    <a:p>
                      <a:pPr marL="0" indent="0">
                        <a:lnSpc>
                          <a:spcPct val="107000"/>
                        </a:lnSpc>
                        <a:spcBef>
                          <a:spcPct val="0"/>
                        </a:spcBef>
                        <a:spcAft>
                          <a:spcPct val="0"/>
                        </a:spcAft>
                      </a:pPr>
                      <a:r>
                        <a:rPr sz="1000">
                          <a:solidFill>
                            <a:schemeClr val="tx1"/>
                          </a:solidFill>
                          <a:latin typeface="Verdana" panose="020B0604030504040204" charset="0"/>
                          <a:ea typeface="Calibri" panose="020F0502020204030204"/>
                          <a:cs typeface="Verdana" panose="020B0604030504040204" charset="0"/>
                        </a:rPr>
                        <a:t>G Sankara Rao</a:t>
                      </a:r>
                      <a:endParaRPr sz="1000">
                        <a:solidFill>
                          <a:schemeClr val="tx1"/>
                        </a:solidFill>
                        <a:latin typeface="Verdana" panose="020B0604030504040204" charset="0"/>
                        <a:ea typeface="Calibri" panose="020F0502020204030204"/>
                        <a:cs typeface="Verdana" panose="020B0604030504040204" charset="0"/>
                      </a:endParaRPr>
                    </a:p>
                    <a:p>
                      <a:pPr marL="0" indent="0">
                        <a:lnSpc>
                          <a:spcPct val="107000"/>
                        </a:lnSpc>
                        <a:spcBef>
                          <a:spcPct val="0"/>
                        </a:spcBef>
                        <a:spcAft>
                          <a:spcPct val="0"/>
                        </a:spcAft>
                      </a:pPr>
                      <a:r>
                        <a:rPr sz="1000">
                          <a:solidFill>
                            <a:schemeClr val="tx1"/>
                          </a:solidFill>
                          <a:latin typeface="Verdana" panose="020B0604030504040204" charset="0"/>
                          <a:ea typeface="Calibri" panose="020F0502020204030204"/>
                          <a:cs typeface="Verdana" panose="020B0604030504040204" charset="0"/>
                        </a:rPr>
                        <a:t>Muvvala Harshitha</a:t>
                      </a:r>
                      <a:endParaRPr sz="1000">
                        <a:solidFill>
                          <a:schemeClr val="tx1"/>
                        </a:solidFill>
                        <a:latin typeface="Verdana" panose="020B0604030504040204" charset="0"/>
                        <a:ea typeface="Calibri" panose="020F0502020204030204"/>
                        <a:cs typeface="Verdana" panose="020B0604030504040204" charset="0"/>
                      </a:endParaRPr>
                    </a:p>
                  </a:txBody>
                  <a:tcPr marL="68580" marR="68580" marT="0" marB="0">
                    <a:solidFill>
                      <a:schemeClr val="accent2">
                        <a:lumMod val="20000"/>
                        <a:lumOff val="80000"/>
                      </a:schemeClr>
                    </a:solidFill>
                  </a:tcPr>
                </a:tc>
                <a:tc>
                  <a:txBody>
                    <a:bodyPr/>
                    <a:lstStyle/>
                    <a:p>
                      <a:pPr marL="0" indent="0">
                        <a:lnSpc>
                          <a:spcPct val="107000"/>
                        </a:lnSpc>
                        <a:spcBef>
                          <a:spcPct val="0"/>
                        </a:spcBef>
                        <a:spcAft>
                          <a:spcPct val="0"/>
                        </a:spcAft>
                      </a:pPr>
                      <a:r>
                        <a:rPr sz="1000">
                          <a:solidFill>
                            <a:schemeClr val="tx1"/>
                          </a:solidFill>
                          <a:latin typeface="Verdana" panose="020B0604030504040204" charset="0"/>
                          <a:ea typeface="Calibri" panose="020F0502020204030204"/>
                          <a:cs typeface="Verdana" panose="020B0604030504040204" charset="0"/>
                        </a:rPr>
                        <a:t>The primary objective of this paper is to develop an efficient and accurate method for detecting Denial of Service (DoS) attacks in Wireless Sensor Networks (WSN).</a:t>
                      </a:r>
                      <a:endParaRPr sz="1000">
                        <a:solidFill>
                          <a:schemeClr val="tx1"/>
                        </a:solidFill>
                        <a:latin typeface="Verdana" panose="020B0604030504040204" charset="0"/>
                        <a:ea typeface="Calibri" panose="020F0502020204030204"/>
                        <a:cs typeface="Verdana" panose="020B0604030504040204" charset="0"/>
                      </a:endParaRPr>
                    </a:p>
                  </a:txBody>
                  <a:tcPr marL="68580" marR="68580" marT="0" marB="0">
                    <a:solidFill>
                      <a:schemeClr val="accent2">
                        <a:lumMod val="20000"/>
                        <a:lumOff val="80000"/>
                      </a:schemeClr>
                    </a:solidFill>
                  </a:tcPr>
                </a:tc>
                <a:tc>
                  <a:txBody>
                    <a:bodyPr/>
                    <a:lstStyle/>
                    <a:p>
                      <a:pPr marL="0" indent="0" algn="l">
                        <a:lnSpc>
                          <a:spcPct val="107000"/>
                        </a:lnSpc>
                        <a:spcBef>
                          <a:spcPct val="0"/>
                        </a:spcBef>
                        <a:spcAft>
                          <a:spcPct val="0"/>
                        </a:spcAft>
                      </a:pPr>
                      <a:r>
                        <a:rPr sz="1000">
                          <a:solidFill>
                            <a:schemeClr val="tx1"/>
                          </a:solidFill>
                          <a:latin typeface="Verdana" panose="020B0604030504040204" charset="0"/>
                          <a:ea typeface="SimSun" panose="02010600030101010101" pitchFamily="2" charset="-122"/>
                          <a:cs typeface="Verdana" panose="020B0604030504040204" charset="0"/>
                        </a:rPr>
                        <a:t>The paper proposes a hybrid machine learning model combining supervised and unsupervised techniques to detect DoS attacks in WSNs. It processes network traffic to identify abnormal patterns, leveraging multiple classifiers for improved detection while reducing computational overhead by filtering data at different network </a:t>
                      </a:r>
                      <a:r>
                        <a:rPr sz="1000" b="1">
                          <a:solidFill>
                            <a:schemeClr val="tx1"/>
                          </a:solidFill>
                          <a:latin typeface="Verdana" panose="020B0604030504040204" charset="0"/>
                          <a:ea typeface="SimSun" panose="02010600030101010101" pitchFamily="2" charset="-122"/>
                          <a:cs typeface="Verdana" panose="020B0604030504040204" charset="0"/>
                        </a:rPr>
                        <a:t>stages</a:t>
                      </a:r>
                      <a:r>
                        <a:rPr sz="1000">
                          <a:solidFill>
                            <a:schemeClr val="tx1"/>
                          </a:solidFill>
                          <a:latin typeface="Verdana" panose="020B0604030504040204" charset="0"/>
                          <a:ea typeface="SimSun" panose="02010600030101010101" pitchFamily="2" charset="-122"/>
                          <a:cs typeface="Verdana" panose="020B0604030504040204" charset="0"/>
                        </a:rPr>
                        <a:t>.</a:t>
                      </a:r>
                      <a:endParaRPr sz="1000">
                        <a:solidFill>
                          <a:schemeClr val="tx1"/>
                        </a:solidFill>
                        <a:latin typeface="Verdana" panose="020B0604030504040204" charset="0"/>
                        <a:ea typeface="SimSun" panose="02010600030101010101" pitchFamily="2" charset="-122"/>
                        <a:cs typeface="Verdana" panose="020B0604030504040204" charset="0"/>
                      </a:endParaRPr>
                    </a:p>
                  </a:txBody>
                  <a:tcPr marL="68580" marR="68580" marT="0" marB="0">
                    <a:solidFill>
                      <a:schemeClr val="accent2">
                        <a:lumMod val="20000"/>
                        <a:lumOff val="80000"/>
                      </a:schemeClr>
                    </a:solidFill>
                  </a:tcPr>
                </a:tc>
                <a:tc>
                  <a:txBody>
                    <a:bodyPr/>
                    <a:lstStyle/>
                    <a:p>
                      <a:pPr marL="0" indent="0" algn="l">
                        <a:spcBef>
                          <a:spcPts val="500"/>
                        </a:spcBef>
                        <a:spcAft>
                          <a:spcPts val="500"/>
                        </a:spcAft>
                      </a:pPr>
                      <a:r>
                        <a:rPr sz="1000">
                          <a:solidFill>
                            <a:schemeClr val="tx1"/>
                          </a:solidFill>
                          <a:latin typeface="Verdana" panose="020B0604030504040204" charset="0"/>
                          <a:ea typeface="Verdana" panose="020B0604030504040204"/>
                          <a:cs typeface="Verdana" panose="020B0604030504040204" charset="0"/>
                        </a:rPr>
                        <a:t>The hybrid model's complexity may lead to increased latency in real-time detection due to the integration of multiple classifiers.  Implementing adaptive algorithms that dynamically adjust the classification strategy based on network conditions could enhance detection efficiency while minimizing latency in identifying DoS attacks in WSNs.</a:t>
                      </a:r>
                      <a:endParaRPr sz="1000">
                        <a:solidFill>
                          <a:schemeClr val="tx1"/>
                        </a:solidFill>
                        <a:latin typeface="Verdana" panose="020B0604030504040204" charset="0"/>
                        <a:ea typeface="Verdana" panose="020B0604030504040204"/>
                        <a:cs typeface="Verdana" panose="020B0604030504040204" charset="0"/>
                      </a:endParaRPr>
                    </a:p>
                    <a:p>
                      <a:pPr marL="0" indent="0" algn="l">
                        <a:spcBef>
                          <a:spcPct val="0"/>
                        </a:spcBef>
                        <a:spcAft>
                          <a:spcPct val="0"/>
                        </a:spcAft>
                      </a:pPr>
                      <a:endParaRPr sz="1000">
                        <a:solidFill>
                          <a:schemeClr val="tx1"/>
                        </a:solidFill>
                        <a:latin typeface="Verdana" panose="020B0604030504040204" charset="0"/>
                        <a:ea typeface="Verdana" panose="020B0604030504040204"/>
                        <a:cs typeface="Verdana" panose="020B0604030504040204" charset="0"/>
                      </a:endParaRPr>
                    </a:p>
                  </a:txBody>
                  <a:tcPr marL="68580" marR="68580" marT="0" marB="0">
                    <a:solidFill>
                      <a:schemeClr val="accent2">
                        <a:lumMod val="20000"/>
                        <a:lumOff val="80000"/>
                      </a:schemeClr>
                    </a:solidFill>
                  </a:tcPr>
                </a:tc>
              </a:tr>
              <a:tr h="3042285">
                <a:tc>
                  <a:txBody>
                    <a:bodyPr/>
                    <a:lstStyle/>
                    <a:p>
                      <a:pPr marL="0" indent="0">
                        <a:lnSpc>
                          <a:spcPct val="107000"/>
                        </a:lnSpc>
                        <a:spcBef>
                          <a:spcPct val="0"/>
                        </a:spcBef>
                        <a:spcAft>
                          <a:spcPct val="0"/>
                        </a:spcAft>
                      </a:pPr>
                      <a:r>
                        <a:rPr sz="1000" b="1" dirty="0">
                          <a:solidFill>
                            <a:schemeClr val="tx1"/>
                          </a:solidFill>
                          <a:latin typeface="Verdana" panose="020B0604030504040204" charset="0"/>
                          <a:ea typeface="SimSun" panose="02010600030101010101" pitchFamily="2" charset="-122"/>
                          <a:cs typeface="Verdana" panose="020B0604030504040204" charset="0"/>
                        </a:rPr>
                        <a:t>Denial of service attack detection through machine learning for the IoT</a:t>
                      </a:r>
                      <a:endParaRPr sz="1000" b="1" dirty="0">
                        <a:solidFill>
                          <a:schemeClr val="tx1"/>
                        </a:solidFill>
                        <a:latin typeface="Verdana" panose="020B0604030504040204" charset="0"/>
                        <a:ea typeface="SimSun" panose="02010600030101010101" pitchFamily="2" charset="-122"/>
                        <a:cs typeface="Verdana" panose="020B0604030504040204" charset="0"/>
                      </a:endParaRPr>
                    </a:p>
                  </a:txBody>
                  <a:tcPr marL="68580" marR="68580" marT="0" marB="0"/>
                </a:tc>
                <a:tc>
                  <a:txBody>
                    <a:bodyPr/>
                    <a:lstStyle/>
                    <a:p>
                      <a:pPr marL="0" indent="0" algn="l">
                        <a:lnSpc>
                          <a:spcPct val="107000"/>
                        </a:lnSpc>
                        <a:spcBef>
                          <a:spcPct val="0"/>
                        </a:spcBef>
                        <a:spcAft>
                          <a:spcPct val="0"/>
                        </a:spcAft>
                      </a:pPr>
                      <a:r>
                        <a:rPr sz="1000" b="1">
                          <a:solidFill>
                            <a:schemeClr val="tx1"/>
                          </a:solidFill>
                          <a:latin typeface="Verdana" panose="020B0604030504040204" charset="0"/>
                          <a:ea typeface="SimSun" panose="02010600030101010101" pitchFamily="2" charset="-122"/>
                          <a:cs typeface="Verdana" panose="020B0604030504040204" charset="0"/>
                        </a:rPr>
                        <a:t>Naeem Firdous Syed, Zubair Baig</a:t>
                      </a:r>
                      <a:endParaRPr sz="1000" b="1">
                        <a:solidFill>
                          <a:schemeClr val="tx1"/>
                        </a:solidFill>
                        <a:latin typeface="Verdana" panose="020B0604030504040204" charset="0"/>
                        <a:ea typeface="SimSun" panose="02010600030101010101" pitchFamily="2" charset="-122"/>
                        <a:cs typeface="Verdana" panose="020B0604030504040204" charset="0"/>
                      </a:endParaRPr>
                    </a:p>
                  </a:txBody>
                  <a:tcPr marL="68580" marR="68580" marT="0" marB="0"/>
                </a:tc>
                <a:tc>
                  <a:txBody>
                    <a:bodyPr/>
                    <a:lstStyle/>
                    <a:p>
                      <a:pPr marL="0" indent="0">
                        <a:lnSpc>
                          <a:spcPct val="107000"/>
                        </a:lnSpc>
                        <a:spcBef>
                          <a:spcPct val="0"/>
                        </a:spcBef>
                        <a:spcAft>
                          <a:spcPct val="0"/>
                        </a:spcAft>
                      </a:pPr>
                      <a:r>
                        <a:rPr sz="1000" b="1">
                          <a:solidFill>
                            <a:schemeClr val="tx1"/>
                          </a:solidFill>
                          <a:latin typeface="Verdana" panose="020B0604030504040204" charset="0"/>
                          <a:ea typeface="SimSun" panose="02010600030101010101" pitchFamily="2" charset="-122"/>
                          <a:cs typeface="Verdana" panose="020B0604030504040204" charset="0"/>
                        </a:rPr>
                        <a:t>This paper aims to propose a machine learning-based framework to detect Application layer DoS attacks on the MQTT protocol in IoT systems, demonstrating high detection accuracy with reduced false positives.</a:t>
                      </a:r>
                      <a:endParaRPr sz="1000" b="1">
                        <a:solidFill>
                          <a:schemeClr val="tx1"/>
                        </a:solidFill>
                        <a:latin typeface="Verdana" panose="020B0604030504040204" charset="0"/>
                        <a:ea typeface="SimSun" panose="02010600030101010101" pitchFamily="2" charset="-122"/>
                        <a:cs typeface="Verdana" panose="020B0604030504040204" charset="0"/>
                      </a:endParaRPr>
                    </a:p>
                  </a:txBody>
                  <a:tcPr marL="68580" marR="68580" marT="0" marB="0"/>
                </a:tc>
                <a:tc>
                  <a:txBody>
                    <a:bodyPr/>
                    <a:lstStyle/>
                    <a:p>
                      <a:pPr marL="0" indent="0" algn="l">
                        <a:lnSpc>
                          <a:spcPct val="107000"/>
                        </a:lnSpc>
                        <a:spcBef>
                          <a:spcPct val="0"/>
                        </a:spcBef>
                        <a:spcAft>
                          <a:spcPct val="0"/>
                        </a:spcAft>
                      </a:pPr>
                      <a:r>
                        <a:rPr sz="1000" b="1">
                          <a:solidFill>
                            <a:schemeClr val="tx1"/>
                          </a:solidFill>
                          <a:latin typeface="Verdana" panose="020B0604030504040204" charset="0"/>
                          <a:ea typeface="SimSun" panose="02010600030101010101" pitchFamily="2" charset="-122"/>
                          <a:cs typeface="Verdana" panose="020B0604030504040204" charset="0"/>
                        </a:rPr>
                        <a:t>The proposed framework detects MQTT-based DoS attacks in IoT environments using count-based flow and control packet field size/length features. Three machine learning algorithms—AODE, C4.5, and MLP—were evaluated, showing high effectiveness in detecting attacks using these features.</a:t>
                      </a:r>
                      <a:endParaRPr sz="1000" b="1">
                        <a:solidFill>
                          <a:schemeClr val="tx1"/>
                        </a:solidFill>
                        <a:latin typeface="Verdana" panose="020B0604030504040204" charset="0"/>
                        <a:ea typeface="SimSun" panose="02010600030101010101" pitchFamily="2" charset="-122"/>
                        <a:cs typeface="Verdana" panose="020B0604030504040204" charset="0"/>
                      </a:endParaRPr>
                    </a:p>
                  </a:txBody>
                  <a:tcPr marL="68580" marR="68580" marT="0" marB="0"/>
                </a:tc>
                <a:tc>
                  <a:txBody>
                    <a:bodyPr/>
                    <a:lstStyle/>
                    <a:p>
                      <a:pPr marL="0" indent="0" algn="l">
                        <a:spcBef>
                          <a:spcPts val="500"/>
                        </a:spcBef>
                        <a:spcAft>
                          <a:spcPts val="500"/>
                        </a:spcAft>
                      </a:pPr>
                      <a:r>
                        <a:rPr sz="1000" b="1" dirty="0">
                          <a:solidFill>
                            <a:schemeClr val="tx1"/>
                          </a:solidFill>
                          <a:latin typeface="Verdana" panose="020B0604030504040204" charset="0"/>
                          <a:ea typeface="Verdana" panose="020B0604030504040204"/>
                          <a:cs typeface="Verdana" panose="020B0604030504040204" charset="0"/>
                        </a:rPr>
                        <a:t>Invalid authentication attacks have minimal impact with a single source, and memory exhaustion attacks require a large volume of attack packets. Additionally, real-world dataset analysis is </a:t>
                      </a:r>
                      <a:r>
                        <a:rPr sz="1000" b="1" dirty="0" err="1">
                          <a:solidFill>
                            <a:schemeClr val="tx1"/>
                          </a:solidFill>
                          <a:latin typeface="Verdana" panose="020B0604030504040204" charset="0"/>
                          <a:ea typeface="Verdana" panose="020B0604030504040204"/>
                          <a:cs typeface="Verdana" panose="020B0604030504040204" charset="0"/>
                        </a:rPr>
                        <a:t>lacking.we</a:t>
                      </a:r>
                      <a:r>
                        <a:rPr sz="1000" b="1" dirty="0">
                          <a:solidFill>
                            <a:schemeClr val="tx1"/>
                          </a:solidFill>
                          <a:latin typeface="Verdana" panose="020B0604030504040204" charset="0"/>
                          <a:ea typeface="Verdana" panose="020B0604030504040204"/>
                          <a:cs typeface="Verdana" panose="020B0604030504040204" charset="0"/>
                        </a:rPr>
                        <a:t> will incorporate  datasets for better feature assessment and enhance detection of subtle attack patterns.</a:t>
                      </a:r>
                      <a:endParaRPr sz="1000" b="1" dirty="0">
                        <a:solidFill>
                          <a:schemeClr val="tx1"/>
                        </a:solidFill>
                        <a:latin typeface="Verdana" panose="020B0604030504040204" charset="0"/>
                        <a:ea typeface="Verdana" panose="020B0604030504040204"/>
                        <a:cs typeface="Verdana" panose="020B0604030504040204" charset="0"/>
                      </a:endParaRPr>
                    </a:p>
                    <a:p>
                      <a:pPr marL="0" indent="0" algn="l">
                        <a:spcBef>
                          <a:spcPct val="0"/>
                        </a:spcBef>
                        <a:spcAft>
                          <a:spcPct val="0"/>
                        </a:spcAft>
                      </a:pPr>
                      <a:endParaRPr sz="1000" b="1" dirty="0">
                        <a:solidFill>
                          <a:schemeClr val="tx1"/>
                        </a:solidFill>
                        <a:latin typeface="Verdana" panose="020B0604030504040204" charset="0"/>
                        <a:ea typeface="Verdana" panose="020B0604030504040204"/>
                        <a:cs typeface="Verdana" panose="020B0604030504040204" charset="0"/>
                      </a:endParaRPr>
                    </a:p>
                  </a:txBody>
                  <a:tcPr marL="68580" marR="68580" marT="0" marB="0"/>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custDataLst>
              <p:tags r:id="rId1"/>
            </p:custDataLst>
          </p:nvPr>
        </p:nvGraphicFramePr>
        <p:xfrm>
          <a:off x="1728696" y="1035824"/>
          <a:ext cx="9870405" cy="5721350"/>
        </p:xfrm>
        <a:graphic>
          <a:graphicData uri="http://schemas.openxmlformats.org/drawingml/2006/table">
            <a:tbl>
              <a:tblPr firstRow="1" bandRow="1">
                <a:tableStyleId>{5C22544A-7EE6-4342-B048-85BDC9FD1C3A}</a:tableStyleId>
              </a:tblPr>
              <a:tblGrid>
                <a:gridCol w="1976120"/>
                <a:gridCol w="1976755"/>
                <a:gridCol w="2018665"/>
                <a:gridCol w="1933575"/>
                <a:gridCol w="1965290"/>
              </a:tblGrid>
              <a:tr h="2586355">
                <a:tc>
                  <a:txBody>
                    <a:bodyPr/>
                    <a:lstStyle/>
                    <a:p>
                      <a:pPr algn="just"/>
                      <a:r>
                        <a:rPr lang="en-IN" sz="1000" b="1" kern="1200" dirty="0">
                          <a:solidFill>
                            <a:schemeClr val="tx1"/>
                          </a:solidFill>
                          <a:effectLst/>
                          <a:latin typeface="Verdana" panose="020B0604030504040204" charset="0"/>
                          <a:ea typeface="Verdana" panose="020B0604030504040204" charset="0"/>
                          <a:cs typeface="Verdana" panose="020B0604030504040204" charset="0"/>
                        </a:rPr>
                        <a:t>A Machine Learning Approach for DDoS</a:t>
                      </a:r>
                      <a:endParaRPr lang="en-IN" sz="1000" b="1" kern="1200" dirty="0">
                        <a:solidFill>
                          <a:schemeClr val="tx1"/>
                        </a:solidFill>
                        <a:effectLst/>
                        <a:latin typeface="Verdana" panose="020B0604030504040204" charset="0"/>
                        <a:ea typeface="Verdana" panose="020B0604030504040204" charset="0"/>
                        <a:cs typeface="Verdana" panose="020B0604030504040204" charset="0"/>
                      </a:endParaRPr>
                    </a:p>
                    <a:p>
                      <a:pPr algn="just"/>
                      <a:r>
                        <a:rPr lang="en-IN" sz="1000" b="1" kern="1200" dirty="0">
                          <a:solidFill>
                            <a:schemeClr val="tx1"/>
                          </a:solidFill>
                          <a:effectLst/>
                          <a:latin typeface="Verdana" panose="020B0604030504040204" charset="0"/>
                          <a:ea typeface="Verdana" panose="020B0604030504040204" charset="0"/>
                          <a:cs typeface="Verdana" panose="020B0604030504040204" charset="0"/>
                        </a:rPr>
                        <a:t>(Distributed Denial of Service) Attack Detection</a:t>
                      </a:r>
                      <a:endParaRPr lang="en-IN" sz="1000" b="1" kern="1200" dirty="0">
                        <a:solidFill>
                          <a:schemeClr val="tx1"/>
                        </a:solidFill>
                        <a:effectLst/>
                        <a:latin typeface="Verdana" panose="020B0604030504040204" charset="0"/>
                        <a:ea typeface="Verdana" panose="020B0604030504040204" charset="0"/>
                        <a:cs typeface="Verdana" panose="020B0604030504040204" charset="0"/>
                      </a:endParaRPr>
                    </a:p>
                    <a:p>
                      <a:pPr algn="just"/>
                      <a:r>
                        <a:rPr lang="en-IN" sz="1000" b="1" kern="1200" dirty="0">
                          <a:solidFill>
                            <a:schemeClr val="tx1"/>
                          </a:solidFill>
                          <a:effectLst/>
                          <a:latin typeface="Verdana" panose="020B0604030504040204" charset="0"/>
                          <a:ea typeface="Verdana" panose="020B0604030504040204" charset="0"/>
                          <a:cs typeface="Verdana" panose="020B0604030504040204" charset="0"/>
                        </a:rPr>
                        <a:t>Using Multiple Linear Regression </a:t>
                      </a:r>
                      <a:endParaRPr lang="en-IN" sz="1000" b="1" kern="1200" dirty="0">
                        <a:solidFill>
                          <a:schemeClr val="tx1"/>
                        </a:solidFill>
                        <a:effectLst/>
                        <a:latin typeface="Verdana" panose="020B0604030504040204" charset="0"/>
                        <a:ea typeface="Verdana" panose="020B0604030504040204" charset="0"/>
                        <a:cs typeface="Verdana" panose="020B0604030504040204" charset="0"/>
                      </a:endParaRPr>
                    </a:p>
                  </a:txBody>
                  <a:tcPr>
                    <a:solidFill>
                      <a:schemeClr val="bg2"/>
                    </a:solidFill>
                  </a:tcPr>
                </a:tc>
                <a:tc>
                  <a:txBody>
                    <a:bodyPr/>
                    <a:lstStyle/>
                    <a:p>
                      <a:pPr algn="just"/>
                      <a:r>
                        <a:rPr lang="en-IN" sz="1000" b="1" kern="1200" dirty="0">
                          <a:solidFill>
                            <a:schemeClr val="tx1"/>
                          </a:solidFill>
                          <a:effectLst/>
                          <a:latin typeface="Verdana" panose="020B0604030504040204" charset="0"/>
                          <a:ea typeface="Verdana" panose="020B0604030504040204" charset="0"/>
                          <a:cs typeface="Verdana" panose="020B0604030504040204" charset="0"/>
                        </a:rPr>
                        <a:t>Swathi Sambangi  and Lakshmeeswari Gondi </a:t>
                      </a:r>
                      <a:endParaRPr lang="en-IN" sz="1000" b="1" kern="1200" dirty="0">
                        <a:solidFill>
                          <a:schemeClr val="tx1"/>
                        </a:solidFill>
                        <a:effectLst/>
                        <a:latin typeface="Verdana" panose="020B0604030504040204" charset="0"/>
                        <a:ea typeface="Verdana" panose="020B0604030504040204" charset="0"/>
                        <a:cs typeface="Verdana" panose="020B0604030504040204" charset="0"/>
                      </a:endParaRPr>
                    </a:p>
                  </a:txBody>
                  <a:tcPr>
                    <a:solidFill>
                      <a:schemeClr val="bg2"/>
                    </a:solidFill>
                  </a:tcPr>
                </a:tc>
                <a:tc>
                  <a:txBody>
                    <a:bodyPr/>
                    <a:lstStyle/>
                    <a:p>
                      <a:pPr algn="just"/>
                      <a:r>
                        <a:rPr lang="en-IN" sz="1000" b="1" u="sng" kern="1200" dirty="0">
                          <a:solidFill>
                            <a:schemeClr val="tx1"/>
                          </a:solidFill>
                          <a:effectLst/>
                          <a:latin typeface="Verdana" panose="020B0604030504040204" charset="0"/>
                          <a:ea typeface="Verdana" panose="020B0604030504040204" charset="0"/>
                          <a:cs typeface="Verdana" panose="020B0604030504040204" charset="0"/>
                        </a:rPr>
                        <a:t>develop a machine learning model using regression analysis to detect DDoS and Bot attacks</a:t>
                      </a:r>
                      <a:r>
                        <a:rPr lang="en-IN" sz="1000" b="1" kern="1200" dirty="0">
                          <a:solidFill>
                            <a:schemeClr val="tx1"/>
                          </a:solidFill>
                          <a:effectLst/>
                          <a:latin typeface="Verdana" panose="020B0604030504040204" charset="0"/>
                          <a:ea typeface="Verdana" panose="020B0604030504040204" charset="0"/>
                          <a:cs typeface="Verdana" panose="020B0604030504040204" charset="0"/>
                        </a:rPr>
                        <a:t> in a Cloud environment based on the CICIDS 2017 dataset and Friday afternoon traffic </a:t>
                      </a:r>
                      <a:r>
                        <a:rPr lang="en-IN" sz="1000" b="1" kern="1200" dirty="0">
                          <a:solidFill>
                            <a:schemeClr val="tx2"/>
                          </a:solidFill>
                          <a:effectLst/>
                          <a:latin typeface="Verdana" panose="020B0604030504040204" charset="0"/>
                          <a:ea typeface="Verdana" panose="020B0604030504040204" charset="0"/>
                          <a:cs typeface="Verdana" panose="020B0604030504040204" charset="0"/>
                        </a:rPr>
                        <a:t>logs.</a:t>
                      </a:r>
                      <a:endParaRPr lang="en-IN" sz="1000" b="1" kern="1200" dirty="0">
                        <a:solidFill>
                          <a:schemeClr val="tx2"/>
                        </a:solidFill>
                        <a:effectLst/>
                        <a:latin typeface="Verdana" panose="020B0604030504040204" charset="0"/>
                        <a:ea typeface="Verdana" panose="020B0604030504040204" charset="0"/>
                        <a:cs typeface="Verdana" panose="020B0604030504040204" charset="0"/>
                      </a:endParaRPr>
                    </a:p>
                  </a:txBody>
                  <a:tcPr>
                    <a:solidFill>
                      <a:schemeClr val="bg2"/>
                    </a:solidFill>
                  </a:tcPr>
                </a:tc>
                <a:tc>
                  <a:txBody>
                    <a:bodyPr/>
                    <a:lstStyle/>
                    <a:p>
                      <a:pPr algn="just"/>
                      <a:r>
                        <a:rPr lang="en-IN" sz="1000" b="1" kern="1200" dirty="0">
                          <a:solidFill>
                            <a:schemeClr val="tx2"/>
                          </a:solidFill>
                          <a:effectLst/>
                          <a:latin typeface="Verdana" panose="020B0604030504040204" charset="0"/>
                          <a:ea typeface="Verdana" panose="020B0604030504040204" charset="0"/>
                          <a:cs typeface="Verdana" panose="020B0604030504040204" charset="0"/>
                        </a:rPr>
                        <a:t> It involves applying </a:t>
                      </a:r>
                      <a:r>
                        <a:rPr lang="en-IN" sz="1000" b="1" u="sng" kern="1200" dirty="0">
                          <a:solidFill>
                            <a:schemeClr val="tx2"/>
                          </a:solidFill>
                          <a:effectLst/>
                          <a:latin typeface="Verdana" panose="020B0604030504040204" charset="0"/>
                          <a:ea typeface="Verdana" panose="020B0604030504040204" charset="0"/>
                          <a:cs typeface="Verdana" panose="020B0604030504040204" charset="0"/>
                        </a:rPr>
                        <a:t>multiple regression </a:t>
                      </a:r>
                      <a:r>
                        <a:rPr lang="en-IN" sz="1000" b="1" kern="1200" dirty="0">
                          <a:solidFill>
                            <a:schemeClr val="tx2"/>
                          </a:solidFill>
                          <a:effectLst/>
                          <a:latin typeface="Verdana" panose="020B0604030504040204" charset="0"/>
                          <a:ea typeface="Verdana" panose="020B0604030504040204" charset="0"/>
                          <a:cs typeface="Verdana" panose="020B0604030504040204" charset="0"/>
                        </a:rPr>
                        <a:t>analysis on the CICIDS 2017 benchmark dataset, focusing on Friday afternoon traffic logs, to detect DDoS and Bot attacks in a Cloud environment.</a:t>
                      </a:r>
                      <a:endParaRPr lang="en-IN" sz="1000" b="1" kern="1200" dirty="0">
                        <a:solidFill>
                          <a:schemeClr val="tx2"/>
                        </a:solidFill>
                        <a:effectLst/>
                        <a:latin typeface="Verdana" panose="020B0604030504040204" charset="0"/>
                        <a:ea typeface="Verdana" panose="020B0604030504040204" charset="0"/>
                        <a:cs typeface="Verdana" panose="020B0604030504040204" charset="0"/>
                      </a:endParaRPr>
                    </a:p>
                  </a:txBody>
                  <a:tcPr>
                    <a:solidFill>
                      <a:schemeClr val="bg2"/>
                    </a:solidFill>
                  </a:tcPr>
                </a:tc>
                <a:tc>
                  <a:txBody>
                    <a:bodyPr/>
                    <a:lstStyle/>
                    <a:p>
                      <a:pPr algn="just"/>
                      <a:r>
                        <a:rPr lang="en-US" sz="1000" b="1" dirty="0">
                          <a:solidFill>
                            <a:schemeClr val="tx1"/>
                          </a:solidFill>
                          <a:latin typeface="Verdana" panose="020B0604030504040204" charset="0"/>
                          <a:cs typeface="Verdana" panose="020B0604030504040204" charset="0"/>
                        </a:rPr>
                        <a:t>The proposed approach has a </a:t>
                      </a:r>
                      <a:r>
                        <a:rPr lang="en-US" sz="1000" b="1" u="sng" dirty="0">
                          <a:solidFill>
                            <a:schemeClr val="tx1"/>
                          </a:solidFill>
                          <a:latin typeface="Verdana" panose="020B0604030504040204" charset="0"/>
                          <a:cs typeface="Verdana" panose="020B0604030504040204" charset="0"/>
                        </a:rPr>
                        <a:t>moderate accuracy of 73.79%, which is lower than advanced models like deep learning,</a:t>
                      </a:r>
                      <a:r>
                        <a:rPr lang="en-US" sz="1000" b="1" dirty="0">
                          <a:solidFill>
                            <a:schemeClr val="tx1"/>
                          </a:solidFill>
                          <a:latin typeface="Verdana" panose="020B0604030504040204" charset="0"/>
                          <a:cs typeface="Verdana" panose="020B0604030504040204" charset="0"/>
                        </a:rPr>
                        <a:t> and its reliance on feature reduction may hinder scalability for larger datasets or real-time applications.</a:t>
                      </a:r>
                      <a:endParaRPr lang="en-US" sz="1000" b="1" dirty="0">
                        <a:solidFill>
                          <a:schemeClr val="tx1"/>
                        </a:solidFill>
                        <a:latin typeface="Verdana" panose="020B0604030504040204" charset="0"/>
                        <a:cs typeface="Verdana" panose="020B0604030504040204" charset="0"/>
                      </a:endParaRPr>
                    </a:p>
                    <a:p>
                      <a:pPr algn="just"/>
                      <a:endParaRPr lang="en-US" sz="1000" b="1" dirty="0">
                        <a:solidFill>
                          <a:schemeClr val="tx1"/>
                        </a:solidFill>
                        <a:latin typeface="Verdana" panose="020B0604030504040204" charset="0"/>
                        <a:cs typeface="Verdana" panose="020B0604030504040204" charset="0"/>
                      </a:endParaRPr>
                    </a:p>
                    <a:p>
                      <a:pPr algn="just"/>
                      <a:r>
                        <a:rPr lang="en-IN" altLang="en-US" sz="1000" b="1" dirty="0">
                          <a:solidFill>
                            <a:schemeClr val="tx1"/>
                          </a:solidFill>
                          <a:latin typeface="Verdana" panose="020B0604030504040204" charset="0"/>
                          <a:cs typeface="Verdana" panose="020B0604030504040204" charset="0"/>
                        </a:rPr>
                        <a:t>we are implimenting 5 algoritms which gives better accuracy </a:t>
                      </a:r>
                      <a:endParaRPr lang="en-IN" altLang="en-US" sz="1000" b="1" dirty="0">
                        <a:solidFill>
                          <a:schemeClr val="tx1"/>
                        </a:solidFill>
                        <a:latin typeface="Verdana" panose="020B0604030504040204" charset="0"/>
                        <a:cs typeface="Verdana" panose="020B0604030504040204" charset="0"/>
                      </a:endParaRPr>
                    </a:p>
                  </a:txBody>
                  <a:tcPr>
                    <a:solidFill>
                      <a:schemeClr val="bg2"/>
                    </a:solidFill>
                  </a:tcPr>
                </a:tc>
              </a:tr>
              <a:tr h="2586355">
                <a:tc>
                  <a:txBody>
                    <a:bodyPr/>
                    <a:lstStyle/>
                    <a:p>
                      <a:pPr algn="just"/>
                      <a:r>
                        <a:rPr lang="en-IN" sz="1000" b="1" kern="1200" dirty="0">
                          <a:solidFill>
                            <a:schemeClr val="tx2"/>
                          </a:solidFill>
                          <a:effectLst/>
                          <a:latin typeface="Verdana" panose="020B0604030504040204" charset="0"/>
                          <a:ea typeface="Verdana" panose="020B0604030504040204" charset="0"/>
                          <a:cs typeface="Verdana" panose="020B0604030504040204" charset="0"/>
                        </a:rPr>
                        <a:t>An efficient and robust deep learning based network anomaly detection against distributed denial of service attacks</a:t>
                      </a:r>
                      <a:endParaRPr lang="en-IN" sz="1000" b="1" kern="1200" dirty="0">
                        <a:solidFill>
                          <a:schemeClr val="tx2"/>
                        </a:solidFill>
                        <a:effectLst/>
                        <a:latin typeface="Verdana" panose="020B0604030504040204" charset="0"/>
                        <a:ea typeface="Verdana" panose="020B0604030504040204" charset="0"/>
                        <a:cs typeface="Verdana" panose="020B0604030504040204" charset="0"/>
                      </a:endParaRPr>
                    </a:p>
                  </a:txBody>
                  <a:tcPr/>
                </a:tc>
                <a:tc>
                  <a:txBody>
                    <a:bodyPr/>
                    <a:lstStyle/>
                    <a:p>
                      <a:pPr algn="just"/>
                      <a:r>
                        <a:rPr lang="en-IN" sz="1000" b="1" kern="1200" dirty="0">
                          <a:solidFill>
                            <a:schemeClr val="dk1"/>
                          </a:solidFill>
                          <a:effectLst/>
                          <a:latin typeface="Verdana" panose="020B0604030504040204" charset="0"/>
                          <a:ea typeface="Verdana" panose="020B0604030504040204" charset="0"/>
                          <a:cs typeface="Verdana" panose="020B0604030504040204" charset="0"/>
                        </a:rPr>
                        <a:t>Ömer KASIM</a:t>
                      </a:r>
                      <a:endParaRPr lang="en-IN" sz="1000" b="1" kern="1200" dirty="0">
                        <a:solidFill>
                          <a:schemeClr val="dk1"/>
                        </a:solidFill>
                        <a:effectLst/>
                        <a:latin typeface="Verdana" panose="020B0604030504040204" charset="0"/>
                        <a:ea typeface="Verdana" panose="020B0604030504040204" charset="0"/>
                        <a:cs typeface="Verdana" panose="020B0604030504040204" charset="0"/>
                      </a:endParaRPr>
                    </a:p>
                  </a:txBody>
                  <a:tcPr/>
                </a:tc>
                <a:tc>
                  <a:txBody>
                    <a:bodyPr/>
                    <a:lstStyle/>
                    <a:p>
                      <a:pPr algn="just"/>
                      <a:r>
                        <a:rPr lang="en-IN" sz="1000" b="1" kern="1200" dirty="0">
                          <a:solidFill>
                            <a:schemeClr val="dk1"/>
                          </a:solidFill>
                          <a:effectLst/>
                          <a:latin typeface="Verdana" panose="020B0604030504040204" charset="0"/>
                          <a:ea typeface="Verdana" panose="020B0604030504040204" charset="0"/>
                          <a:cs typeface="Verdana" panose="020B0604030504040204" charset="0"/>
                        </a:rPr>
                        <a:t>an AE-SVM model for detecting DDoS attacks by </a:t>
                      </a:r>
                      <a:r>
                        <a:rPr lang="en-IN" sz="1000" b="1" u="sng" kern="1200" dirty="0">
                          <a:solidFill>
                            <a:schemeClr val="dk1"/>
                          </a:solidFill>
                          <a:effectLst/>
                          <a:latin typeface="Verdana" panose="020B0604030504040204" charset="0"/>
                          <a:ea typeface="Verdana" panose="020B0604030504040204" charset="0"/>
                          <a:cs typeface="Verdana" panose="020B0604030504040204" charset="0"/>
                        </a:rPr>
                        <a:t>reducing false positives and improving classification performance </a:t>
                      </a:r>
                      <a:r>
                        <a:rPr lang="en-IN" sz="1000" b="1" kern="1200" dirty="0">
                          <a:solidFill>
                            <a:schemeClr val="dk1"/>
                          </a:solidFill>
                          <a:effectLst/>
                          <a:latin typeface="Verdana" panose="020B0604030504040204" charset="0"/>
                          <a:ea typeface="Verdana" panose="020B0604030504040204" charset="0"/>
                          <a:cs typeface="Verdana" panose="020B0604030504040204" charset="0"/>
                        </a:rPr>
                        <a:t>using normalized network data and feature leaning. </a:t>
                      </a:r>
                      <a:endParaRPr lang="en-IN" sz="1000" b="1" kern="1200" dirty="0">
                        <a:solidFill>
                          <a:schemeClr val="dk1"/>
                        </a:solidFill>
                        <a:effectLst/>
                        <a:latin typeface="Verdana" panose="020B0604030504040204" charset="0"/>
                        <a:ea typeface="Verdana" panose="020B0604030504040204" charset="0"/>
                        <a:cs typeface="Verdana" panose="020B0604030504040204" charset="0"/>
                      </a:endParaRPr>
                    </a:p>
                  </a:txBody>
                  <a:tcPr/>
                </a:tc>
                <a:tc>
                  <a:txBody>
                    <a:bodyPr/>
                    <a:lstStyle/>
                    <a:p>
                      <a:pPr algn="just"/>
                      <a:r>
                        <a:rPr lang="en-IN" sz="1000" b="1" u="sng" kern="1200" dirty="0">
                          <a:solidFill>
                            <a:schemeClr val="dk1"/>
                          </a:solidFill>
                          <a:effectLst/>
                          <a:latin typeface="Verdana" panose="020B0604030504040204" charset="0"/>
                          <a:ea typeface="Verdana" panose="020B0604030504040204" charset="0"/>
                          <a:cs typeface="Verdana" panose="020B0604030504040204" charset="0"/>
                        </a:rPr>
                        <a:t>It uses an autoencoder for feature learning and dimensionality reduction,</a:t>
                      </a:r>
                      <a:r>
                        <a:rPr lang="en-IN" sz="1000" b="1" kern="1200" dirty="0">
                          <a:solidFill>
                            <a:schemeClr val="dk1"/>
                          </a:solidFill>
                          <a:effectLst/>
                          <a:latin typeface="Verdana" panose="020B0604030504040204" charset="0"/>
                          <a:ea typeface="Verdana" panose="020B0604030504040204" charset="0"/>
                          <a:cs typeface="Verdana" panose="020B0604030504040204" charset="0"/>
                        </a:rPr>
                        <a:t> </a:t>
                      </a:r>
                      <a:r>
                        <a:rPr lang="en-IN" sz="1000" b="1" u="sng" kern="1200" dirty="0">
                          <a:solidFill>
                            <a:schemeClr val="dk1"/>
                          </a:solidFill>
                          <a:effectLst/>
                          <a:latin typeface="Verdana" panose="020B0604030504040204" charset="0"/>
                          <a:ea typeface="Verdana" panose="020B0604030504040204" charset="0"/>
                          <a:cs typeface="Verdana" panose="020B0604030504040204" charset="0"/>
                        </a:rPr>
                        <a:t>followed by a support vector machine for classifying DDoS attacks</a:t>
                      </a:r>
                      <a:r>
                        <a:rPr lang="en-IN" sz="1000" b="1" kern="1200" dirty="0">
                          <a:solidFill>
                            <a:schemeClr val="dk1"/>
                          </a:solidFill>
                          <a:effectLst/>
                          <a:latin typeface="Verdana" panose="020B0604030504040204" charset="0"/>
                          <a:ea typeface="Verdana" panose="020B0604030504040204" charset="0"/>
                          <a:cs typeface="Verdana" panose="020B0604030504040204" charset="0"/>
                        </a:rPr>
                        <a:t> based on features from the CICIDS dataset and virtually generated traffic</a:t>
                      </a:r>
                      <a:r>
                        <a:rPr lang="en-IN" sz="1000" kern="1200" dirty="0">
                          <a:solidFill>
                            <a:schemeClr val="dk1"/>
                          </a:solidFill>
                          <a:effectLst/>
                          <a:latin typeface="Verdana" panose="020B0604030504040204" charset="0"/>
                          <a:ea typeface="Verdana" panose="020B0604030504040204" charset="0"/>
                          <a:cs typeface="Verdana" panose="020B0604030504040204" charset="0"/>
                        </a:rPr>
                        <a:t>.</a:t>
                      </a:r>
                      <a:endParaRPr lang="en-IN" sz="1000" kern="1200" dirty="0">
                        <a:solidFill>
                          <a:schemeClr val="dk1"/>
                        </a:solidFill>
                        <a:effectLst/>
                        <a:latin typeface="Verdana" panose="020B0604030504040204" charset="0"/>
                        <a:ea typeface="Verdana" panose="020B0604030504040204" charset="0"/>
                        <a:cs typeface="Verdana" panose="020B0604030504040204" charset="0"/>
                      </a:endParaRPr>
                    </a:p>
                  </a:txBody>
                  <a:tcPr/>
                </a:tc>
                <a:tc>
                  <a:txBody>
                    <a:bodyPr/>
                    <a:lstStyle/>
                    <a:p>
                      <a:pPr algn="just"/>
                      <a:r>
                        <a:rPr lang="en-US" sz="1000" b="1" dirty="0">
                          <a:solidFill>
                            <a:schemeClr val="tx1"/>
                          </a:solidFill>
                          <a:latin typeface="Verdana" panose="020B0604030504040204" charset="0"/>
                          <a:cs typeface="Verdana" panose="020B0604030504040204" charset="0"/>
                        </a:rPr>
                        <a:t>Deep learning methods face challenges with computational overhead and may struggle to generalize to novel, unseen DDoS attack patterns.</a:t>
                      </a:r>
                      <a:endParaRPr lang="en-US" sz="1000" b="1" dirty="0">
                        <a:solidFill>
                          <a:schemeClr val="tx1"/>
                        </a:solidFill>
                        <a:latin typeface="Verdana" panose="020B0604030504040204" charset="0"/>
                        <a:cs typeface="Verdana" panose="020B0604030504040204" charset="0"/>
                      </a:endParaRPr>
                    </a:p>
                    <a:p>
                      <a:pPr algn="just"/>
                      <a:endParaRPr lang="en-US" sz="1000" b="1" dirty="0">
                        <a:solidFill>
                          <a:schemeClr val="tx1"/>
                        </a:solidFill>
                        <a:latin typeface="Verdana" panose="020B0604030504040204" charset="0"/>
                        <a:cs typeface="Verdana" panose="020B0604030504040204" charset="0"/>
                      </a:endParaRPr>
                    </a:p>
                    <a:p>
                      <a:pPr algn="just"/>
                      <a:r>
                        <a:rPr lang="en-IN" altLang="en-US" sz="1000" b="1" dirty="0">
                          <a:solidFill>
                            <a:schemeClr val="tx1"/>
                          </a:solidFill>
                          <a:latin typeface="Verdana" panose="020B0604030504040204" charset="0"/>
                          <a:cs typeface="Verdana" panose="020B0604030504040204" charset="0"/>
                        </a:rPr>
                        <a:t>we have used LSTM and Neural Network are better than that</a:t>
                      </a:r>
                      <a:endParaRPr lang="en-IN" altLang="en-US" sz="1000" b="1" dirty="0">
                        <a:solidFill>
                          <a:schemeClr val="tx1"/>
                        </a:solidFill>
                        <a:latin typeface="Verdana" panose="020B0604030504040204" charset="0"/>
                        <a:cs typeface="Verdana" panose="020B0604030504040204" charset="0"/>
                      </a:endParaRPr>
                    </a:p>
                  </a:txBody>
                  <a:tcPr/>
                </a:tc>
              </a:tr>
              <a:tr h="0">
                <a:tc>
                  <a:txBody>
                    <a:bodyPr/>
                    <a:lstStyle/>
                    <a:p>
                      <a:pPr algn="just">
                        <a:buNone/>
                      </a:pPr>
                      <a:endParaRPr lang="en-IN" sz="1000" b="1" kern="1200" dirty="0">
                        <a:solidFill>
                          <a:schemeClr val="tx2"/>
                        </a:solidFill>
                        <a:effectLst/>
                        <a:latin typeface="Verdana" panose="020B0604030504040204" charset="0"/>
                        <a:ea typeface="Verdana" panose="020B0604030504040204" charset="0"/>
                        <a:cs typeface="Verdana" panose="020B0604030504040204" charset="0"/>
                      </a:endParaRPr>
                    </a:p>
                  </a:txBody>
                  <a:tcPr/>
                </a:tc>
                <a:tc>
                  <a:txBody>
                    <a:bodyPr/>
                    <a:lstStyle/>
                    <a:p>
                      <a:pPr algn="just">
                        <a:buNone/>
                      </a:pPr>
                      <a:endParaRPr lang="en-IN" sz="1000" b="1" kern="1200" dirty="0">
                        <a:solidFill>
                          <a:schemeClr val="dk1"/>
                        </a:solidFill>
                        <a:effectLst/>
                        <a:latin typeface="Verdana" panose="020B0604030504040204" charset="0"/>
                        <a:ea typeface="Verdana" panose="020B0604030504040204" charset="0"/>
                        <a:cs typeface="Verdana" panose="020B0604030504040204" charset="0"/>
                      </a:endParaRPr>
                    </a:p>
                  </a:txBody>
                  <a:tcPr/>
                </a:tc>
                <a:tc>
                  <a:txBody>
                    <a:bodyPr/>
                    <a:lstStyle/>
                    <a:p>
                      <a:pPr algn="just">
                        <a:buNone/>
                      </a:pPr>
                      <a:endParaRPr lang="en-IN" sz="1000" b="1" kern="1200" dirty="0">
                        <a:solidFill>
                          <a:schemeClr val="dk1"/>
                        </a:solidFill>
                        <a:effectLst/>
                        <a:latin typeface="Verdana" panose="020B0604030504040204" charset="0"/>
                        <a:ea typeface="Verdana" panose="020B0604030504040204" charset="0"/>
                        <a:cs typeface="Verdana" panose="020B0604030504040204" charset="0"/>
                      </a:endParaRPr>
                    </a:p>
                  </a:txBody>
                  <a:tcPr/>
                </a:tc>
                <a:tc>
                  <a:txBody>
                    <a:bodyPr/>
                    <a:lstStyle/>
                    <a:p>
                      <a:pPr algn="just">
                        <a:buNone/>
                      </a:pPr>
                      <a:endParaRPr lang="en-IN" sz="1000" kern="1200" dirty="0">
                        <a:solidFill>
                          <a:schemeClr val="dk1"/>
                        </a:solidFill>
                        <a:effectLst/>
                        <a:latin typeface="Verdana" panose="020B0604030504040204" charset="0"/>
                        <a:ea typeface="Verdana" panose="020B0604030504040204" charset="0"/>
                        <a:cs typeface="Verdana" panose="020B0604030504040204" charset="0"/>
                      </a:endParaRPr>
                    </a:p>
                  </a:txBody>
                  <a:tcPr/>
                </a:tc>
                <a:tc>
                  <a:txBody>
                    <a:bodyPr/>
                    <a:lstStyle/>
                    <a:p>
                      <a:pPr algn="just">
                        <a:buNone/>
                      </a:pPr>
                      <a:endParaRPr lang="en-US" sz="1000" b="1" dirty="0">
                        <a:solidFill>
                          <a:schemeClr val="tx1"/>
                        </a:solidFill>
                        <a:latin typeface="Verdana" panose="020B0604030504040204" charset="0"/>
                        <a:cs typeface="Verdana" panose="020B0604030504040204" charset="0"/>
                      </a:endParaRPr>
                    </a:p>
                    <a:p>
                      <a:pPr algn="just">
                        <a:buNone/>
                      </a:pPr>
                      <a:endParaRPr lang="en-US" sz="1000" b="1" dirty="0">
                        <a:solidFill>
                          <a:schemeClr val="tx1"/>
                        </a:solidFill>
                        <a:latin typeface="Verdana" panose="020B0604030504040204" charset="0"/>
                        <a:cs typeface="Verdana" panose="020B0604030504040204" charset="0"/>
                      </a:endParaRPr>
                    </a:p>
                    <a:p>
                      <a:pPr algn="just">
                        <a:buNone/>
                      </a:pPr>
                      <a:endParaRPr lang="en-US" sz="1000" b="1" dirty="0">
                        <a:solidFill>
                          <a:schemeClr val="tx1"/>
                        </a:solidFill>
                        <a:latin typeface="Verdana" panose="020B0604030504040204" charset="0"/>
                        <a:cs typeface="Verdana" panose="020B0604030504040204" charset="0"/>
                      </a:endParaRPr>
                    </a:p>
                  </a:txBody>
                  <a:tcPr/>
                </a:tc>
              </a:tr>
            </a:tbl>
          </a:graphicData>
        </a:graphic>
      </p:graphicFrame>
      <p:sp>
        <p:nvSpPr>
          <p:cNvPr id="2" name="Text Box 1"/>
          <p:cNvSpPr txBox="1"/>
          <p:nvPr/>
        </p:nvSpPr>
        <p:spPr>
          <a:xfrm>
            <a:off x="1590040" y="414020"/>
            <a:ext cx="9879965" cy="583565"/>
          </a:xfrm>
          <a:prstGeom prst="rect">
            <a:avLst/>
          </a:prstGeom>
          <a:noFill/>
        </p:spPr>
        <p:txBody>
          <a:bodyPr wrap="square" rtlCol="0">
            <a:spAutoFit/>
          </a:bodyPr>
          <a:lstStyle/>
          <a:p>
            <a:r>
              <a:rPr lang="en-IN" altLang="en-US" sz="3200" b="1" dirty="0">
                <a:solidFill>
                  <a:schemeClr val="bg1"/>
                </a:solidFill>
                <a:latin typeface="Verdana" panose="020B0604030504040204" charset="0"/>
                <a:cs typeface="Verdana" panose="020B0604030504040204" charset="0"/>
              </a:rPr>
              <a:t>Literature Survey phase 2</a:t>
            </a:r>
            <a:endParaRPr lang="en-IN" altLang="en-US" sz="3200" b="1" dirty="0">
              <a:solidFill>
                <a:schemeClr val="bg1"/>
              </a:solidFill>
              <a:latin typeface="Verdana" panose="020B0604030504040204" charset="0"/>
              <a:cs typeface="Verdana" panose="020B06040305040402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691147" y="324464"/>
          <a:ext cx="10255042" cy="6125498"/>
        </p:xfrm>
        <a:graphic>
          <a:graphicData uri="http://schemas.openxmlformats.org/drawingml/2006/table">
            <a:tbl>
              <a:tblPr firstRow="1" bandRow="1">
                <a:tableStyleId>{5C22544A-7EE6-4342-B048-85BDC9FD1C3A}</a:tableStyleId>
              </a:tblPr>
              <a:tblGrid>
                <a:gridCol w="2040273"/>
                <a:gridCol w="2061745"/>
                <a:gridCol w="2051008"/>
                <a:gridCol w="2051008"/>
                <a:gridCol w="2051008"/>
              </a:tblGrid>
              <a:tr h="3062749">
                <a:tc>
                  <a:txBody>
                    <a:bodyPr/>
                    <a:lstStyle/>
                    <a:p>
                      <a:pPr algn="just"/>
                      <a:r>
                        <a:rPr lang="en-IN" sz="1000" b="1" kern="1200" dirty="0">
                          <a:solidFill>
                            <a:schemeClr val="tx1"/>
                          </a:solidFill>
                          <a:effectLst/>
                          <a:latin typeface="Verdana" panose="020B0604030504040204" charset="0"/>
                          <a:ea typeface="+mn-ea"/>
                          <a:cs typeface="Verdana" panose="020B0604030504040204" charset="0"/>
                        </a:rPr>
                        <a:t>SDN-Based Architecture for Transport and Application Layer DDoS Attack Detection by Using Machine and Deep Learning</a:t>
                      </a:r>
                      <a:endParaRPr lang="en-IN" sz="1000" b="1" kern="1200" dirty="0">
                        <a:solidFill>
                          <a:schemeClr val="tx1"/>
                        </a:solidFill>
                        <a:effectLst/>
                        <a:latin typeface="Verdana" panose="020B0604030504040204" charset="0"/>
                        <a:ea typeface="+mn-ea"/>
                        <a:cs typeface="Verdana" panose="020B0604030504040204" charset="0"/>
                      </a:endParaRPr>
                    </a:p>
                  </a:txBody>
                  <a:tcPr>
                    <a:solidFill>
                      <a:schemeClr val="bg2"/>
                    </a:solidFill>
                  </a:tcPr>
                </a:tc>
                <a:tc>
                  <a:txBody>
                    <a:bodyPr/>
                    <a:lstStyle/>
                    <a:p>
                      <a:pPr algn="just"/>
                      <a:r>
                        <a:rPr lang="en-IN" sz="1000" b="1" kern="1200" dirty="0">
                          <a:solidFill>
                            <a:schemeClr val="tx1"/>
                          </a:solidFill>
                          <a:effectLst/>
                          <a:latin typeface="Verdana" panose="020B0604030504040204" charset="0"/>
                          <a:ea typeface="+mn-ea"/>
                          <a:cs typeface="Verdana" panose="020B0604030504040204" charset="0"/>
                        </a:rPr>
                        <a:t>NOE MARCELO YUNGAICELA-NAULA , CESAR VARGAS-ROSALES</a:t>
                      </a:r>
                      <a:endParaRPr lang="en-IN" sz="1000" b="1" kern="1200" dirty="0">
                        <a:solidFill>
                          <a:schemeClr val="tx1"/>
                        </a:solidFill>
                        <a:effectLst/>
                        <a:latin typeface="Verdana" panose="020B0604030504040204" charset="0"/>
                        <a:ea typeface="+mn-ea"/>
                        <a:cs typeface="Verdana" panose="020B0604030504040204" charset="0"/>
                      </a:endParaRPr>
                    </a:p>
                  </a:txBody>
                  <a:tcPr>
                    <a:solidFill>
                      <a:schemeClr val="bg2"/>
                    </a:solidFill>
                  </a:tcPr>
                </a:tc>
                <a:tc>
                  <a:txBody>
                    <a:bodyPr/>
                    <a:lstStyle/>
                    <a:p>
                      <a:pPr algn="just"/>
                      <a:r>
                        <a:rPr lang="en-IN" sz="1000" b="1" u="sng" kern="1200" dirty="0">
                          <a:solidFill>
                            <a:schemeClr val="tx1"/>
                          </a:solidFill>
                          <a:effectLst/>
                          <a:latin typeface="Verdana" panose="020B0604030504040204" charset="0"/>
                          <a:ea typeface="+mn-ea"/>
                          <a:cs typeface="Verdana" panose="020B0604030504040204" charset="0"/>
                        </a:rPr>
                        <a:t>implement a modular, SDN-based architecture for detecting transport and application layer DDoS attacks</a:t>
                      </a:r>
                      <a:r>
                        <a:rPr lang="en-IN" sz="1000" b="1" kern="1200" dirty="0">
                          <a:solidFill>
                            <a:schemeClr val="tx1"/>
                          </a:solidFill>
                          <a:effectLst/>
                          <a:latin typeface="Verdana" panose="020B0604030504040204" charset="0"/>
                          <a:ea typeface="+mn-ea"/>
                          <a:cs typeface="Verdana" panose="020B0604030504040204" charset="0"/>
                        </a:rPr>
                        <a:t> using multiple ML/DL models, achieving high accuracy with up-to-date security datasets.</a:t>
                      </a:r>
                      <a:endParaRPr lang="en-IN" sz="1000" b="1" kern="1200" dirty="0">
                        <a:solidFill>
                          <a:schemeClr val="tx1"/>
                        </a:solidFill>
                        <a:effectLst/>
                        <a:latin typeface="Verdana" panose="020B0604030504040204" charset="0"/>
                        <a:ea typeface="+mn-ea"/>
                        <a:cs typeface="Verdana" panose="020B0604030504040204" charset="0"/>
                      </a:endParaRPr>
                    </a:p>
                  </a:txBody>
                  <a:tcPr>
                    <a:solidFill>
                      <a:schemeClr val="bg2"/>
                    </a:solidFill>
                  </a:tcPr>
                </a:tc>
                <a:tc>
                  <a:txBody>
                    <a:bodyPr/>
                    <a:lstStyle/>
                    <a:p>
                      <a:pPr marL="0" marR="0" lvl="0" indent="0" algn="just" defTabSz="457200" rtl="0" eaLnBrk="1" fontAlgn="auto" latinLnBrk="0" hangingPunct="1">
                        <a:lnSpc>
                          <a:spcPct val="100000"/>
                        </a:lnSpc>
                        <a:spcBef>
                          <a:spcPts val="0"/>
                        </a:spcBef>
                        <a:spcAft>
                          <a:spcPts val="0"/>
                        </a:spcAft>
                        <a:buClrTx/>
                        <a:buSzTx/>
                        <a:buFontTx/>
                        <a:buNone/>
                        <a:defRPr/>
                      </a:pPr>
                      <a:r>
                        <a:rPr lang="en-IN" sz="1000" b="1" kern="1200" dirty="0">
                          <a:solidFill>
                            <a:schemeClr val="tx1"/>
                          </a:solidFill>
                          <a:effectLst/>
                          <a:latin typeface="Verdana" panose="020B0604030504040204" charset="0"/>
                          <a:ea typeface="+mn-ea"/>
                          <a:cs typeface="Verdana" panose="020B0604030504040204" charset="0"/>
                        </a:rPr>
                        <a:t>u</a:t>
                      </a:r>
                      <a:r>
                        <a:rPr lang="en-IN" sz="1000" b="1" u="sng" kern="1200" dirty="0">
                          <a:solidFill>
                            <a:schemeClr val="tx1"/>
                          </a:solidFill>
                          <a:effectLst/>
                          <a:latin typeface="Verdana" panose="020B0604030504040204" charset="0"/>
                          <a:ea typeface="+mn-ea"/>
                          <a:cs typeface="Verdana" panose="020B0604030504040204" charset="0"/>
                        </a:rPr>
                        <a:t>tilizes a modular SDN-based architecture combined with multiple ML/DL models to detect transport and application layer DDoS attacks</a:t>
                      </a:r>
                      <a:r>
                        <a:rPr lang="en-IN" sz="1000" b="1" kern="1200" dirty="0">
                          <a:solidFill>
                            <a:schemeClr val="tx1"/>
                          </a:solidFill>
                          <a:effectLst/>
                          <a:latin typeface="Verdana" panose="020B0604030504040204" charset="0"/>
                          <a:ea typeface="+mn-ea"/>
                          <a:cs typeface="Verdana" panose="020B0604030504040204" charset="0"/>
                        </a:rPr>
                        <a:t>, tested on CICDoS2017 and CICDDoS2019 datasets in a simulated Mininet-ONOS environment.</a:t>
                      </a:r>
                      <a:endParaRPr lang="en-IN" sz="1000" b="1" kern="1200" dirty="0">
                        <a:solidFill>
                          <a:schemeClr val="tx1"/>
                        </a:solidFill>
                        <a:effectLst/>
                        <a:latin typeface="Verdana" panose="020B0604030504040204" charset="0"/>
                        <a:ea typeface="+mn-ea"/>
                        <a:cs typeface="Verdana" panose="020B0604030504040204" charset="0"/>
                      </a:endParaRPr>
                    </a:p>
                    <a:p>
                      <a:endParaRPr lang="en-IN" sz="1000" b="1" kern="1200" dirty="0">
                        <a:solidFill>
                          <a:schemeClr val="tx1"/>
                        </a:solidFill>
                        <a:effectLst/>
                        <a:latin typeface="Verdana" panose="020B0604030504040204" charset="0"/>
                        <a:ea typeface="+mn-ea"/>
                        <a:cs typeface="Verdana" panose="020B0604030504040204" charset="0"/>
                      </a:endParaRPr>
                    </a:p>
                  </a:txBody>
                  <a:tcPr>
                    <a:solidFill>
                      <a:schemeClr val="bg2"/>
                    </a:solidFill>
                  </a:tcPr>
                </a:tc>
                <a:tc>
                  <a:txBody>
                    <a:bodyPr/>
                    <a:lstStyle/>
                    <a:p>
                      <a:pPr algn="just"/>
                      <a:r>
                        <a:rPr lang="en-US" sz="1000" dirty="0">
                          <a:solidFill>
                            <a:schemeClr val="tx1"/>
                          </a:solidFill>
                          <a:latin typeface="Verdana" panose="020B0604030504040204" charset="0"/>
                          <a:cs typeface="Verdana" panose="020B0604030504040204" charset="0"/>
                        </a:rPr>
                        <a:t>Existing studies often </a:t>
                      </a:r>
                      <a:r>
                        <a:rPr lang="en-US" sz="1000" u="sng" dirty="0">
                          <a:solidFill>
                            <a:schemeClr val="tx1"/>
                          </a:solidFill>
                          <a:latin typeface="Verdana" panose="020B0604030504040204" charset="0"/>
                          <a:cs typeface="Verdana" panose="020B0604030504040204" charset="0"/>
                        </a:rPr>
                        <a:t>use outdated datasets</a:t>
                      </a:r>
                      <a:r>
                        <a:rPr lang="en-US" sz="1000" dirty="0">
                          <a:solidFill>
                            <a:schemeClr val="tx1"/>
                          </a:solidFill>
                          <a:latin typeface="Verdana" panose="020B0604030504040204" charset="0"/>
                          <a:cs typeface="Verdana" panose="020B0604030504040204" charset="0"/>
                        </a:rPr>
                        <a:t> and lack real-world deployment assessments, limiting their effectiveness.</a:t>
                      </a:r>
                      <a:endParaRPr lang="en-US" sz="1000" dirty="0">
                        <a:solidFill>
                          <a:schemeClr val="tx1"/>
                        </a:solidFill>
                        <a:latin typeface="Verdana" panose="020B0604030504040204" charset="0"/>
                        <a:cs typeface="Verdana" panose="020B0604030504040204" charset="0"/>
                      </a:endParaRPr>
                    </a:p>
                    <a:p>
                      <a:pPr algn="just"/>
                      <a:endParaRPr lang="en-US" sz="1000" dirty="0">
                        <a:solidFill>
                          <a:schemeClr val="tx1"/>
                        </a:solidFill>
                        <a:latin typeface="Verdana" panose="020B0604030504040204" charset="0"/>
                        <a:cs typeface="Verdana" panose="020B0604030504040204" charset="0"/>
                      </a:endParaRPr>
                    </a:p>
                    <a:p>
                      <a:pPr algn="just"/>
                      <a:r>
                        <a:rPr lang="en-IN" altLang="en-US" sz="1000" dirty="0">
                          <a:solidFill>
                            <a:schemeClr val="tx1"/>
                          </a:solidFill>
                          <a:latin typeface="Verdana" panose="020B0604030504040204" charset="0"/>
                          <a:cs typeface="Verdana" panose="020B0604030504040204" charset="0"/>
                        </a:rPr>
                        <a:t>we will be generating realistic datasets </a:t>
                      </a:r>
                      <a:endParaRPr lang="en-IN" altLang="en-US" sz="1000" dirty="0">
                        <a:solidFill>
                          <a:schemeClr val="tx1"/>
                        </a:solidFill>
                        <a:latin typeface="Verdana" panose="020B0604030504040204" charset="0"/>
                        <a:cs typeface="Verdana" panose="020B0604030504040204" charset="0"/>
                      </a:endParaRPr>
                    </a:p>
                  </a:txBody>
                  <a:tcPr>
                    <a:solidFill>
                      <a:schemeClr val="bg2"/>
                    </a:solidFill>
                  </a:tcPr>
                </a:tc>
              </a:tr>
              <a:tr h="3062749">
                <a:tc>
                  <a:txBody>
                    <a:bodyPr/>
                    <a:lstStyle/>
                    <a:p>
                      <a:pPr algn="just"/>
                      <a:r>
                        <a:rPr lang="en-IN" sz="1000" b="1" kern="1200" dirty="0">
                          <a:solidFill>
                            <a:schemeClr val="dk1"/>
                          </a:solidFill>
                          <a:effectLst/>
                          <a:latin typeface="Verdana" panose="020B0604030504040204" charset="0"/>
                          <a:ea typeface="Verdana" panose="020B0604030504040204" charset="0"/>
                          <a:cs typeface="Verdana" panose="020B0604030504040204" charset="0"/>
                        </a:rPr>
                        <a:t>Towards a machine learning-based framework for DDOS attack detection in software-defined IoT (SD-IoT) networks</a:t>
                      </a:r>
                      <a:endParaRPr lang="en-IN" sz="1000" b="1" kern="1200" dirty="0">
                        <a:solidFill>
                          <a:schemeClr val="dk1"/>
                        </a:solidFill>
                        <a:effectLst/>
                        <a:latin typeface="Verdana" panose="020B0604030504040204" charset="0"/>
                        <a:ea typeface="Verdana" panose="020B0604030504040204" charset="0"/>
                        <a:cs typeface="Verdana" panose="020B0604030504040204" charset="0"/>
                      </a:endParaRPr>
                    </a:p>
                  </a:txBody>
                  <a:tcPr/>
                </a:tc>
                <a:tc>
                  <a:txBody>
                    <a:bodyPr/>
                    <a:lstStyle/>
                    <a:p>
                      <a:pPr algn="just"/>
                      <a:r>
                        <a:rPr lang="en-IN" sz="1000" b="1" kern="1200" dirty="0">
                          <a:solidFill>
                            <a:schemeClr val="dk1"/>
                          </a:solidFill>
                          <a:effectLst/>
                          <a:latin typeface="Verdana" panose="020B0604030504040204" charset="0"/>
                          <a:ea typeface="Verdana" panose="020B0604030504040204" charset="0"/>
                          <a:cs typeface="Verdana" panose="020B0604030504040204" charset="0"/>
                        </a:rPr>
                        <a:t>Jalal Bhayo a, Syed Attique Shah b</a:t>
                      </a:r>
                      <a:endParaRPr lang="en-IN" sz="1000" b="1" kern="1200" dirty="0">
                        <a:solidFill>
                          <a:schemeClr val="dk1"/>
                        </a:solidFill>
                        <a:effectLst/>
                        <a:latin typeface="Verdana" panose="020B0604030504040204" charset="0"/>
                        <a:ea typeface="Verdana" panose="020B0604030504040204" charset="0"/>
                        <a:cs typeface="Verdana" panose="020B0604030504040204" charset="0"/>
                      </a:endParaRPr>
                    </a:p>
                  </a:txBody>
                  <a:tcPr/>
                </a:tc>
                <a:tc>
                  <a:txBody>
                    <a:bodyPr/>
                    <a:lstStyle/>
                    <a:p>
                      <a:pPr algn="just"/>
                      <a:r>
                        <a:rPr lang="en-IN" sz="1000" b="1" u="sng" kern="1200" dirty="0">
                          <a:solidFill>
                            <a:schemeClr val="dk1"/>
                          </a:solidFill>
                          <a:effectLst/>
                          <a:latin typeface="Verdana" panose="020B0604030504040204" charset="0"/>
                          <a:ea typeface="Verdana" panose="020B0604030504040204" charset="0"/>
                          <a:cs typeface="Verdana" panose="020B0604030504040204" charset="0"/>
                        </a:rPr>
                        <a:t>develop a machine learning-based framework for detecting DDoS attacks</a:t>
                      </a:r>
                      <a:r>
                        <a:rPr lang="en-IN" sz="1000" b="1" kern="1200" dirty="0">
                          <a:solidFill>
                            <a:schemeClr val="dk1"/>
                          </a:solidFill>
                          <a:effectLst/>
                          <a:latin typeface="Verdana" panose="020B0604030504040204" charset="0"/>
                          <a:ea typeface="Verdana" panose="020B0604030504040204" charset="0"/>
                          <a:cs typeface="Verdana" panose="020B0604030504040204" charset="0"/>
                        </a:rPr>
                        <a:t> in Software-Defined IoT (SD-IoT) networks, enhancing security and mitigating attack risks.</a:t>
                      </a:r>
                      <a:endParaRPr lang="en-IN" sz="1000" b="1" kern="1200" dirty="0">
                        <a:solidFill>
                          <a:schemeClr val="dk1"/>
                        </a:solidFill>
                        <a:effectLst/>
                        <a:latin typeface="Verdana" panose="020B0604030504040204" charset="0"/>
                        <a:ea typeface="Verdana" panose="020B0604030504040204" charset="0"/>
                        <a:cs typeface="Verdana" panose="020B0604030504040204" charset="0"/>
                      </a:endParaRPr>
                    </a:p>
                  </a:txBody>
                  <a:tcPr/>
                </a:tc>
                <a:tc>
                  <a:txBody>
                    <a:bodyPr/>
                    <a:lstStyle/>
                    <a:p>
                      <a:pPr algn="just"/>
                      <a:r>
                        <a:rPr lang="en-IN" sz="1000" b="1" kern="1200" dirty="0">
                          <a:solidFill>
                            <a:schemeClr val="tx2"/>
                          </a:solidFill>
                          <a:effectLst/>
                          <a:latin typeface="Verdana" panose="020B0604030504040204" charset="0"/>
                          <a:ea typeface="Verdana" panose="020B0604030504040204" charset="0"/>
                          <a:cs typeface="Verdana" panose="020B0604030504040204" charset="0"/>
                        </a:rPr>
                        <a:t>integrates a machine learning-based detection module into the SDN-WISE IoT controller, using </a:t>
                      </a:r>
                      <a:r>
                        <a:rPr lang="en-IN" sz="1000" b="1" u="sng" kern="1200" dirty="0">
                          <a:solidFill>
                            <a:schemeClr val="tx2"/>
                          </a:solidFill>
                          <a:effectLst/>
                          <a:latin typeface="Verdana" panose="020B0604030504040204" charset="0"/>
                          <a:ea typeface="Verdana" panose="020B0604030504040204" charset="0"/>
                          <a:cs typeface="Verdana" panose="020B0604030504040204" charset="0"/>
                        </a:rPr>
                        <a:t>Naive Bayes, Decision Tree, and SVM algorithms to classify network traffic and achieve high detection accuracy </a:t>
                      </a:r>
                      <a:r>
                        <a:rPr lang="en-IN" sz="1000" b="1" kern="1200" dirty="0">
                          <a:solidFill>
                            <a:schemeClr val="tx2"/>
                          </a:solidFill>
                          <a:effectLst/>
                          <a:latin typeface="Verdana" panose="020B0604030504040204" charset="0"/>
                          <a:ea typeface="Verdana" panose="020B0604030504040204" charset="0"/>
                          <a:cs typeface="Verdana" panose="020B0604030504040204" charset="0"/>
                        </a:rPr>
                        <a:t>(up to 98.1%).</a:t>
                      </a:r>
                      <a:endParaRPr lang="en-IN" sz="1000" b="1" kern="1200" dirty="0">
                        <a:solidFill>
                          <a:schemeClr val="tx2"/>
                        </a:solidFill>
                        <a:effectLst/>
                        <a:latin typeface="Verdana" panose="020B0604030504040204" charset="0"/>
                        <a:ea typeface="Verdana" panose="020B0604030504040204" charset="0"/>
                        <a:cs typeface="Verdana" panose="020B0604030504040204" charset="0"/>
                      </a:endParaRPr>
                    </a:p>
                  </a:txBody>
                  <a:tcPr/>
                </a:tc>
                <a:tc>
                  <a:txBody>
                    <a:bodyPr/>
                    <a:lstStyle/>
                    <a:p>
                      <a:pPr algn="just"/>
                      <a:r>
                        <a:rPr lang="en-US" sz="1000" b="1" dirty="0">
                          <a:solidFill>
                            <a:schemeClr val="tx1"/>
                          </a:solidFill>
                          <a:latin typeface="Verdana" panose="020B0604030504040204" charset="0"/>
                          <a:cs typeface="Verdana" panose="020B0604030504040204" charset="0"/>
                        </a:rPr>
                        <a:t>additional CPU (3%) and memory (3%) usage, which may challenge scalability in resource-constrained IoT settings.</a:t>
                      </a:r>
                      <a:endParaRPr lang="en-US" sz="1000" b="1" dirty="0">
                        <a:solidFill>
                          <a:schemeClr val="tx1"/>
                        </a:solidFill>
                        <a:latin typeface="Verdana" panose="020B0604030504040204" charset="0"/>
                        <a:cs typeface="Verdana" panose="020B0604030504040204" charset="0"/>
                      </a:endParaRPr>
                    </a:p>
                    <a:p>
                      <a:pPr algn="just"/>
                      <a:endParaRPr lang="en-US" sz="1000" b="1" dirty="0">
                        <a:solidFill>
                          <a:schemeClr val="tx1"/>
                        </a:solidFill>
                        <a:latin typeface="Verdana" panose="020B0604030504040204" charset="0"/>
                        <a:cs typeface="Verdana" panose="020B0604030504040204" charset="0"/>
                      </a:endParaRPr>
                    </a:p>
                    <a:p>
                      <a:pPr algn="just"/>
                      <a:r>
                        <a:rPr lang="en-IN" altLang="en-US" sz="1000" b="1" dirty="0">
                          <a:solidFill>
                            <a:schemeClr val="tx1"/>
                          </a:solidFill>
                          <a:latin typeface="Verdana" panose="020B0604030504040204" charset="0"/>
                          <a:cs typeface="Verdana" panose="020B0604030504040204" charset="0"/>
                        </a:rPr>
                        <a:t>we will not be using any extra memory</a:t>
                      </a:r>
                      <a:endParaRPr lang="en-US" sz="1000" b="1" dirty="0">
                        <a:solidFill>
                          <a:schemeClr val="tx1"/>
                        </a:solidFill>
                        <a:latin typeface="Verdana" panose="020B0604030504040204" charset="0"/>
                        <a:cs typeface="Verdana" panose="020B0604030504040204" charset="0"/>
                      </a:endParaRPr>
                    </a:p>
                    <a:p>
                      <a:endParaRPr lang="en-US" sz="1000" dirty="0">
                        <a:latin typeface="Verdana" panose="020B0604030504040204" charset="0"/>
                        <a:cs typeface="Verdana" panose="020B0604030504040204" charset="0"/>
                      </a:endParaRPr>
                    </a:p>
                    <a:p>
                      <a:endParaRPr lang="en-US" sz="1000" dirty="0">
                        <a:latin typeface="Verdana" panose="020B0604030504040204" charset="0"/>
                        <a:cs typeface="Verdana" panose="020B0604030504040204" charset="0"/>
                      </a:endParaRPr>
                    </a:p>
                  </a:txBody>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53335" y="407035"/>
            <a:ext cx="8911590" cy="682625"/>
          </a:xfrm>
        </p:spPr>
        <p:txBody>
          <a:bodyPr>
            <a:normAutofit/>
          </a:bodyPr>
          <a:lstStyle/>
          <a:p>
            <a:r>
              <a:rPr lang="en-US" b="1" dirty="0">
                <a:solidFill>
                  <a:schemeClr val="bg1"/>
                </a:solidFill>
                <a:latin typeface="Verdana" panose="020B0604030504040204" charset="0"/>
                <a:cs typeface="Verdana" panose="020B0604030504040204" charset="0"/>
              </a:rPr>
              <a:t>System Design</a:t>
            </a:r>
            <a:endParaRPr lang="en-US" b="1" dirty="0">
              <a:solidFill>
                <a:schemeClr val="bg1"/>
              </a:solidFill>
              <a:latin typeface="Verdana" panose="020B0604030504040204" charset="0"/>
              <a:cs typeface="Verdana" panose="020B0604030504040204" charset="0"/>
            </a:endParaRPr>
          </a:p>
        </p:txBody>
      </p:sp>
      <p:pic>
        <p:nvPicPr>
          <p:cNvPr id="6" name="Picture 5" descr="mini arch"/>
          <p:cNvPicPr>
            <a:picLocks noChangeAspect="1"/>
          </p:cNvPicPr>
          <p:nvPr/>
        </p:nvPicPr>
        <p:blipFill>
          <a:blip r:embed="rId1"/>
          <a:stretch>
            <a:fillRect/>
          </a:stretch>
        </p:blipFill>
        <p:spPr>
          <a:xfrm>
            <a:off x="2553335" y="1197610"/>
            <a:ext cx="9123045" cy="5267325"/>
          </a:xfrm>
          <a:prstGeom prst="rect">
            <a:avLst/>
          </a:prstGeom>
        </p:spPr>
      </p:pic>
      <p:sp>
        <p:nvSpPr>
          <p:cNvPr id="3" name="Text Box 2"/>
          <p:cNvSpPr txBox="1"/>
          <p:nvPr/>
        </p:nvSpPr>
        <p:spPr>
          <a:xfrm>
            <a:off x="3327400" y="5928995"/>
            <a:ext cx="2909570" cy="368300"/>
          </a:xfrm>
          <a:prstGeom prst="rect">
            <a:avLst/>
          </a:prstGeom>
          <a:noFill/>
        </p:spPr>
        <p:txBody>
          <a:bodyPr wrap="square" rtlCol="0">
            <a:spAutoFit/>
          </a:bodyPr>
          <a:lstStyle/>
          <a:p>
            <a:r>
              <a:rPr lang="en-IN" altLang="en-US" b="1"/>
              <a:t>                       DOS Attack</a:t>
            </a:r>
            <a:endParaRPr lang="en-IN" altLang="en-US" b="1"/>
          </a:p>
        </p:txBody>
      </p:sp>
      <p:sp>
        <p:nvSpPr>
          <p:cNvPr id="4" name="Text Box 3"/>
          <p:cNvSpPr txBox="1"/>
          <p:nvPr/>
        </p:nvSpPr>
        <p:spPr>
          <a:xfrm>
            <a:off x="8801100" y="5594985"/>
            <a:ext cx="1638300" cy="413385"/>
          </a:xfrm>
          <a:prstGeom prst="rect">
            <a:avLst/>
          </a:prstGeom>
          <a:solidFill>
            <a:schemeClr val="bg1"/>
          </a:solidFill>
        </p:spPr>
        <p:txBody>
          <a:bodyPr wrap="square" rtlCol="0">
            <a:noAutofit/>
          </a:bodyPr>
          <a:lstStyle/>
          <a:p>
            <a:r>
              <a:rPr lang="en-IN" altLang="en-US" b="1"/>
              <a:t>network</a:t>
            </a:r>
            <a:endParaRPr lang="en-IN" altLang="en-US" b="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7897" y="157316"/>
            <a:ext cx="7020233" cy="1091381"/>
          </a:xfrm>
        </p:spPr>
        <p:txBody>
          <a:bodyPr>
            <a:normAutofit/>
          </a:bodyPr>
          <a:lstStyle/>
          <a:p>
            <a:r>
              <a:rPr lang="en-IN" b="1" dirty="0" err="1">
                <a:solidFill>
                  <a:schemeClr val="bg1"/>
                </a:solidFill>
                <a:latin typeface="Verdana" panose="020B0604030504040204" charset="0"/>
                <a:ea typeface="Verdana" panose="020B0604030504040204" charset="0"/>
              </a:rPr>
              <a:t>Highlevel</a:t>
            </a:r>
            <a:r>
              <a:rPr lang="en-IN" b="1" dirty="0">
                <a:solidFill>
                  <a:schemeClr val="bg1"/>
                </a:solidFill>
                <a:latin typeface="Verdana" panose="020B0604030504040204" charset="0"/>
                <a:ea typeface="Verdana" panose="020B0604030504040204" charset="0"/>
              </a:rPr>
              <a:t> </a:t>
            </a:r>
            <a:r>
              <a:rPr lang="en-US" altLang="en-IN" b="1" dirty="0">
                <a:solidFill>
                  <a:schemeClr val="bg1"/>
                </a:solidFill>
                <a:latin typeface="Verdana" panose="020B0604030504040204" charset="0"/>
                <a:ea typeface="Verdana" panose="020B0604030504040204" charset="0"/>
              </a:rPr>
              <a:t>Design</a:t>
            </a:r>
            <a:endParaRPr lang="en-US" altLang="en-IN" b="1" dirty="0">
              <a:solidFill>
                <a:schemeClr val="bg1"/>
              </a:solidFill>
              <a:latin typeface="Verdana" panose="020B0604030504040204" charset="0"/>
              <a:ea typeface="Verdana" panose="020B0604030504040204" charset="0"/>
            </a:endParaRPr>
          </a:p>
        </p:txBody>
      </p:sp>
      <p:sp>
        <p:nvSpPr>
          <p:cNvPr id="3" name="TextBox 2"/>
          <p:cNvSpPr txBox="1"/>
          <p:nvPr/>
        </p:nvSpPr>
        <p:spPr>
          <a:xfrm>
            <a:off x="1863090" y="5702124"/>
            <a:ext cx="9335852" cy="1077218"/>
          </a:xfrm>
          <a:prstGeom prst="rect">
            <a:avLst/>
          </a:prstGeom>
          <a:noFill/>
        </p:spPr>
        <p:txBody>
          <a:bodyPr wrap="square" rtlCol="0">
            <a:spAutoFit/>
          </a:bodyPr>
          <a:lstStyle/>
          <a:p>
            <a:pPr algn="just"/>
            <a:r>
              <a:rPr lang="en-IN" sz="1600" b="0" i="0" dirty="0">
                <a:solidFill>
                  <a:schemeClr val="bg2"/>
                </a:solidFill>
                <a:effectLst/>
                <a:latin typeface="Verdana" panose="020B0604030504040204" charset="0"/>
                <a:ea typeface="Verdana" panose="020B0604030504040204" charset="0"/>
              </a:rPr>
              <a:t>The flowchart illustrates a complete machine learning pipeline that processes Wireshark network data through preprocessing steps, trains multiple ML models (Neural Network, Decision Tree, Random Forest, KNN, LSTM), and classifies traffic as either Normal or DOS class.</a:t>
            </a:r>
            <a:endParaRPr lang="en-IN" sz="1600" dirty="0">
              <a:solidFill>
                <a:schemeClr val="bg2"/>
              </a:solidFill>
              <a:latin typeface="Verdana" panose="020B0604030504040204" charset="0"/>
              <a:ea typeface="Verdana" panose="020B0604030504040204" charset="0"/>
            </a:endParaRPr>
          </a:p>
        </p:txBody>
      </p:sp>
      <p:pic>
        <p:nvPicPr>
          <p:cNvPr id="6" name="Picture 5"/>
          <p:cNvPicPr>
            <a:picLocks noChangeAspect="1"/>
          </p:cNvPicPr>
          <p:nvPr/>
        </p:nvPicPr>
        <p:blipFill>
          <a:blip r:embed="rId1"/>
          <a:srcRect l="1059"/>
          <a:stretch>
            <a:fillRect/>
          </a:stretch>
        </p:blipFill>
        <p:spPr>
          <a:xfrm>
            <a:off x="1917065" y="852170"/>
            <a:ext cx="9281160" cy="485076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2115" y="206915"/>
            <a:ext cx="8911687" cy="1280890"/>
          </a:xfrm>
        </p:spPr>
        <p:txBody>
          <a:bodyPr/>
          <a:lstStyle/>
          <a:p>
            <a:r>
              <a:rPr lang="en-US" altLang="en-IN" dirty="0">
                <a:solidFill>
                  <a:schemeClr val="bg1"/>
                </a:solidFill>
                <a:latin typeface="Verdana" panose="020B0604030504040204" charset="0"/>
                <a:cs typeface="Verdana" panose="020B0604030504040204" charset="0"/>
              </a:rPr>
              <a:t>Requirements to develop the project</a:t>
            </a:r>
            <a:endParaRPr lang="en-US" altLang="en-IN" dirty="0">
              <a:solidFill>
                <a:schemeClr val="bg1"/>
              </a:solidFill>
              <a:latin typeface="Verdana" panose="020B0604030504040204" charset="0"/>
              <a:cs typeface="Verdana" panose="020B0604030504040204" charset="0"/>
            </a:endParaRPr>
          </a:p>
        </p:txBody>
      </p:sp>
      <p:sp>
        <p:nvSpPr>
          <p:cNvPr id="3" name="Content Placeholder 2"/>
          <p:cNvSpPr>
            <a:spLocks noGrp="1"/>
          </p:cNvSpPr>
          <p:nvPr>
            <p:ph idx="1"/>
          </p:nvPr>
        </p:nvSpPr>
        <p:spPr>
          <a:xfrm>
            <a:off x="2660015" y="908685"/>
            <a:ext cx="8915400" cy="80010"/>
          </a:xfrm>
        </p:spPr>
        <p:txBody>
          <a:bodyPr>
            <a:normAutofit fontScale="25000" lnSpcReduction="20000"/>
          </a:bodyPr>
          <a:lstStyle/>
          <a:p>
            <a:pPr marL="0" indent="0">
              <a:buNone/>
            </a:pPr>
            <a:endParaRPr lang="en-US" altLang="en-IN" sz="2800" b="1">
              <a:solidFill>
                <a:schemeClr val="bg1"/>
              </a:solidFill>
              <a:latin typeface="Times New Roman" panose="02020603050405020304" charset="0"/>
              <a:cs typeface="Times New Roman" panose="02020603050405020304" charset="0"/>
            </a:endParaRPr>
          </a:p>
          <a:p>
            <a:endParaRPr lang="en-US" altLang="en-IN" sz="2800" b="1">
              <a:solidFill>
                <a:schemeClr val="bg1"/>
              </a:solidFill>
              <a:latin typeface="Times New Roman" panose="02020603050405020304" charset="0"/>
              <a:cs typeface="Times New Roman" panose="02020603050405020304" charset="0"/>
            </a:endParaRPr>
          </a:p>
        </p:txBody>
      </p:sp>
      <p:graphicFrame>
        <p:nvGraphicFramePr>
          <p:cNvPr id="8" name="Table 7"/>
          <p:cNvGraphicFramePr/>
          <p:nvPr>
            <p:custDataLst>
              <p:tags r:id="rId1"/>
            </p:custDataLst>
          </p:nvPr>
        </p:nvGraphicFramePr>
        <p:xfrm>
          <a:off x="2948305" y="868680"/>
          <a:ext cx="7592060" cy="5897880"/>
        </p:xfrm>
        <a:graphic>
          <a:graphicData uri="http://schemas.openxmlformats.org/drawingml/2006/table">
            <a:tbl>
              <a:tblPr firstRow="1" bandRow="1">
                <a:tableStyleId>{5C22544A-7EE6-4342-B048-85BDC9FD1C3A}</a:tableStyleId>
              </a:tblPr>
              <a:tblGrid>
                <a:gridCol w="2531110"/>
                <a:gridCol w="1958975"/>
                <a:gridCol w="3101975"/>
              </a:tblGrid>
              <a:tr h="640080">
                <a:tc>
                  <a:txBody>
                    <a:bodyPr/>
                    <a:lstStyle/>
                    <a:p>
                      <a:pPr>
                        <a:buNone/>
                      </a:pPr>
                      <a:endParaRPr lang="en-US">
                        <a:solidFill>
                          <a:schemeClr val="tx1"/>
                        </a:solidFill>
                      </a:endParaRPr>
                    </a:p>
                    <a:p>
                      <a:pPr>
                        <a:buNone/>
                      </a:pPr>
                      <a:r>
                        <a:rPr lang="en-US">
                          <a:solidFill>
                            <a:schemeClr val="tx1"/>
                          </a:solidFill>
                        </a:rPr>
                        <a:t>Tool used</a:t>
                      </a:r>
                      <a:endParaRPr lang="en-US">
                        <a:solidFill>
                          <a:schemeClr val="tx1"/>
                        </a:solidFill>
                      </a:endParaRPr>
                    </a:p>
                  </a:txBody>
                  <a:tcPr/>
                </a:tc>
                <a:tc>
                  <a:txBody>
                    <a:bodyPr/>
                    <a:lstStyle/>
                    <a:p>
                      <a:pPr>
                        <a:buNone/>
                      </a:pPr>
                      <a:endParaRPr lang="en-US">
                        <a:solidFill>
                          <a:schemeClr val="tx1"/>
                        </a:solidFill>
                      </a:endParaRPr>
                    </a:p>
                    <a:p>
                      <a:pPr>
                        <a:buNone/>
                      </a:pPr>
                      <a:r>
                        <a:rPr lang="en-US">
                          <a:solidFill>
                            <a:schemeClr val="tx1"/>
                          </a:solidFill>
                        </a:rPr>
                        <a:t>Tool Name</a:t>
                      </a:r>
                      <a:endParaRPr lang="en-US">
                        <a:solidFill>
                          <a:schemeClr val="tx1"/>
                        </a:solidFill>
                      </a:endParaRPr>
                    </a:p>
                  </a:txBody>
                  <a:tcPr/>
                </a:tc>
                <a:tc>
                  <a:txBody>
                    <a:bodyPr/>
                    <a:lstStyle/>
                    <a:p>
                      <a:pPr>
                        <a:buNone/>
                      </a:pPr>
                      <a:endParaRPr lang="en-US">
                        <a:solidFill>
                          <a:schemeClr val="tx1"/>
                        </a:solidFill>
                      </a:endParaRPr>
                    </a:p>
                    <a:p>
                      <a:pPr>
                        <a:buNone/>
                      </a:pPr>
                      <a:r>
                        <a:rPr lang="en-US">
                          <a:solidFill>
                            <a:schemeClr val="tx1"/>
                          </a:solidFill>
                        </a:rPr>
                        <a:t>Description</a:t>
                      </a:r>
                      <a:endParaRPr lang="en-US">
                        <a:solidFill>
                          <a:schemeClr val="tx1"/>
                        </a:solidFill>
                      </a:endParaRPr>
                    </a:p>
                  </a:txBody>
                  <a:tcPr/>
                </a:tc>
              </a:tr>
              <a:tr h="2423160">
                <a:tc>
                  <a:txBody>
                    <a:bodyPr/>
                    <a:lstStyle/>
                    <a:p>
                      <a:pPr>
                        <a:buNone/>
                      </a:pPr>
                      <a:r>
                        <a:rPr lang="en-US" sz="1600" b="1">
                          <a:sym typeface="+mn-ea"/>
                        </a:rPr>
                        <a:t>Programming Language</a:t>
                      </a:r>
                      <a:endParaRPr lang="en-US" sz="1600"/>
                    </a:p>
                    <a:p>
                      <a:pPr>
                        <a:buNone/>
                      </a:pPr>
                      <a:endParaRPr lang="en-US" sz="1600"/>
                    </a:p>
                  </a:txBody>
                  <a:tcPr/>
                </a:tc>
                <a:tc>
                  <a:txBody>
                    <a:bodyPr/>
                    <a:lstStyle/>
                    <a:p>
                      <a:pPr>
                        <a:buNone/>
                      </a:pPr>
                      <a:r>
                        <a:rPr lang="en-US" sz="1800" b="1">
                          <a:sym typeface="+mn-ea"/>
                        </a:rPr>
                        <a:t>Python</a:t>
                      </a:r>
                      <a:endParaRPr lang="en-US"/>
                    </a:p>
                  </a:txBody>
                  <a:tcPr/>
                </a:tc>
                <a:tc>
                  <a:txBody>
                    <a:bodyPr/>
                    <a:lstStyle/>
                    <a:p>
                      <a:pPr>
                        <a:buNone/>
                      </a:pPr>
                      <a:r>
                        <a:rPr lang="en-US" sz="1700">
                          <a:sym typeface="+mn-ea"/>
                        </a:rPr>
                        <a:t>The primary programming language for implementing machine learning algorithms, data processing, and IoT applications due to its simplicity and extensive libraries.</a:t>
                      </a:r>
                      <a:endParaRPr lang="en-US" sz="1700"/>
                    </a:p>
                    <a:p>
                      <a:pPr>
                        <a:buNone/>
                      </a:pPr>
                      <a:endParaRPr lang="en-US" sz="1700"/>
                    </a:p>
                    <a:p>
                      <a:pPr>
                        <a:buNone/>
                      </a:pPr>
                      <a:endParaRPr lang="en-US" sz="1700"/>
                    </a:p>
                  </a:txBody>
                  <a:tcPr/>
                </a:tc>
              </a:tr>
              <a:tr h="1645920">
                <a:tc>
                  <a:txBody>
                    <a:bodyPr/>
                    <a:lstStyle/>
                    <a:p>
                      <a:pPr>
                        <a:buNone/>
                      </a:pPr>
                      <a:r>
                        <a:rPr lang="en-US" sz="1800" b="1">
                          <a:sym typeface="+mn-ea"/>
                        </a:rPr>
                        <a:t>Machine learning     library</a:t>
                      </a:r>
                      <a:endParaRPr lang="en-US" sz="1800" b="1"/>
                    </a:p>
                    <a:p>
                      <a:pPr>
                        <a:buNone/>
                      </a:pPr>
                      <a:endParaRPr lang="en-US"/>
                    </a:p>
                  </a:txBody>
                  <a:tcPr/>
                </a:tc>
                <a:tc>
                  <a:txBody>
                    <a:bodyPr/>
                    <a:lstStyle/>
                    <a:p>
                      <a:pPr>
                        <a:buNone/>
                      </a:pPr>
                      <a:r>
                        <a:rPr lang="en-US" b="1" dirty="0" err="1"/>
                        <a:t>Scipy</a:t>
                      </a:r>
                      <a:r>
                        <a:rPr lang="en-US" b="1" dirty="0"/>
                        <a:t>,</a:t>
                      </a:r>
                      <a:endParaRPr lang="en-US" b="1" dirty="0"/>
                    </a:p>
                  </a:txBody>
                  <a:tcPr/>
                </a:tc>
                <a:tc>
                  <a:txBody>
                    <a:bodyPr/>
                    <a:lstStyle/>
                    <a:p>
                      <a:pPr>
                        <a:buNone/>
                      </a:pPr>
                      <a:r>
                        <a:rPr lang="en-US" sz="1700" dirty="0">
                          <a:sym typeface="+mn-ea"/>
                        </a:rPr>
                        <a:t> </a:t>
                      </a:r>
                      <a:r>
                        <a:rPr lang="en-US" sz="1600" dirty="0"/>
                        <a:t>A machine learning library offering tools for preprocessing, splitting datasets, model building, and evaluation.</a:t>
                      </a:r>
                      <a:endParaRPr lang="en-US" sz="1700" dirty="0"/>
                    </a:p>
                  </a:txBody>
                  <a:tcPr/>
                </a:tc>
              </a:tr>
              <a:tr h="1188720">
                <a:tc>
                  <a:txBody>
                    <a:bodyPr/>
                    <a:lstStyle/>
                    <a:p>
                      <a:pPr>
                        <a:buNone/>
                      </a:pPr>
                      <a:r>
                        <a:rPr lang="en-US" b="1"/>
                        <a:t>Data Visualization Tool</a:t>
                      </a:r>
                      <a:endParaRPr lang="en-US" b="1"/>
                    </a:p>
                    <a:p>
                      <a:pPr>
                        <a:buNone/>
                      </a:pPr>
                      <a:endParaRPr lang="en-US"/>
                    </a:p>
                    <a:p>
                      <a:pPr>
                        <a:buNone/>
                      </a:pPr>
                      <a:endParaRPr lang="en-US"/>
                    </a:p>
                  </a:txBody>
                  <a:tcPr/>
                </a:tc>
                <a:tc>
                  <a:txBody>
                    <a:bodyPr/>
                    <a:lstStyle/>
                    <a:p>
                      <a:pPr>
                        <a:buNone/>
                      </a:pPr>
                      <a:r>
                        <a:rPr lang="en-US" sz="1800" b="1">
                          <a:sym typeface="+mn-ea"/>
                        </a:rPr>
                        <a:t>Seaborn</a:t>
                      </a:r>
                      <a:endParaRPr lang="en-US" b="1"/>
                    </a:p>
                  </a:txBody>
                  <a:tcPr/>
                </a:tc>
                <a:tc>
                  <a:txBody>
                    <a:bodyPr/>
                    <a:lstStyle/>
                    <a:p>
                      <a:pPr>
                        <a:buNone/>
                      </a:pPr>
                      <a:r>
                        <a:rPr lang="en-US" sz="1700" dirty="0">
                          <a:sym typeface="+mn-ea"/>
                        </a:rPr>
                        <a:t> Built on top of Matplotlib, it helps create attractive statistical graphics.</a:t>
                      </a:r>
                      <a:endParaRPr lang="en-US" sz="1700" dirty="0"/>
                    </a:p>
                    <a:p>
                      <a:pPr>
                        <a:buNone/>
                      </a:pPr>
                      <a:endParaRPr lang="en-US" sz="1700" dirty="0"/>
                    </a:p>
                  </a:txBody>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p:cNvGraphicFramePr/>
          <p:nvPr>
            <p:custDataLst>
              <p:tags r:id="rId1"/>
            </p:custDataLst>
          </p:nvPr>
        </p:nvGraphicFramePr>
        <p:xfrm>
          <a:off x="3009265" y="859790"/>
          <a:ext cx="7592060" cy="4597400"/>
        </p:xfrm>
        <a:graphic>
          <a:graphicData uri="http://schemas.openxmlformats.org/drawingml/2006/table">
            <a:tbl>
              <a:tblPr firstRow="1" bandRow="1">
                <a:tableStyleId>{5C22544A-7EE6-4342-B048-85BDC9FD1C3A}</a:tableStyleId>
              </a:tblPr>
              <a:tblGrid>
                <a:gridCol w="2531110"/>
                <a:gridCol w="1958975"/>
                <a:gridCol w="3101975"/>
              </a:tblGrid>
              <a:tr h="816610">
                <a:tc>
                  <a:txBody>
                    <a:bodyPr/>
                    <a:lstStyle/>
                    <a:p>
                      <a:pPr>
                        <a:buNone/>
                      </a:pPr>
                      <a:endParaRPr lang="en-US">
                        <a:solidFill>
                          <a:schemeClr val="tx1"/>
                        </a:solidFill>
                      </a:endParaRPr>
                    </a:p>
                    <a:p>
                      <a:pPr>
                        <a:buNone/>
                      </a:pPr>
                      <a:r>
                        <a:rPr lang="en-US">
                          <a:solidFill>
                            <a:schemeClr val="tx1"/>
                          </a:solidFill>
                        </a:rPr>
                        <a:t>Tool used</a:t>
                      </a:r>
                      <a:endParaRPr lang="en-US">
                        <a:solidFill>
                          <a:schemeClr val="tx1"/>
                        </a:solidFill>
                      </a:endParaRPr>
                    </a:p>
                  </a:txBody>
                  <a:tcPr/>
                </a:tc>
                <a:tc>
                  <a:txBody>
                    <a:bodyPr/>
                    <a:lstStyle/>
                    <a:p>
                      <a:pPr>
                        <a:buNone/>
                      </a:pPr>
                      <a:endParaRPr lang="en-US">
                        <a:solidFill>
                          <a:schemeClr val="tx1"/>
                        </a:solidFill>
                      </a:endParaRPr>
                    </a:p>
                    <a:p>
                      <a:pPr>
                        <a:buNone/>
                      </a:pPr>
                      <a:r>
                        <a:rPr lang="en-US">
                          <a:solidFill>
                            <a:schemeClr val="tx1"/>
                          </a:solidFill>
                        </a:rPr>
                        <a:t>Tool Name</a:t>
                      </a:r>
                      <a:endParaRPr lang="en-US">
                        <a:solidFill>
                          <a:schemeClr val="tx1"/>
                        </a:solidFill>
                      </a:endParaRPr>
                    </a:p>
                  </a:txBody>
                  <a:tcPr/>
                </a:tc>
                <a:tc>
                  <a:txBody>
                    <a:bodyPr/>
                    <a:lstStyle/>
                    <a:p>
                      <a:pPr>
                        <a:buNone/>
                      </a:pPr>
                      <a:endParaRPr lang="en-US">
                        <a:solidFill>
                          <a:schemeClr val="tx1"/>
                        </a:solidFill>
                      </a:endParaRPr>
                    </a:p>
                    <a:p>
                      <a:pPr>
                        <a:buNone/>
                      </a:pPr>
                      <a:r>
                        <a:rPr lang="en-US">
                          <a:solidFill>
                            <a:schemeClr val="tx1"/>
                          </a:solidFill>
                        </a:rPr>
                        <a:t>Description</a:t>
                      </a:r>
                      <a:endParaRPr lang="en-US">
                        <a:solidFill>
                          <a:schemeClr val="tx1"/>
                        </a:solidFill>
                      </a:endParaRPr>
                    </a:p>
                  </a:txBody>
                  <a:tcPr/>
                </a:tc>
              </a:tr>
              <a:tr h="1880870">
                <a:tc>
                  <a:txBody>
                    <a:bodyPr/>
                    <a:lstStyle/>
                    <a:p>
                      <a:pPr>
                        <a:buNone/>
                      </a:pPr>
                      <a:r>
                        <a:rPr lang="en-US" b="1" dirty="0">
                          <a:solidFill>
                            <a:schemeClr val="tx1"/>
                          </a:solidFill>
                        </a:rPr>
                        <a:t>Data Processing Library</a:t>
                      </a:r>
                      <a:endParaRPr lang="en-US" b="1" dirty="0">
                        <a:solidFill>
                          <a:schemeClr val="tx1"/>
                        </a:solidFill>
                      </a:endParaRPr>
                    </a:p>
                  </a:txBody>
                  <a:tcPr/>
                </a:tc>
                <a:tc>
                  <a:txBody>
                    <a:bodyPr/>
                    <a:lstStyle/>
                    <a:p>
                      <a:pPr>
                        <a:buNone/>
                      </a:pPr>
                      <a:r>
                        <a:rPr lang="en-US" b="1">
                          <a:solidFill>
                            <a:schemeClr val="tx1"/>
                          </a:solidFill>
                        </a:rPr>
                        <a:t>Pandas</a:t>
                      </a:r>
                      <a:endParaRPr lang="en-US" b="1">
                        <a:solidFill>
                          <a:schemeClr val="tx1"/>
                        </a:solidFill>
                      </a:endParaRPr>
                    </a:p>
                  </a:txBody>
                  <a:tcPr/>
                </a:tc>
                <a:tc>
                  <a:txBody>
                    <a:bodyPr/>
                    <a:lstStyle/>
                    <a:p>
                      <a:pPr>
                        <a:buNone/>
                      </a:pPr>
                      <a:r>
                        <a:rPr lang="en-US" sz="1700" dirty="0">
                          <a:solidFill>
                            <a:schemeClr val="tx1"/>
                          </a:solidFill>
                        </a:rPr>
                        <a:t>Essential for data manipulation and analysis, particularly for handling and preprocessing datasets effectively.</a:t>
                      </a:r>
                      <a:endParaRPr lang="en-US" sz="1700" dirty="0">
                        <a:solidFill>
                          <a:schemeClr val="tx1"/>
                        </a:solidFill>
                      </a:endParaRPr>
                    </a:p>
                  </a:txBody>
                  <a:tcPr/>
                </a:tc>
              </a:tr>
              <a:tr h="1899920">
                <a:tc>
                  <a:txBody>
                    <a:bodyPr/>
                    <a:lstStyle/>
                    <a:p>
                      <a:pPr>
                        <a:buNone/>
                      </a:pPr>
                      <a:r>
                        <a:rPr lang="en-US" b="1" dirty="0">
                          <a:solidFill>
                            <a:schemeClr val="tx1"/>
                          </a:solidFill>
                        </a:rPr>
                        <a:t>Data generation tool</a:t>
                      </a:r>
                      <a:endParaRPr lang="en-US" b="1" dirty="0">
                        <a:solidFill>
                          <a:schemeClr val="tx1"/>
                        </a:solidFill>
                      </a:endParaRPr>
                    </a:p>
                    <a:p>
                      <a:pPr>
                        <a:buNone/>
                      </a:pPr>
                      <a:endParaRPr lang="en-US" dirty="0">
                        <a:solidFill>
                          <a:schemeClr val="tx1"/>
                        </a:solidFill>
                      </a:endParaRPr>
                    </a:p>
                  </a:txBody>
                  <a:tcPr/>
                </a:tc>
                <a:tc>
                  <a:txBody>
                    <a:bodyPr/>
                    <a:lstStyle/>
                    <a:p>
                      <a:pPr>
                        <a:buNone/>
                      </a:pPr>
                      <a:r>
                        <a:rPr lang="en-US" sz="1800" b="1" dirty="0">
                          <a:solidFill>
                            <a:schemeClr val="tx1"/>
                          </a:solidFill>
                          <a:sym typeface="+mn-ea"/>
                        </a:rPr>
                        <a:t>Wireshark</a:t>
                      </a:r>
                      <a:endParaRPr lang="en-US" sz="1800" b="1" dirty="0">
                        <a:solidFill>
                          <a:schemeClr val="tx1"/>
                        </a:solidFill>
                        <a:sym typeface="+mn-ea"/>
                      </a:endParaRPr>
                    </a:p>
                  </a:txBody>
                  <a:tcPr/>
                </a:tc>
                <a:tc>
                  <a:txBody>
                    <a:bodyPr/>
                    <a:lstStyle/>
                    <a:p>
                      <a:pPr algn="just">
                        <a:buNone/>
                      </a:pPr>
                      <a:r>
                        <a:rPr lang="en-US" sz="1600" dirty="0"/>
                        <a:t>uses </a:t>
                      </a:r>
                      <a:r>
                        <a:rPr lang="en-US" sz="1600" b="0" dirty="0"/>
                        <a:t>libpcap</a:t>
                      </a:r>
                      <a:r>
                        <a:rPr lang="en-US" sz="1600" dirty="0"/>
                        <a:t> (Unix) and </a:t>
                      </a:r>
                      <a:r>
                        <a:rPr lang="en-US" sz="1600" b="0" dirty="0"/>
                        <a:t>Npcap</a:t>
                      </a:r>
                      <a:r>
                        <a:rPr lang="en-US" sz="1600" dirty="0"/>
                        <a:t> (Windows) libraries for low-level network packet capturing and filtering.</a:t>
                      </a:r>
                      <a:endParaRPr lang="en-US" sz="1600" dirty="0">
                        <a:solidFill>
                          <a:schemeClr val="tx1"/>
                        </a:solidFill>
                      </a:endParaRPr>
                    </a:p>
                  </a:txBody>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0"/>
            <a:ext cx="8911687" cy="538619"/>
          </a:xfrm>
        </p:spPr>
        <p:txBody>
          <a:bodyPr>
            <a:normAutofit fontScale="90000"/>
          </a:bodyPr>
          <a:lstStyle/>
          <a:p>
            <a:r>
              <a:rPr lang="en-US" b="1" dirty="0">
                <a:solidFill>
                  <a:schemeClr val="bg1"/>
                </a:solidFill>
                <a:latin typeface="Verdana" panose="020B0604030504040204" charset="0"/>
                <a:ea typeface="Verdana" panose="020B0604030504040204" charset="0"/>
              </a:rPr>
              <a:t>Algorithm and Datasets used</a:t>
            </a:r>
            <a:endParaRPr lang="en-US" b="1" dirty="0">
              <a:solidFill>
                <a:schemeClr val="bg1"/>
              </a:solidFill>
              <a:latin typeface="Verdana" panose="020B0604030504040204" charset="0"/>
              <a:ea typeface="Verdana" panose="020B0604030504040204" charset="0"/>
            </a:endParaRPr>
          </a:p>
        </p:txBody>
      </p:sp>
      <p:sp>
        <p:nvSpPr>
          <p:cNvPr id="3" name="Content Placeholder 2"/>
          <p:cNvSpPr>
            <a:spLocks noGrp="1"/>
          </p:cNvSpPr>
          <p:nvPr>
            <p:ph idx="1"/>
          </p:nvPr>
        </p:nvSpPr>
        <p:spPr>
          <a:xfrm>
            <a:off x="1663065" y="834390"/>
            <a:ext cx="9841230" cy="6117590"/>
          </a:xfrm>
        </p:spPr>
        <p:txBody>
          <a:bodyPr>
            <a:normAutofit/>
          </a:bodyPr>
          <a:lstStyle/>
          <a:p>
            <a:r>
              <a:rPr lang="en-US" sz="1700" dirty="0">
                <a:solidFill>
                  <a:schemeClr val="bg1"/>
                </a:solidFill>
                <a:latin typeface="Verdana" panose="020B0604030504040204" charset="0"/>
                <a:ea typeface="Verdana" panose="020B0604030504040204" charset="0"/>
              </a:rPr>
              <a:t>Decision Tree: It is a flowchart-like structure used for classification and regression, where internal nodes represent feature tests, branches represent outcomes, and leaves represent decisions or predictions.</a:t>
            </a:r>
            <a:endParaRPr lang="en-US" sz="1700" dirty="0">
              <a:solidFill>
                <a:schemeClr val="bg1"/>
              </a:solidFill>
              <a:latin typeface="Verdana" panose="020B0604030504040204" charset="0"/>
              <a:ea typeface="Verdana" panose="020B0604030504040204" charset="0"/>
            </a:endParaRPr>
          </a:p>
          <a:p>
            <a:r>
              <a:rPr lang="en-US" sz="1700" dirty="0">
                <a:solidFill>
                  <a:schemeClr val="bg1"/>
                </a:solidFill>
                <a:latin typeface="Verdana" panose="020B0604030504040204" charset="0"/>
                <a:ea typeface="Verdana" panose="020B0604030504040204" charset="0"/>
              </a:rPr>
              <a:t>Random Forest: It is an ensemble learning method that combines multiple decision trees to improve accuracy and robustness. It aggregates predictions from individual trees to reduce </a:t>
            </a:r>
            <a:r>
              <a:rPr lang="en-US" sz="1700" dirty="0" err="1">
                <a:solidFill>
                  <a:schemeClr val="bg1"/>
                </a:solidFill>
                <a:latin typeface="Verdana" panose="020B0604030504040204" charset="0"/>
                <a:ea typeface="Verdana" panose="020B0604030504040204" charset="0"/>
              </a:rPr>
              <a:t>overfitting</a:t>
            </a:r>
            <a:r>
              <a:rPr lang="en-US" sz="1700" dirty="0">
                <a:solidFill>
                  <a:schemeClr val="bg1"/>
                </a:solidFill>
                <a:latin typeface="Verdana" panose="020B0604030504040204" charset="0"/>
                <a:ea typeface="Verdana" panose="020B0604030504040204" charset="0"/>
              </a:rPr>
              <a:t> and improve generalization in classification and regression tasks.</a:t>
            </a:r>
            <a:endParaRPr lang="en-US" sz="1700" dirty="0">
              <a:solidFill>
                <a:schemeClr val="bg1"/>
              </a:solidFill>
              <a:latin typeface="Verdana" panose="020B0604030504040204" charset="0"/>
              <a:ea typeface="Verdana" panose="020B0604030504040204" charset="0"/>
            </a:endParaRPr>
          </a:p>
          <a:p>
            <a:r>
              <a:rPr lang="en-US" sz="1700" dirty="0">
                <a:solidFill>
                  <a:schemeClr val="bg1"/>
                </a:solidFill>
                <a:latin typeface="Verdana" panose="020B0604030504040204" charset="0"/>
                <a:ea typeface="Verdana" panose="020B0604030504040204" charset="0"/>
              </a:rPr>
              <a:t>K-Nearest Neighbor: It is a lazy learning algorithm that classifies data points based on the majority class of their closest neighbors. It uses a distance metric (e.g., Euclidean) to find similarity between data points.</a:t>
            </a:r>
            <a:endParaRPr lang="en-US" sz="1700" dirty="0">
              <a:solidFill>
                <a:schemeClr val="bg1"/>
              </a:solidFill>
              <a:latin typeface="Verdana" panose="020B0604030504040204" charset="0"/>
              <a:ea typeface="Verdana" panose="020B0604030504040204" charset="0"/>
            </a:endParaRPr>
          </a:p>
          <a:p>
            <a:r>
              <a:rPr lang="en-US" sz="1700" dirty="0">
                <a:solidFill>
                  <a:schemeClr val="bg1"/>
                </a:solidFill>
                <a:latin typeface="Verdana" panose="020B0604030504040204" charset="0"/>
                <a:ea typeface="Verdana" panose="020B0604030504040204" charset="0"/>
              </a:rPr>
              <a:t>Long Short Term Memory: It is a type of recurrent neural network (RNN) designed to handle sequential data by maintaining long-term dependencies. Its gated architecture prevents vanishing or exploding gradients, making it suitable for time-series prediction and natural language processing.</a:t>
            </a:r>
            <a:endParaRPr lang="en-US" sz="1700" dirty="0">
              <a:solidFill>
                <a:schemeClr val="bg1"/>
              </a:solidFill>
              <a:latin typeface="Verdana" panose="020B0604030504040204" charset="0"/>
              <a:ea typeface="Verdana" panose="020B0604030504040204" charset="0"/>
            </a:endParaRPr>
          </a:p>
          <a:p>
            <a:r>
              <a:rPr lang="en-US" sz="1700" dirty="0">
                <a:solidFill>
                  <a:schemeClr val="bg1"/>
                </a:solidFill>
                <a:latin typeface="Verdana" panose="020B0604030504040204" charset="0"/>
                <a:ea typeface="Verdana" panose="020B0604030504040204" charset="0"/>
              </a:rPr>
              <a:t>Neural Network: It is a computational model inspired by the human brain, consisting of layers of interconnected nodes (neurons) that process data hierarchically. It learns patterns and relationships in data through </a:t>
            </a:r>
            <a:r>
              <a:rPr lang="en-US" sz="1700" dirty="0" err="1">
                <a:solidFill>
                  <a:schemeClr val="bg1"/>
                </a:solidFill>
                <a:latin typeface="Verdana" panose="020B0604030504040204" charset="0"/>
                <a:ea typeface="Verdana" panose="020B0604030504040204" charset="0"/>
              </a:rPr>
              <a:t>backpropagation</a:t>
            </a:r>
            <a:r>
              <a:rPr lang="en-US" sz="1700" dirty="0">
                <a:solidFill>
                  <a:schemeClr val="bg1"/>
                </a:solidFill>
                <a:latin typeface="Verdana" panose="020B0604030504040204" charset="0"/>
                <a:ea typeface="Verdana" panose="020B0604030504040204" charset="0"/>
              </a:rPr>
              <a:t> and weight optimization.</a:t>
            </a:r>
            <a:endParaRPr lang="en-US" sz="1700" dirty="0">
              <a:solidFill>
                <a:schemeClr val="bg1"/>
              </a:solidFill>
              <a:latin typeface="Verdana" panose="020B0604030504040204" charset="0"/>
              <a:ea typeface="Verdana" panose="020B0604030504040204" charset="0"/>
            </a:endParaRPr>
          </a:p>
          <a:p>
            <a:pPr marL="0" indent="0">
              <a:buNone/>
            </a:pPr>
            <a:endParaRPr lang="en-US" sz="1700" dirty="0">
              <a:solidFill>
                <a:schemeClr val="bg1"/>
              </a:solidFill>
              <a:latin typeface="Verdana" panose="020B0604030504040204" charset="0"/>
              <a:ea typeface="Verdana" panose="020B0604030504040204" charset="0"/>
            </a:endParaRPr>
          </a:p>
          <a:p>
            <a:pPr marL="0" indent="0">
              <a:buNone/>
            </a:pPr>
            <a:r>
              <a:rPr lang="en-US" sz="1700" dirty="0">
                <a:solidFill>
                  <a:schemeClr val="bg1"/>
                </a:solidFill>
                <a:latin typeface="Verdana" panose="020B0604030504040204" charset="0"/>
                <a:ea typeface="Verdana" panose="020B0604030504040204" charset="0"/>
              </a:rPr>
              <a:t>      Datasets:Dos_Atta</a:t>
            </a:r>
            <a:r>
              <a:rPr lang="en-IN" altLang="en-US" sz="1700" dirty="0">
                <a:solidFill>
                  <a:schemeClr val="bg1"/>
                </a:solidFill>
                <a:latin typeface="Verdana" panose="020B0604030504040204" charset="0"/>
                <a:ea typeface="Verdana" panose="020B0604030504040204" charset="0"/>
              </a:rPr>
              <a:t>c</a:t>
            </a:r>
            <a:r>
              <a:rPr lang="en-US" sz="1700" dirty="0">
                <a:solidFill>
                  <a:schemeClr val="bg1"/>
                </a:solidFill>
                <a:latin typeface="Verdana" panose="020B0604030504040204" charset="0"/>
                <a:ea typeface="Verdana" panose="020B0604030504040204" charset="0"/>
              </a:rPr>
              <a:t>k_HTTP_Dataset</a:t>
            </a:r>
            <a:r>
              <a:rPr lang="en-IN" altLang="en-US" sz="1700" dirty="0">
                <a:solidFill>
                  <a:schemeClr val="bg1"/>
                </a:solidFill>
                <a:latin typeface="Verdana" panose="020B0604030504040204" charset="0"/>
                <a:ea typeface="Verdana" panose="020B0604030504040204" charset="0"/>
              </a:rPr>
              <a:t>,</a:t>
            </a:r>
            <a:r>
              <a:rPr lang="en-US" sz="1700" dirty="0">
                <a:solidFill>
                  <a:schemeClr val="bg1"/>
                </a:solidFill>
                <a:latin typeface="Verdana" panose="020B0604030504040204" charset="0"/>
                <a:ea typeface="Verdana" panose="020B0604030504040204" charset="0"/>
              </a:rPr>
              <a:t>WSN_DS</a:t>
            </a:r>
            <a:r>
              <a:rPr lang="en-IN" altLang="en-US" sz="1700" dirty="0">
                <a:solidFill>
                  <a:schemeClr val="bg1"/>
                </a:solidFill>
                <a:latin typeface="Verdana" panose="020B0604030504040204" charset="0"/>
                <a:ea typeface="Verdana" panose="020B0604030504040204" charset="0"/>
              </a:rPr>
              <a:t>,</a:t>
            </a:r>
            <a:r>
              <a:rPr lang="en-US" sz="1700" dirty="0">
                <a:solidFill>
                  <a:schemeClr val="bg1"/>
                </a:solidFill>
                <a:latin typeface="Verdana" panose="020B0604030504040204" charset="0"/>
                <a:ea typeface="Verdana" panose="020B0604030504040204" charset="0"/>
              </a:rPr>
              <a:t>Smart Thermostat Dataset          </a:t>
            </a:r>
            <a:r>
              <a:rPr lang="en-US" sz="1700" dirty="0"/>
              <a:t>           </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112734"/>
            <a:ext cx="8911687" cy="864296"/>
          </a:xfrm>
        </p:spPr>
        <p:txBody>
          <a:bodyPr/>
          <a:lstStyle/>
          <a:p>
            <a:r>
              <a:rPr lang="en-US" b="1" dirty="0">
                <a:solidFill>
                  <a:schemeClr val="bg1"/>
                </a:solidFill>
                <a:latin typeface="Verdana" panose="020B0604030504040204" charset="0"/>
                <a:ea typeface="Verdana" panose="020B0604030504040204" charset="0"/>
              </a:rPr>
              <a:t>Accuracy Of Algorithm</a:t>
            </a:r>
            <a:endParaRPr lang="en-US" b="1" dirty="0">
              <a:solidFill>
                <a:schemeClr val="bg1"/>
              </a:solidFill>
              <a:latin typeface="Verdana" panose="020B0604030504040204" charset="0"/>
              <a:ea typeface="Verdana" panose="020B0604030504040204" charset="0"/>
            </a:endParaRPr>
          </a:p>
        </p:txBody>
      </p:sp>
      <p:pic>
        <p:nvPicPr>
          <p:cNvPr id="4" name="Content Placeholder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079321" y="1320006"/>
            <a:ext cx="9607463" cy="5181002"/>
          </a:xfr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100209"/>
            <a:ext cx="8911687" cy="814192"/>
          </a:xfrm>
        </p:spPr>
        <p:txBody>
          <a:bodyPr/>
          <a:lstStyle/>
          <a:p>
            <a:r>
              <a:rPr lang="en-US" b="1" dirty="0">
                <a:solidFill>
                  <a:schemeClr val="bg1"/>
                </a:solidFill>
                <a:latin typeface="Verdana" panose="020B0604030504040204" charset="0"/>
                <a:ea typeface="Verdana" panose="020B0604030504040204" charset="0"/>
              </a:rPr>
              <a:t>Classification Report on Test Data</a:t>
            </a:r>
            <a:endParaRPr lang="en-US" b="1" dirty="0">
              <a:solidFill>
                <a:schemeClr val="bg1"/>
              </a:solidFill>
              <a:latin typeface="Verdana" panose="020B0604030504040204" charset="0"/>
              <a:ea typeface="Verdana" panose="020B0604030504040204" charset="0"/>
            </a:endParaRPr>
          </a:p>
        </p:txBody>
      </p:sp>
      <p:pic>
        <p:nvPicPr>
          <p:cNvPr id="4" name="Content Placeholder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920875" y="719455"/>
            <a:ext cx="10109835" cy="5908040"/>
          </a:xfr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0937" y="2133600"/>
            <a:ext cx="11053675" cy="4724400"/>
          </a:xfrm>
        </p:spPr>
        <p:txBody>
          <a:bodyPr>
            <a:normAutofit/>
          </a:bodyPr>
          <a:lstStyle/>
          <a:p>
            <a:pPr algn="just"/>
            <a:endParaRPr lang="en-US" sz="1700" dirty="0">
              <a:solidFill>
                <a:schemeClr val="bg1"/>
              </a:solidFill>
              <a:latin typeface="Verdana" panose="020B0604030504040204" charset="0"/>
              <a:ea typeface="Verdana" panose="020B0604030504040204" charset="0"/>
            </a:endParaRPr>
          </a:p>
          <a:p>
            <a:pPr algn="just"/>
            <a:endParaRPr lang="en-US" sz="1700" dirty="0">
              <a:solidFill>
                <a:schemeClr val="bg1"/>
              </a:solidFill>
              <a:latin typeface="Verdana" panose="020B0604030504040204" charset="0"/>
              <a:ea typeface="Verdana" panose="020B0604030504040204" charset="0"/>
            </a:endParaRPr>
          </a:p>
          <a:p>
            <a:pPr algn="just"/>
            <a:endParaRPr lang="en-US" sz="1700" dirty="0">
              <a:solidFill>
                <a:schemeClr val="bg1"/>
              </a:solidFill>
              <a:latin typeface="Verdana" panose="020B0604030504040204" charset="0"/>
              <a:ea typeface="Verdana" panose="020B0604030504040204" charset="0"/>
            </a:endParaRPr>
          </a:p>
          <a:p>
            <a:pPr algn="just"/>
            <a:endParaRPr lang="en-US" sz="1700" dirty="0">
              <a:solidFill>
                <a:schemeClr val="bg1"/>
              </a:solidFill>
              <a:latin typeface="Verdana" panose="020B0604030504040204" charset="0"/>
              <a:ea typeface="Verdana" panose="020B0604030504040204" charset="0"/>
            </a:endParaRPr>
          </a:p>
          <a:p>
            <a:pPr algn="just"/>
            <a:endParaRPr lang="en-US" sz="1700" dirty="0">
              <a:solidFill>
                <a:schemeClr val="bg1"/>
              </a:solidFill>
              <a:latin typeface="Verdana" panose="020B0604030504040204" charset="0"/>
              <a:ea typeface="Verdana" panose="020B0604030504040204" charset="0"/>
            </a:endParaRPr>
          </a:p>
          <a:p>
            <a:pPr algn="just"/>
            <a:endParaRPr lang="en-US" sz="1700" dirty="0">
              <a:solidFill>
                <a:schemeClr val="bg1"/>
              </a:solidFill>
              <a:latin typeface="Verdana" panose="020B0604030504040204" charset="0"/>
              <a:ea typeface="Verdana" panose="020B0604030504040204" charset="0"/>
            </a:endParaRPr>
          </a:p>
          <a:p>
            <a:pPr algn="just"/>
            <a:endParaRPr lang="en-US" sz="1700" dirty="0">
              <a:solidFill>
                <a:schemeClr val="bg1"/>
              </a:solidFill>
              <a:latin typeface="Verdana" panose="020B0604030504040204" charset="0"/>
              <a:ea typeface="Verdana" panose="020B0604030504040204" charset="0"/>
            </a:endParaRPr>
          </a:p>
          <a:p>
            <a:pPr algn="just"/>
            <a:endParaRPr lang="en-US" sz="1700" dirty="0">
              <a:solidFill>
                <a:schemeClr val="bg1"/>
              </a:solidFill>
              <a:latin typeface="Verdana" panose="020B0604030504040204" charset="0"/>
              <a:ea typeface="Verdana" panose="020B0604030504040204" charset="0"/>
            </a:endParaRPr>
          </a:p>
          <a:p>
            <a:pPr marL="0" indent="0" algn="just">
              <a:buNone/>
            </a:pPr>
            <a:endParaRPr lang="en-US" sz="1700" dirty="0">
              <a:solidFill>
                <a:schemeClr val="bg1"/>
              </a:solidFill>
              <a:latin typeface="Verdana" panose="020B0604030504040204" charset="0"/>
              <a:ea typeface="Verdana" panose="020B0604030504040204" charset="0"/>
            </a:endParaRPr>
          </a:p>
          <a:p>
            <a:pPr marL="0" indent="0" algn="just">
              <a:buNone/>
            </a:pPr>
            <a:r>
              <a:rPr lang="en-US" sz="1700" dirty="0">
                <a:solidFill>
                  <a:schemeClr val="bg1"/>
                </a:solidFill>
                <a:latin typeface="Verdana" panose="020B0604030504040204" charset="0"/>
                <a:ea typeface="Verdana" panose="020B0604030504040204" charset="0"/>
              </a:rPr>
              <a:t>This graph compares the accuracy of Decision Tree, Random Forest, KNN, LSTM, and Neural Network across three datasets. Random Forest and Decision Tree consistently achieve high accuracy, while LSTM shows lower accuracy on the </a:t>
            </a:r>
            <a:r>
              <a:rPr lang="en-US" sz="1700" dirty="0" err="1">
                <a:solidFill>
                  <a:schemeClr val="bg1"/>
                </a:solidFill>
                <a:latin typeface="Verdana" panose="020B0604030504040204" charset="0"/>
                <a:ea typeface="Verdana" panose="020B0604030504040204" charset="0"/>
              </a:rPr>
              <a:t>SmartThermostat</a:t>
            </a:r>
            <a:r>
              <a:rPr lang="en-US" sz="1700" dirty="0">
                <a:solidFill>
                  <a:schemeClr val="bg1"/>
                </a:solidFill>
                <a:latin typeface="Verdana" panose="020B0604030504040204" charset="0"/>
                <a:ea typeface="Verdana" panose="020B0604030504040204" charset="0"/>
              </a:rPr>
              <a:t> dataset. Neural Network and KNN display stable performance with minor variations.</a:t>
            </a:r>
            <a:endParaRPr lang="en-US" sz="1700" dirty="0">
              <a:solidFill>
                <a:schemeClr val="bg1"/>
              </a:solidFill>
              <a:latin typeface="Verdana" panose="020B0604030504040204" charset="0"/>
              <a:ea typeface="Verdana" panose="020B0604030504040204" charset="0"/>
            </a:endParaRPr>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64088" y="663877"/>
            <a:ext cx="11277600" cy="492272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1562" y="2133599"/>
            <a:ext cx="11110586" cy="4605403"/>
          </a:xfrm>
        </p:spPr>
        <p:txBody>
          <a:bodyPr>
            <a:normAutofit/>
          </a:bodyPr>
          <a:lstStyle/>
          <a:p>
            <a:pPr algn="just"/>
            <a:endParaRPr lang="en-US" sz="1700" dirty="0">
              <a:solidFill>
                <a:schemeClr val="bg1"/>
              </a:solidFill>
              <a:latin typeface="Verdana" panose="020B0604030504040204" charset="0"/>
              <a:ea typeface="Verdana" panose="020B0604030504040204" charset="0"/>
            </a:endParaRPr>
          </a:p>
          <a:p>
            <a:pPr algn="just"/>
            <a:endParaRPr lang="en-US" sz="1700" dirty="0">
              <a:solidFill>
                <a:schemeClr val="bg1"/>
              </a:solidFill>
              <a:latin typeface="Verdana" panose="020B0604030504040204" charset="0"/>
              <a:ea typeface="Verdana" panose="020B0604030504040204" charset="0"/>
            </a:endParaRPr>
          </a:p>
          <a:p>
            <a:pPr algn="just"/>
            <a:endParaRPr lang="en-US" sz="1700" dirty="0">
              <a:solidFill>
                <a:schemeClr val="bg1"/>
              </a:solidFill>
              <a:latin typeface="Verdana" panose="020B0604030504040204" charset="0"/>
              <a:ea typeface="Verdana" panose="020B0604030504040204" charset="0"/>
            </a:endParaRPr>
          </a:p>
          <a:p>
            <a:pPr algn="just"/>
            <a:endParaRPr lang="en-US" sz="1700" dirty="0">
              <a:solidFill>
                <a:schemeClr val="bg1"/>
              </a:solidFill>
              <a:latin typeface="Verdana" panose="020B0604030504040204" charset="0"/>
              <a:ea typeface="Verdana" panose="020B0604030504040204" charset="0"/>
            </a:endParaRPr>
          </a:p>
          <a:p>
            <a:pPr algn="just"/>
            <a:endParaRPr lang="en-US" sz="1700" dirty="0">
              <a:solidFill>
                <a:schemeClr val="bg1"/>
              </a:solidFill>
              <a:latin typeface="Verdana" panose="020B0604030504040204" charset="0"/>
              <a:ea typeface="Verdana" panose="020B0604030504040204" charset="0"/>
            </a:endParaRPr>
          </a:p>
          <a:p>
            <a:pPr algn="just"/>
            <a:endParaRPr lang="en-US" sz="1700" dirty="0">
              <a:solidFill>
                <a:schemeClr val="bg1"/>
              </a:solidFill>
              <a:latin typeface="Verdana" panose="020B0604030504040204" charset="0"/>
              <a:ea typeface="Verdana" panose="020B0604030504040204" charset="0"/>
            </a:endParaRPr>
          </a:p>
          <a:p>
            <a:pPr algn="just"/>
            <a:endParaRPr lang="en-US" sz="1700" dirty="0">
              <a:solidFill>
                <a:schemeClr val="bg1"/>
              </a:solidFill>
              <a:latin typeface="Verdana" panose="020B0604030504040204" charset="0"/>
              <a:ea typeface="Verdana" panose="020B0604030504040204" charset="0"/>
            </a:endParaRPr>
          </a:p>
          <a:p>
            <a:pPr marL="0" indent="0" algn="just">
              <a:buNone/>
            </a:pPr>
            <a:endParaRPr lang="en-US" sz="1700" dirty="0">
              <a:solidFill>
                <a:schemeClr val="bg1"/>
              </a:solidFill>
              <a:latin typeface="Verdana" panose="020B0604030504040204" charset="0"/>
              <a:ea typeface="Verdana" panose="020B0604030504040204" charset="0"/>
            </a:endParaRPr>
          </a:p>
          <a:p>
            <a:pPr algn="just"/>
            <a:endParaRPr lang="en-US" sz="1700" dirty="0">
              <a:solidFill>
                <a:schemeClr val="bg1"/>
              </a:solidFill>
              <a:latin typeface="Verdana" panose="020B0604030504040204" charset="0"/>
              <a:ea typeface="Verdana" panose="020B0604030504040204" charset="0"/>
            </a:endParaRPr>
          </a:p>
          <a:p>
            <a:pPr algn="just"/>
            <a:r>
              <a:rPr lang="en-US" sz="1700" dirty="0">
                <a:solidFill>
                  <a:schemeClr val="bg1"/>
                </a:solidFill>
                <a:latin typeface="Verdana" panose="020B0604030504040204" charset="0"/>
                <a:ea typeface="Verdana" panose="020B0604030504040204" charset="0"/>
              </a:rPr>
              <a:t>This graph shows the time taken by different algorithms as dataset size increases. Decision Tree and Random Forest are the most efficient, with minimal time increases. KNN and Neural Network require more time, especially on larger datasets, while LSTM shows the steepest time increase, indicating higher computational costs.</a:t>
            </a:r>
            <a:endParaRPr lang="en-US" sz="1700" dirty="0">
              <a:solidFill>
                <a:schemeClr val="bg1"/>
              </a:solidFill>
              <a:latin typeface="Verdana" panose="020B0604030504040204" charset="0"/>
              <a:ea typeface="Verdana" panose="020B0604030504040204" charset="0"/>
            </a:endParaRPr>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76197" y="576197"/>
            <a:ext cx="11336055" cy="478161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3879" y="2133599"/>
            <a:ext cx="11398685" cy="4630455"/>
          </a:xfrm>
        </p:spPr>
        <p:txBody>
          <a:bodyPr>
            <a:normAutofit/>
          </a:bodyPr>
          <a:lstStyle/>
          <a:p>
            <a:pPr algn="just"/>
            <a:endParaRPr lang="en-US" sz="1700" dirty="0">
              <a:solidFill>
                <a:schemeClr val="bg1"/>
              </a:solidFill>
              <a:latin typeface="Verdana" panose="020B0604030504040204" charset="0"/>
              <a:ea typeface="Verdana" panose="020B0604030504040204" charset="0"/>
            </a:endParaRPr>
          </a:p>
          <a:p>
            <a:pPr algn="just"/>
            <a:endParaRPr lang="en-US" sz="1700" dirty="0">
              <a:solidFill>
                <a:schemeClr val="bg1"/>
              </a:solidFill>
              <a:latin typeface="Verdana" panose="020B0604030504040204" charset="0"/>
              <a:ea typeface="Verdana" panose="020B0604030504040204" charset="0"/>
            </a:endParaRPr>
          </a:p>
          <a:p>
            <a:pPr algn="just"/>
            <a:endParaRPr lang="en-US" sz="1700" dirty="0">
              <a:solidFill>
                <a:schemeClr val="bg1"/>
              </a:solidFill>
              <a:latin typeface="Verdana" panose="020B0604030504040204" charset="0"/>
              <a:ea typeface="Verdana" panose="020B0604030504040204" charset="0"/>
            </a:endParaRPr>
          </a:p>
          <a:p>
            <a:pPr algn="just"/>
            <a:endParaRPr lang="en-US" sz="1700" dirty="0">
              <a:solidFill>
                <a:schemeClr val="bg1"/>
              </a:solidFill>
              <a:latin typeface="Verdana" panose="020B0604030504040204" charset="0"/>
              <a:ea typeface="Verdana" panose="020B0604030504040204" charset="0"/>
            </a:endParaRPr>
          </a:p>
          <a:p>
            <a:pPr algn="just"/>
            <a:endParaRPr lang="en-US" sz="1700" dirty="0">
              <a:solidFill>
                <a:schemeClr val="bg1"/>
              </a:solidFill>
              <a:latin typeface="Verdana" panose="020B0604030504040204" charset="0"/>
              <a:ea typeface="Verdana" panose="020B0604030504040204" charset="0"/>
            </a:endParaRPr>
          </a:p>
          <a:p>
            <a:pPr algn="just"/>
            <a:endParaRPr lang="en-US" sz="1700" dirty="0">
              <a:solidFill>
                <a:schemeClr val="bg1"/>
              </a:solidFill>
              <a:latin typeface="Verdana" panose="020B0604030504040204" charset="0"/>
              <a:ea typeface="Verdana" panose="020B0604030504040204" charset="0"/>
            </a:endParaRPr>
          </a:p>
          <a:p>
            <a:pPr algn="just"/>
            <a:endParaRPr lang="en-US" sz="1700" dirty="0">
              <a:solidFill>
                <a:schemeClr val="bg1"/>
              </a:solidFill>
              <a:latin typeface="Verdana" panose="020B0604030504040204" charset="0"/>
              <a:ea typeface="Verdana" panose="020B0604030504040204" charset="0"/>
            </a:endParaRPr>
          </a:p>
          <a:p>
            <a:pPr marL="0" indent="0" algn="just">
              <a:buNone/>
            </a:pPr>
            <a:endParaRPr lang="en-US" sz="1700" dirty="0">
              <a:solidFill>
                <a:schemeClr val="bg1"/>
              </a:solidFill>
              <a:latin typeface="Verdana" panose="020B0604030504040204" charset="0"/>
              <a:ea typeface="Verdana" panose="020B0604030504040204" charset="0"/>
            </a:endParaRPr>
          </a:p>
          <a:p>
            <a:pPr algn="just"/>
            <a:endParaRPr lang="en-US" sz="1700" dirty="0">
              <a:solidFill>
                <a:schemeClr val="bg1"/>
              </a:solidFill>
              <a:latin typeface="Verdana" panose="020B0604030504040204" charset="0"/>
              <a:ea typeface="Verdana" panose="020B0604030504040204" charset="0"/>
            </a:endParaRPr>
          </a:p>
          <a:p>
            <a:pPr algn="just"/>
            <a:r>
              <a:rPr lang="en-US" sz="1700" dirty="0">
                <a:solidFill>
                  <a:schemeClr val="bg1"/>
                </a:solidFill>
                <a:latin typeface="Verdana" panose="020B0604030504040204" charset="0"/>
                <a:ea typeface="Verdana" panose="020B0604030504040204" charset="0"/>
              </a:rPr>
              <a:t>The graph compares five algorithms across three datasets using AUC, F1-Score, and Recall. Each algorithm's performance is shown with different line styles. The Y-axis displays scores from 0.88 to 0.99, and LSTM performs the best overall.</a:t>
            </a:r>
            <a:endParaRPr lang="en-US" sz="1700" dirty="0">
              <a:solidFill>
                <a:schemeClr val="bg1"/>
              </a:solidFill>
              <a:latin typeface="Verdana" panose="020B0604030504040204" charset="0"/>
              <a:ea typeface="Verdana" panose="020B0604030504040204" charset="0"/>
            </a:endParaRPr>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48639" y="638827"/>
            <a:ext cx="11348581" cy="494778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0"/>
            <a:ext cx="8911687" cy="876822"/>
          </a:xfrm>
        </p:spPr>
        <p:txBody>
          <a:bodyPr/>
          <a:lstStyle/>
          <a:p>
            <a:r>
              <a:rPr lang="en-US" b="1" dirty="0">
                <a:solidFill>
                  <a:schemeClr val="bg1"/>
                </a:solidFill>
                <a:latin typeface="Verdana" panose="020B0604030504040204" charset="0"/>
                <a:ea typeface="Verdana" panose="020B0604030504040204" charset="0"/>
              </a:rPr>
              <a:t>Introduction to </a:t>
            </a:r>
            <a:r>
              <a:rPr lang="en-US" b="1" dirty="0" err="1">
                <a:solidFill>
                  <a:schemeClr val="bg1"/>
                </a:solidFill>
                <a:latin typeface="Verdana" panose="020B0604030504040204" charset="0"/>
                <a:ea typeface="Verdana" panose="020B0604030504040204" charset="0"/>
              </a:rPr>
              <a:t>Wireshark</a:t>
            </a:r>
            <a:endParaRPr lang="en-US" b="1" dirty="0">
              <a:solidFill>
                <a:schemeClr val="bg1"/>
              </a:solidFill>
              <a:latin typeface="Verdana" panose="020B0604030504040204" charset="0"/>
              <a:ea typeface="Verdana" panose="020B0604030504040204" charset="0"/>
            </a:endParaRPr>
          </a:p>
        </p:txBody>
      </p:sp>
      <p:sp>
        <p:nvSpPr>
          <p:cNvPr id="3" name="Content Placeholder 2"/>
          <p:cNvSpPr>
            <a:spLocks noGrp="1"/>
          </p:cNvSpPr>
          <p:nvPr>
            <p:ph idx="1"/>
          </p:nvPr>
        </p:nvSpPr>
        <p:spPr>
          <a:xfrm>
            <a:off x="1816274" y="814192"/>
            <a:ext cx="9688338" cy="5674290"/>
          </a:xfrm>
        </p:spPr>
        <p:txBody>
          <a:bodyPr>
            <a:noAutofit/>
          </a:bodyPr>
          <a:lstStyle/>
          <a:p>
            <a:pPr marL="0" indent="0" algn="just">
              <a:buNone/>
            </a:pPr>
            <a:r>
              <a:rPr lang="en-US" sz="1700" dirty="0" err="1">
                <a:solidFill>
                  <a:schemeClr val="bg1"/>
                </a:solidFill>
                <a:latin typeface="Verdana" panose="020B0604030504040204" charset="0"/>
                <a:ea typeface="Verdana" panose="020B0604030504040204" charset="0"/>
              </a:rPr>
              <a:t>Wireshark</a:t>
            </a:r>
            <a:r>
              <a:rPr lang="en-US" sz="1700" dirty="0">
                <a:solidFill>
                  <a:schemeClr val="bg1"/>
                </a:solidFill>
                <a:latin typeface="Verdana" panose="020B0604030504040204" charset="0"/>
                <a:ea typeface="Verdana" panose="020B0604030504040204" charset="0"/>
              </a:rPr>
              <a:t> is a widely-used network protocol analyzer that allows users to capture, inspect, and analyze network traffic in real-time. It is a powerful tool for network troubleshooting, analysis, software and protocol development, and education.</a:t>
            </a:r>
            <a:endParaRPr lang="en-US" sz="1700" dirty="0">
              <a:solidFill>
                <a:schemeClr val="bg1"/>
              </a:solidFill>
              <a:latin typeface="Verdana" panose="020B0604030504040204" charset="0"/>
              <a:ea typeface="Verdana" panose="020B0604030504040204" charset="0"/>
            </a:endParaRPr>
          </a:p>
          <a:p>
            <a:pPr algn="just"/>
            <a:r>
              <a:rPr lang="en-US" sz="1700" b="1" dirty="0">
                <a:solidFill>
                  <a:schemeClr val="bg1"/>
                </a:solidFill>
                <a:latin typeface="Verdana" panose="020B0604030504040204" charset="0"/>
                <a:ea typeface="Verdana" panose="020B0604030504040204" charset="0"/>
              </a:rPr>
              <a:t>Key Features:</a:t>
            </a:r>
            <a:endParaRPr lang="en-US" sz="1700" b="1" dirty="0">
              <a:solidFill>
                <a:schemeClr val="bg1"/>
              </a:solidFill>
              <a:latin typeface="Verdana" panose="020B0604030504040204" charset="0"/>
              <a:ea typeface="Verdana" panose="020B0604030504040204" charset="0"/>
            </a:endParaRPr>
          </a:p>
          <a:p>
            <a:pPr algn="just">
              <a:buFont typeface="Wingdings" panose="05000000000000000000" pitchFamily="2" charset="2"/>
              <a:buChar char="§"/>
            </a:pPr>
            <a:r>
              <a:rPr lang="en-US" sz="1700" b="1" dirty="0">
                <a:solidFill>
                  <a:schemeClr val="bg1"/>
                </a:solidFill>
                <a:latin typeface="Verdana" panose="020B0604030504040204" charset="0"/>
                <a:ea typeface="Verdana" panose="020B0604030504040204" charset="0"/>
              </a:rPr>
              <a:t>Packet Capture</a:t>
            </a:r>
            <a:r>
              <a:rPr lang="en-US" sz="1700" dirty="0">
                <a:solidFill>
                  <a:schemeClr val="bg1"/>
                </a:solidFill>
                <a:latin typeface="Verdana" panose="020B0604030504040204" charset="0"/>
                <a:ea typeface="Verdana" panose="020B0604030504040204" charset="0"/>
              </a:rPr>
              <a:t>: </a:t>
            </a:r>
            <a:r>
              <a:rPr lang="en-US" sz="1700" dirty="0" err="1">
                <a:solidFill>
                  <a:schemeClr val="bg1"/>
                </a:solidFill>
                <a:latin typeface="Verdana" panose="020B0604030504040204" charset="0"/>
                <a:ea typeface="Verdana" panose="020B0604030504040204" charset="0"/>
              </a:rPr>
              <a:t>Wireshark</a:t>
            </a:r>
            <a:r>
              <a:rPr lang="en-US" sz="1700" dirty="0">
                <a:solidFill>
                  <a:schemeClr val="bg1"/>
                </a:solidFill>
                <a:latin typeface="Verdana" panose="020B0604030504040204" charset="0"/>
                <a:ea typeface="Verdana" panose="020B0604030504040204" charset="0"/>
              </a:rPr>
              <a:t> captures data from live network traffic or reads from previously saved capture files.</a:t>
            </a:r>
            <a:endParaRPr lang="en-US" sz="1700" dirty="0">
              <a:solidFill>
                <a:schemeClr val="bg1"/>
              </a:solidFill>
              <a:latin typeface="Verdana" panose="020B0604030504040204" charset="0"/>
              <a:ea typeface="Verdana" panose="020B0604030504040204" charset="0"/>
            </a:endParaRPr>
          </a:p>
          <a:p>
            <a:pPr algn="just">
              <a:buFont typeface="Wingdings" panose="05000000000000000000" pitchFamily="2" charset="2"/>
              <a:buChar char="§"/>
            </a:pPr>
            <a:r>
              <a:rPr lang="en-US" sz="1700" b="1" dirty="0">
                <a:solidFill>
                  <a:schemeClr val="bg1"/>
                </a:solidFill>
                <a:latin typeface="Verdana" panose="020B0604030504040204" charset="0"/>
                <a:ea typeface="Verdana" panose="020B0604030504040204" charset="0"/>
              </a:rPr>
              <a:t>Detailed Analysis</a:t>
            </a:r>
            <a:r>
              <a:rPr lang="en-US" sz="1700" dirty="0">
                <a:solidFill>
                  <a:schemeClr val="bg1"/>
                </a:solidFill>
                <a:latin typeface="Verdana" panose="020B0604030504040204" charset="0"/>
                <a:ea typeface="Verdana" panose="020B0604030504040204" charset="0"/>
              </a:rPr>
              <a:t>: It provides detailed information about each packet, including headers, payloads, and protocol-specific details.</a:t>
            </a:r>
            <a:endParaRPr lang="en-US" sz="1700" dirty="0">
              <a:solidFill>
                <a:schemeClr val="bg1"/>
              </a:solidFill>
              <a:latin typeface="Verdana" panose="020B0604030504040204" charset="0"/>
              <a:ea typeface="Verdana" panose="020B0604030504040204" charset="0"/>
            </a:endParaRPr>
          </a:p>
          <a:p>
            <a:pPr algn="just">
              <a:buFont typeface="Wingdings" panose="05000000000000000000" pitchFamily="2" charset="2"/>
              <a:buChar char="§"/>
            </a:pPr>
            <a:r>
              <a:rPr lang="en-US" sz="1700" b="1" dirty="0">
                <a:solidFill>
                  <a:schemeClr val="bg1"/>
                </a:solidFill>
                <a:latin typeface="Verdana" panose="020B0604030504040204" charset="0"/>
                <a:ea typeface="Verdana" panose="020B0604030504040204" charset="0"/>
              </a:rPr>
              <a:t>Filtering</a:t>
            </a:r>
            <a:r>
              <a:rPr lang="en-US" sz="1700" dirty="0">
                <a:solidFill>
                  <a:schemeClr val="bg1"/>
                </a:solidFill>
                <a:latin typeface="Verdana" panose="020B0604030504040204" charset="0"/>
                <a:ea typeface="Verdana" panose="020B0604030504040204" charset="0"/>
              </a:rPr>
              <a:t>: Users can apply display and capture filters to isolate specific types of traffic, making analysis more manageable.</a:t>
            </a:r>
            <a:endParaRPr lang="en-US" sz="1700" dirty="0">
              <a:solidFill>
                <a:schemeClr val="bg1"/>
              </a:solidFill>
              <a:latin typeface="Verdana" panose="020B0604030504040204" charset="0"/>
              <a:ea typeface="Verdana" panose="020B0604030504040204" charset="0"/>
            </a:endParaRPr>
          </a:p>
          <a:p>
            <a:pPr algn="just">
              <a:buFont typeface="Wingdings" panose="05000000000000000000" pitchFamily="2" charset="2"/>
              <a:buChar char="§"/>
            </a:pPr>
            <a:r>
              <a:rPr lang="en-US" sz="1700" b="1" dirty="0">
                <a:solidFill>
                  <a:schemeClr val="bg1"/>
                </a:solidFill>
                <a:latin typeface="Verdana" panose="020B0604030504040204" charset="0"/>
                <a:ea typeface="Verdana" panose="020B0604030504040204" charset="0"/>
              </a:rPr>
              <a:t>Protocol Support</a:t>
            </a:r>
            <a:r>
              <a:rPr lang="en-US" sz="1700" dirty="0">
                <a:solidFill>
                  <a:schemeClr val="bg1"/>
                </a:solidFill>
                <a:latin typeface="Verdana" panose="020B0604030504040204" charset="0"/>
                <a:ea typeface="Verdana" panose="020B0604030504040204" charset="0"/>
              </a:rPr>
              <a:t>: </a:t>
            </a:r>
            <a:r>
              <a:rPr lang="en-US" sz="1700" dirty="0" err="1">
                <a:solidFill>
                  <a:schemeClr val="bg1"/>
                </a:solidFill>
                <a:latin typeface="Verdana" panose="020B0604030504040204" charset="0"/>
                <a:ea typeface="Verdana" panose="020B0604030504040204" charset="0"/>
              </a:rPr>
              <a:t>Wireshark</a:t>
            </a:r>
            <a:r>
              <a:rPr lang="en-US" sz="1700" dirty="0">
                <a:solidFill>
                  <a:schemeClr val="bg1"/>
                </a:solidFill>
                <a:latin typeface="Verdana" panose="020B0604030504040204" charset="0"/>
                <a:ea typeface="Verdana" panose="020B0604030504040204" charset="0"/>
              </a:rPr>
              <a:t> supports a wide range of network protocols, allowing it to dissect and interpret a variety of network communications.</a:t>
            </a:r>
            <a:endParaRPr lang="en-US" sz="1700" dirty="0">
              <a:solidFill>
                <a:schemeClr val="bg1"/>
              </a:solidFill>
              <a:latin typeface="Verdana" panose="020B0604030504040204" charset="0"/>
              <a:ea typeface="Verdana" panose="020B0604030504040204" charset="0"/>
            </a:endParaRPr>
          </a:p>
          <a:p>
            <a:pPr algn="just">
              <a:buFont typeface="Wingdings" panose="05000000000000000000" pitchFamily="2" charset="2"/>
              <a:buChar char="§"/>
            </a:pPr>
            <a:r>
              <a:rPr lang="en-US" sz="1700" b="1" dirty="0">
                <a:solidFill>
                  <a:schemeClr val="bg1"/>
                </a:solidFill>
                <a:latin typeface="Verdana" panose="020B0604030504040204" charset="0"/>
                <a:ea typeface="Verdana" panose="020B0604030504040204" charset="0"/>
              </a:rPr>
              <a:t>Graphical User Interface (GUI)</a:t>
            </a:r>
            <a:r>
              <a:rPr lang="en-US" sz="1700" dirty="0">
                <a:solidFill>
                  <a:schemeClr val="bg1"/>
                </a:solidFill>
                <a:latin typeface="Verdana" panose="020B0604030504040204" charset="0"/>
                <a:ea typeface="Verdana" panose="020B0604030504040204" charset="0"/>
              </a:rPr>
              <a:t>: </a:t>
            </a:r>
            <a:r>
              <a:rPr lang="en-US" sz="1700" dirty="0" err="1">
                <a:solidFill>
                  <a:schemeClr val="bg1"/>
                </a:solidFill>
                <a:latin typeface="Verdana" panose="020B0604030504040204" charset="0"/>
                <a:ea typeface="Verdana" panose="020B0604030504040204" charset="0"/>
              </a:rPr>
              <a:t>Wireshark</a:t>
            </a:r>
            <a:r>
              <a:rPr lang="en-US" sz="1700" dirty="0">
                <a:solidFill>
                  <a:schemeClr val="bg1"/>
                </a:solidFill>
                <a:latin typeface="Verdana" panose="020B0604030504040204" charset="0"/>
                <a:ea typeface="Verdana" panose="020B0604030504040204" charset="0"/>
              </a:rPr>
              <a:t> offers a user-friendly GUI that simplifies the process of examining complex data.</a:t>
            </a:r>
            <a:endParaRPr lang="en-US" sz="1700" dirty="0">
              <a:solidFill>
                <a:schemeClr val="bg1"/>
              </a:solidFill>
              <a:latin typeface="Verdana" panose="020B0604030504040204" charset="0"/>
              <a:ea typeface="Verdana" panose="020B0604030504040204" charset="0"/>
            </a:endParaRPr>
          </a:p>
          <a:p>
            <a:pPr marL="0" indent="0" algn="just">
              <a:buNone/>
            </a:pPr>
            <a:r>
              <a:rPr lang="en-US" sz="1700" dirty="0" err="1">
                <a:solidFill>
                  <a:schemeClr val="bg1"/>
                </a:solidFill>
                <a:latin typeface="Verdana" panose="020B0604030504040204" charset="0"/>
                <a:ea typeface="Verdana" panose="020B0604030504040204" charset="0"/>
              </a:rPr>
              <a:t>Wireshark</a:t>
            </a:r>
            <a:r>
              <a:rPr lang="en-US" sz="1700" dirty="0">
                <a:solidFill>
                  <a:schemeClr val="bg1"/>
                </a:solidFill>
                <a:latin typeface="Verdana" panose="020B0604030504040204" charset="0"/>
                <a:ea typeface="Verdana" panose="020B0604030504040204" charset="0"/>
              </a:rPr>
              <a:t> is often used by network administrators, security analysts, and developers to diagnose network issues, monitor network performance, and detect security breaches. It is open-source and available for multiple platforms, including Windows, </a:t>
            </a:r>
            <a:r>
              <a:rPr lang="en-US" sz="1700" dirty="0" err="1">
                <a:solidFill>
                  <a:schemeClr val="bg1"/>
                </a:solidFill>
                <a:latin typeface="Verdana" panose="020B0604030504040204" charset="0"/>
                <a:ea typeface="Verdana" panose="020B0604030504040204" charset="0"/>
              </a:rPr>
              <a:t>macOS</a:t>
            </a:r>
            <a:r>
              <a:rPr lang="en-US" sz="1700" dirty="0">
                <a:solidFill>
                  <a:schemeClr val="bg1"/>
                </a:solidFill>
                <a:latin typeface="Verdana" panose="020B0604030504040204" charset="0"/>
                <a:ea typeface="Verdana" panose="020B0604030504040204" charset="0"/>
              </a:rPr>
              <a:t>, and Linux.</a:t>
            </a:r>
            <a:endParaRPr lang="en-US" sz="1700" dirty="0">
              <a:solidFill>
                <a:schemeClr val="bg1"/>
              </a:solidFill>
              <a:latin typeface="Verdana" panose="020B0604030504040204" charset="0"/>
              <a:ea typeface="Verdana" panose="020B0604030504040204" charset="0"/>
            </a:endParaRPr>
          </a:p>
          <a:p>
            <a:endParaRPr lang="en-US" sz="1700" dirty="0">
              <a:solidFill>
                <a:schemeClr val="bg1"/>
              </a:solidFill>
              <a:latin typeface="Verdana" panose="020B0604030504040204" charset="0"/>
              <a:ea typeface="Verdana" panose="020B0604030504040204" charset="0"/>
            </a:endParaRPr>
          </a:p>
          <a:p>
            <a:endParaRPr lang="en-US" sz="1700" dirty="0">
              <a:solidFill>
                <a:schemeClr val="bg1"/>
              </a:solidFill>
              <a:latin typeface="Verdana" panose="020B0604030504040204" charset="0"/>
              <a:ea typeface="Verdana" panose="020B0604030504040204" charset="0"/>
            </a:endParaRPr>
          </a:p>
          <a:p>
            <a:endParaRPr lang="en-US" sz="1700" dirty="0">
              <a:solidFill>
                <a:schemeClr val="bg1"/>
              </a:solidFill>
              <a:latin typeface="Verdana" panose="020B0604030504040204" charset="0"/>
              <a:ea typeface="Verdana" panose="020B06040305040402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87683"/>
            <a:ext cx="8911687" cy="776614"/>
          </a:xfrm>
        </p:spPr>
        <p:txBody>
          <a:bodyPr/>
          <a:lstStyle/>
          <a:p>
            <a:r>
              <a:rPr lang="en-US" b="1" dirty="0">
                <a:solidFill>
                  <a:schemeClr val="bg1"/>
                </a:solidFill>
                <a:latin typeface="Verdana" panose="020B0604030504040204" charset="0"/>
                <a:ea typeface="Verdana" panose="020B0604030504040204" charset="0"/>
              </a:rPr>
              <a:t>Purpose of </a:t>
            </a:r>
            <a:r>
              <a:rPr lang="en-US" b="1" dirty="0" err="1">
                <a:solidFill>
                  <a:schemeClr val="bg1"/>
                </a:solidFill>
                <a:latin typeface="Verdana" panose="020B0604030504040204" charset="0"/>
                <a:ea typeface="Verdana" panose="020B0604030504040204" charset="0"/>
              </a:rPr>
              <a:t>Wireshark</a:t>
            </a:r>
            <a:endParaRPr lang="en-US" b="1" dirty="0">
              <a:solidFill>
                <a:schemeClr val="bg1"/>
              </a:solidFill>
              <a:latin typeface="Verdana" panose="020B0604030504040204" charset="0"/>
              <a:ea typeface="Verdana" panose="020B0604030504040204" charset="0"/>
            </a:endParaRPr>
          </a:p>
        </p:txBody>
      </p:sp>
      <p:sp>
        <p:nvSpPr>
          <p:cNvPr id="3" name="Content Placeholder 2"/>
          <p:cNvSpPr>
            <a:spLocks noGrp="1"/>
          </p:cNvSpPr>
          <p:nvPr>
            <p:ph idx="1"/>
          </p:nvPr>
        </p:nvSpPr>
        <p:spPr>
          <a:xfrm>
            <a:off x="2004164" y="768263"/>
            <a:ext cx="9375187" cy="5369490"/>
          </a:xfrm>
        </p:spPr>
        <p:txBody>
          <a:bodyPr>
            <a:normAutofit lnSpcReduction="10000"/>
          </a:bodyPr>
          <a:lstStyle/>
          <a:p>
            <a:pPr algn="just">
              <a:buFont typeface="Wingdings" panose="05000000000000000000" pitchFamily="2" charset="2"/>
              <a:buChar char="§"/>
            </a:pPr>
            <a:r>
              <a:rPr lang="en-US" b="1" dirty="0">
                <a:solidFill>
                  <a:schemeClr val="bg1"/>
                </a:solidFill>
                <a:latin typeface="Verdana" panose="020B0604030504040204" charset="0"/>
                <a:ea typeface="Verdana" panose="020B0604030504040204" charset="0"/>
              </a:rPr>
              <a:t>Network Troubleshooting</a:t>
            </a:r>
            <a:r>
              <a:rPr lang="en-US" dirty="0">
                <a:solidFill>
                  <a:schemeClr val="bg1"/>
                </a:solidFill>
                <a:latin typeface="Verdana" panose="020B0604030504040204" charset="0"/>
                <a:ea typeface="Verdana" panose="020B0604030504040204" charset="0"/>
              </a:rPr>
              <a:t>: </a:t>
            </a:r>
            <a:r>
              <a:rPr lang="en-US" sz="1700" dirty="0" err="1">
                <a:solidFill>
                  <a:schemeClr val="bg1"/>
                </a:solidFill>
                <a:latin typeface="Verdana" panose="020B0604030504040204" charset="0"/>
                <a:ea typeface="Verdana" panose="020B0604030504040204" charset="0"/>
              </a:rPr>
              <a:t>Wireshark</a:t>
            </a:r>
            <a:r>
              <a:rPr lang="en-US" sz="1700" dirty="0">
                <a:solidFill>
                  <a:schemeClr val="bg1"/>
                </a:solidFill>
                <a:latin typeface="Verdana" panose="020B0604030504040204" charset="0"/>
                <a:ea typeface="Verdana" panose="020B0604030504040204" charset="0"/>
              </a:rPr>
              <a:t> helps network administrators identify and resolve network issues, such as connectivity problems, slow performance, or unusual traffic patterns.</a:t>
            </a:r>
            <a:endParaRPr lang="en-US" sz="1700" dirty="0">
              <a:solidFill>
                <a:schemeClr val="bg1"/>
              </a:solidFill>
              <a:latin typeface="Verdana" panose="020B0604030504040204" charset="0"/>
              <a:ea typeface="Verdana" panose="020B0604030504040204" charset="0"/>
            </a:endParaRPr>
          </a:p>
          <a:p>
            <a:pPr marL="0" indent="0" algn="just">
              <a:buNone/>
            </a:pPr>
            <a:endParaRPr lang="en-US" dirty="0">
              <a:solidFill>
                <a:schemeClr val="bg1"/>
              </a:solidFill>
              <a:latin typeface="Verdana" panose="020B0604030504040204" charset="0"/>
              <a:ea typeface="Verdana" panose="020B0604030504040204" charset="0"/>
            </a:endParaRPr>
          </a:p>
          <a:p>
            <a:pPr algn="just">
              <a:buFont typeface="Wingdings" panose="05000000000000000000" pitchFamily="2" charset="2"/>
              <a:buChar char="§"/>
            </a:pPr>
            <a:r>
              <a:rPr lang="en-US" b="1" dirty="0">
                <a:solidFill>
                  <a:schemeClr val="bg1"/>
                </a:solidFill>
                <a:latin typeface="Verdana" panose="020B0604030504040204" charset="0"/>
                <a:ea typeface="Verdana" panose="020B0604030504040204" charset="0"/>
              </a:rPr>
              <a:t>Protocol Analysis</a:t>
            </a:r>
            <a:r>
              <a:rPr lang="en-US" dirty="0">
                <a:solidFill>
                  <a:schemeClr val="bg1"/>
                </a:solidFill>
                <a:latin typeface="Verdana" panose="020B0604030504040204" charset="0"/>
                <a:ea typeface="Verdana" panose="020B0604030504040204" charset="0"/>
              </a:rPr>
              <a:t>: </a:t>
            </a:r>
            <a:r>
              <a:rPr lang="en-US" sz="1700" dirty="0">
                <a:solidFill>
                  <a:schemeClr val="bg1"/>
                </a:solidFill>
                <a:latin typeface="Verdana" panose="020B0604030504040204" charset="0"/>
                <a:ea typeface="Verdana" panose="020B0604030504040204" charset="0"/>
              </a:rPr>
              <a:t>It enables detailed examination of network protocols, helping developers understand how different protocols behave and interact, which is useful for debugging and improving network applications.</a:t>
            </a:r>
            <a:endParaRPr lang="en-US" sz="1700" dirty="0">
              <a:solidFill>
                <a:schemeClr val="bg1"/>
              </a:solidFill>
              <a:latin typeface="Verdana" panose="020B0604030504040204" charset="0"/>
              <a:ea typeface="Verdana" panose="020B0604030504040204" charset="0"/>
            </a:endParaRPr>
          </a:p>
          <a:p>
            <a:pPr marL="0" indent="0" algn="just">
              <a:buNone/>
            </a:pPr>
            <a:endParaRPr lang="en-US" dirty="0">
              <a:solidFill>
                <a:schemeClr val="bg1"/>
              </a:solidFill>
              <a:latin typeface="Verdana" panose="020B0604030504040204" charset="0"/>
              <a:ea typeface="Verdana" panose="020B0604030504040204" charset="0"/>
            </a:endParaRPr>
          </a:p>
          <a:p>
            <a:pPr algn="just">
              <a:buFont typeface="Wingdings" panose="05000000000000000000" pitchFamily="2" charset="2"/>
              <a:buChar char="§"/>
            </a:pPr>
            <a:r>
              <a:rPr lang="en-US" b="1" dirty="0">
                <a:solidFill>
                  <a:schemeClr val="bg1"/>
                </a:solidFill>
                <a:latin typeface="Verdana" panose="020B0604030504040204" charset="0"/>
                <a:ea typeface="Verdana" panose="020B0604030504040204" charset="0"/>
              </a:rPr>
              <a:t>Security Analysis</a:t>
            </a:r>
            <a:r>
              <a:rPr lang="en-US" dirty="0">
                <a:solidFill>
                  <a:schemeClr val="bg1"/>
                </a:solidFill>
                <a:latin typeface="Verdana" panose="020B0604030504040204" charset="0"/>
                <a:ea typeface="Verdana" panose="020B0604030504040204" charset="0"/>
              </a:rPr>
              <a:t>: </a:t>
            </a:r>
            <a:r>
              <a:rPr lang="en-US" sz="1700" dirty="0" err="1">
                <a:solidFill>
                  <a:schemeClr val="bg1"/>
                </a:solidFill>
                <a:latin typeface="Verdana" panose="020B0604030504040204" charset="0"/>
                <a:ea typeface="Verdana" panose="020B0604030504040204" charset="0"/>
              </a:rPr>
              <a:t>Wireshark</a:t>
            </a:r>
            <a:r>
              <a:rPr lang="en-US" sz="1700" dirty="0">
                <a:solidFill>
                  <a:schemeClr val="bg1"/>
                </a:solidFill>
                <a:latin typeface="Verdana" panose="020B0604030504040204" charset="0"/>
                <a:ea typeface="Verdana" panose="020B0604030504040204" charset="0"/>
              </a:rPr>
              <a:t> can be used to detect malicious activity, such as unauthorized access, data exfiltration, or network attacks, making it a valuable tool for security professionals.</a:t>
            </a:r>
            <a:endParaRPr lang="en-US" sz="1700" dirty="0">
              <a:solidFill>
                <a:schemeClr val="bg1"/>
              </a:solidFill>
              <a:latin typeface="Verdana" panose="020B0604030504040204" charset="0"/>
              <a:ea typeface="Verdana" panose="020B0604030504040204" charset="0"/>
            </a:endParaRPr>
          </a:p>
          <a:p>
            <a:pPr marL="0" indent="0" algn="just">
              <a:buNone/>
            </a:pPr>
            <a:endParaRPr lang="en-US" dirty="0">
              <a:solidFill>
                <a:schemeClr val="bg1"/>
              </a:solidFill>
              <a:latin typeface="Verdana" panose="020B0604030504040204" charset="0"/>
              <a:ea typeface="Verdana" panose="020B0604030504040204" charset="0"/>
            </a:endParaRPr>
          </a:p>
          <a:p>
            <a:pPr algn="just">
              <a:buFont typeface="Wingdings" panose="05000000000000000000" pitchFamily="2" charset="2"/>
              <a:buChar char="§"/>
            </a:pPr>
            <a:r>
              <a:rPr lang="en-US" b="1" dirty="0">
                <a:solidFill>
                  <a:schemeClr val="bg1"/>
                </a:solidFill>
                <a:latin typeface="Verdana" panose="020B0604030504040204" charset="0"/>
                <a:ea typeface="Verdana" panose="020B0604030504040204" charset="0"/>
              </a:rPr>
              <a:t>Education and Training</a:t>
            </a:r>
            <a:r>
              <a:rPr lang="en-US" dirty="0">
                <a:solidFill>
                  <a:schemeClr val="bg1"/>
                </a:solidFill>
                <a:latin typeface="Verdana" panose="020B0604030504040204" charset="0"/>
                <a:ea typeface="Verdana" panose="020B0604030504040204" charset="0"/>
              </a:rPr>
              <a:t>: </a:t>
            </a:r>
            <a:r>
              <a:rPr lang="en-US" sz="1700" dirty="0">
                <a:solidFill>
                  <a:schemeClr val="bg1"/>
                </a:solidFill>
                <a:latin typeface="Verdana" panose="020B0604030504040204" charset="0"/>
                <a:ea typeface="Verdana" panose="020B0604030504040204" charset="0"/>
              </a:rPr>
              <a:t>It is widely used in educational settings to teach students about networking concepts, protocols, and packet analysis.</a:t>
            </a:r>
            <a:endParaRPr lang="en-US" sz="1700" dirty="0">
              <a:solidFill>
                <a:schemeClr val="bg1"/>
              </a:solidFill>
              <a:latin typeface="Verdana" panose="020B0604030504040204" charset="0"/>
              <a:ea typeface="Verdana" panose="020B0604030504040204" charset="0"/>
            </a:endParaRPr>
          </a:p>
          <a:p>
            <a:pPr marL="0" indent="0" algn="just">
              <a:buNone/>
            </a:pPr>
            <a:endParaRPr lang="en-US" dirty="0">
              <a:solidFill>
                <a:schemeClr val="bg1"/>
              </a:solidFill>
              <a:latin typeface="Verdana" panose="020B0604030504040204" charset="0"/>
              <a:ea typeface="Verdana" panose="020B0604030504040204" charset="0"/>
            </a:endParaRPr>
          </a:p>
          <a:p>
            <a:pPr algn="just">
              <a:buFont typeface="Wingdings" panose="05000000000000000000" pitchFamily="2" charset="2"/>
              <a:buChar char="§"/>
            </a:pPr>
            <a:r>
              <a:rPr lang="en-US" b="1" dirty="0">
                <a:solidFill>
                  <a:schemeClr val="bg1"/>
                </a:solidFill>
                <a:latin typeface="Verdana" panose="020B0604030504040204" charset="0"/>
                <a:ea typeface="Verdana" panose="020B0604030504040204" charset="0"/>
              </a:rPr>
              <a:t>Compliance and Auditing</a:t>
            </a:r>
            <a:r>
              <a:rPr lang="en-US" dirty="0">
                <a:solidFill>
                  <a:schemeClr val="bg1"/>
                </a:solidFill>
                <a:latin typeface="Verdana" panose="020B0604030504040204" charset="0"/>
                <a:ea typeface="Verdana" panose="020B0604030504040204" charset="0"/>
              </a:rPr>
              <a:t>: </a:t>
            </a:r>
            <a:r>
              <a:rPr lang="en-US" sz="1700" dirty="0">
                <a:solidFill>
                  <a:schemeClr val="bg1"/>
                </a:solidFill>
                <a:latin typeface="Verdana" panose="020B0604030504040204" charset="0"/>
                <a:ea typeface="Verdana" panose="020B0604030504040204" charset="0"/>
              </a:rPr>
              <a:t>Organizations can use </a:t>
            </a:r>
            <a:r>
              <a:rPr lang="en-US" sz="1700" dirty="0" err="1">
                <a:solidFill>
                  <a:schemeClr val="bg1"/>
                </a:solidFill>
                <a:latin typeface="Verdana" panose="020B0604030504040204" charset="0"/>
                <a:ea typeface="Verdana" panose="020B0604030504040204" charset="0"/>
              </a:rPr>
              <a:t>Wireshark</a:t>
            </a:r>
            <a:r>
              <a:rPr lang="en-US" sz="1700" dirty="0">
                <a:solidFill>
                  <a:schemeClr val="bg1"/>
                </a:solidFill>
                <a:latin typeface="Verdana" panose="020B0604030504040204" charset="0"/>
                <a:ea typeface="Verdana" panose="020B0604030504040204" charset="0"/>
              </a:rPr>
              <a:t> to ensure network traffic complies with policies and regulatory requirements.</a:t>
            </a:r>
            <a:endParaRPr lang="en-US" sz="1700" dirty="0">
              <a:solidFill>
                <a:schemeClr val="bg1"/>
              </a:solidFill>
              <a:latin typeface="Verdana" panose="020B0604030504040204" charset="0"/>
              <a:ea typeface="Verdana" panose="020B0604030504040204" charset="0"/>
            </a:endParaRPr>
          </a:p>
          <a:p>
            <a:pPr algn="just"/>
            <a:endParaRPr lang="en-US" sz="1700" dirty="0">
              <a:solidFill>
                <a:schemeClr val="bg1"/>
              </a:solidFill>
              <a:latin typeface="Verdana" panose="020B0604030504040204" charset="0"/>
              <a:ea typeface="Verdana" panose="020B060403050404020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112734"/>
            <a:ext cx="8911687" cy="676406"/>
          </a:xfrm>
        </p:spPr>
        <p:txBody>
          <a:bodyPr/>
          <a:lstStyle/>
          <a:p>
            <a:r>
              <a:rPr lang="en-US" b="1" dirty="0">
                <a:solidFill>
                  <a:schemeClr val="bg1"/>
                </a:solidFill>
              </a:rPr>
              <a:t>Generate dataset in </a:t>
            </a:r>
            <a:r>
              <a:rPr lang="en-US" b="1" dirty="0" err="1">
                <a:solidFill>
                  <a:schemeClr val="bg1"/>
                </a:solidFill>
              </a:rPr>
              <a:t>Wireshark</a:t>
            </a:r>
            <a:r>
              <a:rPr lang="en-US" b="1" dirty="0">
                <a:solidFill>
                  <a:schemeClr val="bg1"/>
                </a:solidFill>
              </a:rPr>
              <a:t> </a:t>
            </a:r>
            <a:endParaRPr lang="en-US" b="1" dirty="0">
              <a:solidFill>
                <a:schemeClr val="bg1"/>
              </a:solidFill>
            </a:endParaRPr>
          </a:p>
        </p:txBody>
      </p:sp>
      <p:sp>
        <p:nvSpPr>
          <p:cNvPr id="3" name="Content Placeholder 2"/>
          <p:cNvSpPr>
            <a:spLocks noGrp="1"/>
          </p:cNvSpPr>
          <p:nvPr>
            <p:ph idx="1"/>
          </p:nvPr>
        </p:nvSpPr>
        <p:spPr>
          <a:xfrm>
            <a:off x="1465545" y="701458"/>
            <a:ext cx="10283869" cy="5937337"/>
          </a:xfrm>
        </p:spPr>
        <p:txBody>
          <a:bodyPr>
            <a:noAutofit/>
          </a:bodyPr>
          <a:lstStyle/>
          <a:p>
            <a:pPr marL="0" indent="0">
              <a:buNone/>
            </a:pPr>
            <a:r>
              <a:rPr lang="en-US" sz="2000" b="1" dirty="0">
                <a:solidFill>
                  <a:schemeClr val="bg1"/>
                </a:solidFill>
                <a:latin typeface="Verdana" panose="020B0604030504040204" charset="0"/>
                <a:ea typeface="Verdana" panose="020B0604030504040204" charset="0"/>
              </a:rPr>
              <a:t>Capturing Network Traffic</a:t>
            </a:r>
            <a:endParaRPr lang="en-US" sz="2000" b="1" dirty="0">
              <a:solidFill>
                <a:schemeClr val="bg1"/>
              </a:solidFill>
              <a:latin typeface="Verdana" panose="020B0604030504040204" charset="0"/>
              <a:ea typeface="Verdana" panose="020B0604030504040204" charset="0"/>
            </a:endParaRPr>
          </a:p>
          <a:p>
            <a:pPr>
              <a:buFont typeface="Wingdings" panose="05000000000000000000" pitchFamily="2" charset="2"/>
              <a:buChar char="§"/>
            </a:pPr>
            <a:r>
              <a:rPr lang="en-US" b="1" dirty="0">
                <a:solidFill>
                  <a:schemeClr val="bg1"/>
                </a:solidFill>
                <a:latin typeface="Verdana" panose="020B0604030504040204" charset="0"/>
                <a:ea typeface="Verdana" panose="020B0604030504040204" charset="0"/>
              </a:rPr>
              <a:t>Open </a:t>
            </a:r>
            <a:r>
              <a:rPr lang="en-US" b="1" dirty="0" err="1">
                <a:solidFill>
                  <a:schemeClr val="bg1"/>
                </a:solidFill>
                <a:latin typeface="Verdana" panose="020B0604030504040204" charset="0"/>
                <a:ea typeface="Verdana" panose="020B0604030504040204" charset="0"/>
              </a:rPr>
              <a:t>Wireshark</a:t>
            </a:r>
            <a:r>
              <a:rPr lang="en-US" dirty="0">
                <a:solidFill>
                  <a:schemeClr val="bg1"/>
                </a:solidFill>
                <a:latin typeface="Verdana" panose="020B0604030504040204" charset="0"/>
                <a:ea typeface="Verdana" panose="020B0604030504040204" charset="0"/>
              </a:rPr>
              <a:t>: Launch </a:t>
            </a:r>
            <a:r>
              <a:rPr lang="en-US" dirty="0" err="1">
                <a:solidFill>
                  <a:schemeClr val="bg1"/>
                </a:solidFill>
                <a:latin typeface="Verdana" panose="020B0604030504040204" charset="0"/>
                <a:ea typeface="Verdana" panose="020B0604030504040204" charset="0"/>
              </a:rPr>
              <a:t>Wireshark</a:t>
            </a:r>
            <a:r>
              <a:rPr lang="en-US" dirty="0">
                <a:solidFill>
                  <a:schemeClr val="bg1"/>
                </a:solidFill>
                <a:latin typeface="Verdana" panose="020B0604030504040204" charset="0"/>
                <a:ea typeface="Verdana" panose="020B0604030504040204" charset="0"/>
              </a:rPr>
              <a:t> on your computer.</a:t>
            </a:r>
            <a:endParaRPr lang="en-US" dirty="0">
              <a:solidFill>
                <a:schemeClr val="bg1"/>
              </a:solidFill>
              <a:latin typeface="Verdana" panose="020B0604030504040204" charset="0"/>
              <a:ea typeface="Verdana" panose="020B0604030504040204" charset="0"/>
            </a:endParaRPr>
          </a:p>
          <a:p>
            <a:endParaRPr lang="en-US" dirty="0">
              <a:solidFill>
                <a:schemeClr val="bg1"/>
              </a:solidFill>
              <a:latin typeface="Verdana" panose="020B0604030504040204" charset="0"/>
              <a:ea typeface="Verdana" panose="020B0604030504040204" charset="0"/>
            </a:endParaRPr>
          </a:p>
          <a:p>
            <a:pPr>
              <a:buFont typeface="Wingdings" panose="05000000000000000000" pitchFamily="2" charset="2"/>
              <a:buChar char="§"/>
            </a:pPr>
            <a:r>
              <a:rPr lang="en-US" b="1" dirty="0">
                <a:solidFill>
                  <a:schemeClr val="bg1"/>
                </a:solidFill>
                <a:latin typeface="Verdana" panose="020B0604030504040204" charset="0"/>
                <a:ea typeface="Verdana" panose="020B0604030504040204" charset="0"/>
              </a:rPr>
              <a:t>Select the Network Interface: </a:t>
            </a:r>
            <a:r>
              <a:rPr lang="en-US" sz="1700" dirty="0">
                <a:solidFill>
                  <a:schemeClr val="bg1"/>
                </a:solidFill>
                <a:latin typeface="Verdana" panose="020B0604030504040204" charset="0"/>
                <a:ea typeface="Verdana" panose="020B0604030504040204" charset="0"/>
              </a:rPr>
              <a:t>In the main </a:t>
            </a:r>
            <a:r>
              <a:rPr lang="en-US" sz="1700" dirty="0" err="1">
                <a:solidFill>
                  <a:schemeClr val="bg1"/>
                </a:solidFill>
                <a:latin typeface="Verdana" panose="020B0604030504040204" charset="0"/>
                <a:ea typeface="Verdana" panose="020B0604030504040204" charset="0"/>
              </a:rPr>
              <a:t>Wireshark</a:t>
            </a:r>
            <a:r>
              <a:rPr lang="en-US" sz="1700" dirty="0">
                <a:solidFill>
                  <a:schemeClr val="bg1"/>
                </a:solidFill>
                <a:latin typeface="Verdana" panose="020B0604030504040204" charset="0"/>
                <a:ea typeface="Verdana" panose="020B0604030504040204" charset="0"/>
              </a:rPr>
              <a:t> window, you’ll see a list of available network interfaces. Choose the interface that you want to capture traffic on (e.g., Wi-Fi or Ethernet).</a:t>
            </a:r>
            <a:endParaRPr lang="en-US" sz="1700" dirty="0">
              <a:solidFill>
                <a:schemeClr val="bg1"/>
              </a:solidFill>
              <a:latin typeface="Verdana" panose="020B0604030504040204" charset="0"/>
              <a:ea typeface="Verdana" panose="020B0604030504040204" charset="0"/>
            </a:endParaRPr>
          </a:p>
          <a:p>
            <a:endParaRPr lang="en-US" dirty="0">
              <a:solidFill>
                <a:schemeClr val="bg1"/>
              </a:solidFill>
              <a:latin typeface="Verdana" panose="020B0604030504040204" charset="0"/>
              <a:ea typeface="Verdana" panose="020B0604030504040204" charset="0"/>
            </a:endParaRPr>
          </a:p>
          <a:p>
            <a:pPr>
              <a:buFont typeface="Wingdings" panose="05000000000000000000" pitchFamily="2" charset="2"/>
              <a:buChar char="§"/>
            </a:pPr>
            <a:r>
              <a:rPr lang="en-US" b="1" dirty="0">
                <a:solidFill>
                  <a:schemeClr val="bg1"/>
                </a:solidFill>
                <a:latin typeface="Verdana" panose="020B0604030504040204" charset="0"/>
                <a:ea typeface="Verdana" panose="020B0604030504040204" charset="0"/>
              </a:rPr>
              <a:t>Start Capturing: </a:t>
            </a:r>
            <a:r>
              <a:rPr lang="en-US" sz="1700" dirty="0">
                <a:solidFill>
                  <a:schemeClr val="bg1"/>
                </a:solidFill>
                <a:latin typeface="Verdana" panose="020B0604030504040204" charset="0"/>
                <a:ea typeface="Verdana" panose="020B0604030504040204" charset="0"/>
              </a:rPr>
              <a:t>Click on the network interface or the Start Capturing Packets button (the blue shark fin icon). </a:t>
            </a:r>
            <a:r>
              <a:rPr lang="en-US" sz="1700" dirty="0" err="1">
                <a:solidFill>
                  <a:schemeClr val="bg1"/>
                </a:solidFill>
                <a:latin typeface="Verdana" panose="020B0604030504040204" charset="0"/>
                <a:ea typeface="Verdana" panose="020B0604030504040204" charset="0"/>
              </a:rPr>
              <a:t>Wireshark</a:t>
            </a:r>
            <a:r>
              <a:rPr lang="en-US" sz="1700" dirty="0">
                <a:solidFill>
                  <a:schemeClr val="bg1"/>
                </a:solidFill>
                <a:latin typeface="Verdana" panose="020B0604030504040204" charset="0"/>
                <a:ea typeface="Verdana" panose="020B0604030504040204" charset="0"/>
              </a:rPr>
              <a:t> will start capturing all the network packets on that interface.</a:t>
            </a:r>
            <a:endParaRPr lang="en-US" sz="1700" dirty="0">
              <a:solidFill>
                <a:schemeClr val="bg1"/>
              </a:solidFill>
              <a:latin typeface="Verdana" panose="020B0604030504040204" charset="0"/>
              <a:ea typeface="Verdana" panose="020B0604030504040204" charset="0"/>
            </a:endParaRPr>
          </a:p>
          <a:p>
            <a:endParaRPr lang="en-US" sz="1700" dirty="0">
              <a:solidFill>
                <a:schemeClr val="bg1"/>
              </a:solidFill>
              <a:latin typeface="Verdana" panose="020B0604030504040204" charset="0"/>
              <a:ea typeface="Verdana" panose="020B0604030504040204" charset="0"/>
            </a:endParaRPr>
          </a:p>
          <a:p>
            <a:pPr>
              <a:buFont typeface="Wingdings" panose="05000000000000000000" pitchFamily="2" charset="2"/>
              <a:buChar char="§"/>
            </a:pPr>
            <a:r>
              <a:rPr lang="en-US" b="1" dirty="0">
                <a:solidFill>
                  <a:schemeClr val="bg1"/>
                </a:solidFill>
                <a:latin typeface="Verdana" panose="020B0604030504040204" charset="0"/>
                <a:ea typeface="Verdana" panose="020B0604030504040204" charset="0"/>
              </a:rPr>
              <a:t>Generate Traffic: </a:t>
            </a:r>
            <a:r>
              <a:rPr lang="en-US" sz="1700" dirty="0">
                <a:solidFill>
                  <a:schemeClr val="bg1"/>
                </a:solidFill>
                <a:latin typeface="Verdana" panose="020B0604030504040204" charset="0"/>
                <a:ea typeface="Verdana" panose="020B0604030504040204" charset="0"/>
              </a:rPr>
              <a:t>Perform the activities you want to capture (e.g., browsing websites, downloading files, etc.).</a:t>
            </a:r>
            <a:endParaRPr lang="en-US" sz="1700" dirty="0">
              <a:solidFill>
                <a:schemeClr val="bg1"/>
              </a:solidFill>
              <a:latin typeface="Verdana" panose="020B0604030504040204" charset="0"/>
              <a:ea typeface="Verdana" panose="020B0604030504040204" charset="0"/>
            </a:endParaRPr>
          </a:p>
          <a:p>
            <a:endParaRPr lang="en-US" sz="1700" dirty="0">
              <a:solidFill>
                <a:schemeClr val="bg1"/>
              </a:solidFill>
              <a:latin typeface="Verdana" panose="020B0604030504040204" charset="0"/>
              <a:ea typeface="Verdana" panose="020B0604030504040204" charset="0"/>
            </a:endParaRPr>
          </a:p>
          <a:p>
            <a:pPr>
              <a:buFont typeface="Wingdings" panose="05000000000000000000" pitchFamily="2" charset="2"/>
              <a:buChar char="§"/>
            </a:pPr>
            <a:r>
              <a:rPr lang="en-US" b="1" dirty="0">
                <a:solidFill>
                  <a:schemeClr val="bg1"/>
                </a:solidFill>
                <a:latin typeface="Verdana" panose="020B0604030504040204" charset="0"/>
                <a:ea typeface="Verdana" panose="020B0604030504040204" charset="0"/>
              </a:rPr>
              <a:t>Stop Capturing: </a:t>
            </a:r>
            <a:r>
              <a:rPr lang="en-US" sz="1700" dirty="0">
                <a:solidFill>
                  <a:schemeClr val="bg1"/>
                </a:solidFill>
                <a:latin typeface="Verdana" panose="020B0604030504040204" charset="0"/>
                <a:ea typeface="Verdana" panose="020B0604030504040204" charset="0"/>
              </a:rPr>
              <a:t>Once you have captured enough data, click the Stop Capturing Packets button (the red square icon) or go to Capture &gt; Stop.</a:t>
            </a:r>
            <a:endParaRPr lang="en-US" sz="1700" dirty="0">
              <a:solidFill>
                <a:schemeClr val="bg1"/>
              </a:solidFill>
              <a:latin typeface="Verdana" panose="020B0604030504040204" charset="0"/>
              <a:ea typeface="Verdana" panose="020B0604030504040204" charset="0"/>
            </a:endParaRPr>
          </a:p>
          <a:p>
            <a:pPr>
              <a:buFont typeface="Wingdings" panose="05000000000000000000" pitchFamily="2" charset="2"/>
              <a:buChar char="§"/>
            </a:pPr>
            <a:endParaRPr lang="en-US" sz="1700" dirty="0">
              <a:solidFill>
                <a:schemeClr val="bg1"/>
              </a:solidFill>
              <a:latin typeface="Verdana" panose="020B0604030504040204" charset="0"/>
              <a:ea typeface="Verdana" panose="020B060403050404020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53018" y="100208"/>
            <a:ext cx="10051593" cy="6400800"/>
          </a:xfrm>
        </p:spPr>
        <p:txBody>
          <a:bodyPr>
            <a:normAutofit fontScale="92500" lnSpcReduction="10000"/>
          </a:bodyPr>
          <a:lstStyle/>
          <a:p>
            <a:pPr algn="just">
              <a:buFont typeface="Wingdings" panose="05000000000000000000" pitchFamily="2" charset="2"/>
              <a:buChar char="§"/>
            </a:pPr>
            <a:r>
              <a:rPr lang="en-US" sz="2000" b="1" dirty="0">
                <a:solidFill>
                  <a:schemeClr val="bg1"/>
                </a:solidFill>
                <a:latin typeface="Verdana" panose="020B0604030504040204" charset="0"/>
                <a:ea typeface="Verdana" panose="020B0604030504040204" charset="0"/>
              </a:rPr>
              <a:t>Add Parameters:</a:t>
            </a:r>
            <a:endParaRPr lang="en-US" sz="2000" b="1" dirty="0">
              <a:solidFill>
                <a:schemeClr val="bg1"/>
              </a:solidFill>
              <a:latin typeface="Verdana" panose="020B0604030504040204" charset="0"/>
              <a:ea typeface="Verdana" panose="020B0604030504040204" charset="0"/>
            </a:endParaRPr>
          </a:p>
          <a:p>
            <a:pPr marL="0" indent="0" algn="just">
              <a:buNone/>
            </a:pPr>
            <a:r>
              <a:rPr lang="en-US" dirty="0">
                <a:solidFill>
                  <a:schemeClr val="bg1"/>
                </a:solidFill>
                <a:latin typeface="Verdana" panose="020B0604030504040204" charset="0"/>
                <a:ea typeface="Verdana" panose="020B0604030504040204" charset="0"/>
              </a:rPr>
              <a:t>Click Edit &gt; Preferences, and select the protocol you want to    modify under Protocols. Edit Parameters by adjusting the fields or settings available for the selected protocol, then click OK to apply the changes.</a:t>
            </a:r>
            <a:endParaRPr lang="en-US" dirty="0">
              <a:solidFill>
                <a:schemeClr val="bg1"/>
              </a:solidFill>
              <a:latin typeface="Verdana" panose="020B0604030504040204" charset="0"/>
              <a:ea typeface="Verdana" panose="020B0604030504040204" charset="0"/>
            </a:endParaRPr>
          </a:p>
          <a:p>
            <a:pPr marL="0" indent="0" algn="just">
              <a:buNone/>
            </a:pPr>
            <a:endParaRPr lang="en-US" sz="1900" dirty="0">
              <a:solidFill>
                <a:schemeClr val="bg1"/>
              </a:solidFill>
              <a:latin typeface="Verdana" panose="020B0604030504040204" charset="0"/>
              <a:ea typeface="Verdana" panose="020B0604030504040204" charset="0"/>
            </a:endParaRPr>
          </a:p>
          <a:p>
            <a:pPr algn="just">
              <a:buFont typeface="Wingdings" panose="05000000000000000000" pitchFamily="2" charset="2"/>
              <a:buChar char="§"/>
            </a:pPr>
            <a:r>
              <a:rPr lang="en-US" sz="2000" b="1" dirty="0">
                <a:solidFill>
                  <a:schemeClr val="bg1"/>
                </a:solidFill>
                <a:latin typeface="Verdana" panose="020B0604030504040204" charset="0"/>
                <a:ea typeface="Verdana" panose="020B0604030504040204" charset="0"/>
              </a:rPr>
              <a:t>Saving the Capture</a:t>
            </a:r>
            <a:endParaRPr lang="en-US" sz="2000" b="1" dirty="0">
              <a:solidFill>
                <a:schemeClr val="bg1"/>
              </a:solidFill>
              <a:latin typeface="Verdana" panose="020B0604030504040204" charset="0"/>
              <a:ea typeface="Verdana" panose="020B0604030504040204" charset="0"/>
            </a:endParaRPr>
          </a:p>
          <a:p>
            <a:pPr marL="0" indent="0" algn="just">
              <a:buNone/>
            </a:pPr>
            <a:r>
              <a:rPr lang="en-US" b="1" dirty="0">
                <a:solidFill>
                  <a:schemeClr val="bg1"/>
                </a:solidFill>
                <a:latin typeface="Verdana" panose="020B0604030504040204" charset="0"/>
                <a:ea typeface="Verdana" panose="020B0604030504040204" charset="0"/>
              </a:rPr>
              <a:t>    Save the Capture File:</a:t>
            </a:r>
            <a:endParaRPr lang="en-US" b="1" dirty="0">
              <a:solidFill>
                <a:schemeClr val="bg1"/>
              </a:solidFill>
              <a:latin typeface="Verdana" panose="020B0604030504040204" charset="0"/>
              <a:ea typeface="Verdana" panose="020B0604030504040204" charset="0"/>
            </a:endParaRPr>
          </a:p>
          <a:p>
            <a:pPr lvl="1" algn="just">
              <a:buFont typeface="Arial" panose="020B0604020202020204" pitchFamily="34" charset="0"/>
              <a:buChar char="•"/>
            </a:pPr>
            <a:r>
              <a:rPr lang="en-US" sz="1800" dirty="0">
                <a:solidFill>
                  <a:schemeClr val="bg1"/>
                </a:solidFill>
                <a:latin typeface="Verdana" panose="020B0604030504040204" charset="0"/>
                <a:ea typeface="Verdana" panose="020B0604030504040204" charset="0"/>
              </a:rPr>
              <a:t>Go to File &gt; Save As.</a:t>
            </a:r>
            <a:endParaRPr lang="en-US" sz="1800" dirty="0">
              <a:solidFill>
                <a:schemeClr val="bg1"/>
              </a:solidFill>
              <a:latin typeface="Verdana" panose="020B0604030504040204" charset="0"/>
              <a:ea typeface="Verdana" panose="020B0604030504040204" charset="0"/>
            </a:endParaRPr>
          </a:p>
          <a:p>
            <a:pPr lvl="1" algn="just">
              <a:buFont typeface="Arial" panose="020B0604020202020204" pitchFamily="34" charset="0"/>
              <a:buChar char="•"/>
            </a:pPr>
            <a:r>
              <a:rPr lang="en-US" sz="1800" dirty="0">
                <a:solidFill>
                  <a:schemeClr val="bg1"/>
                </a:solidFill>
                <a:latin typeface="Verdana" panose="020B0604030504040204" charset="0"/>
                <a:ea typeface="Verdana" panose="020B0604030504040204" charset="0"/>
              </a:rPr>
              <a:t>Choose a location, file name, and file format (e.g., .</a:t>
            </a:r>
            <a:r>
              <a:rPr lang="en-US" sz="1800" dirty="0" err="1">
                <a:solidFill>
                  <a:schemeClr val="bg1"/>
                </a:solidFill>
                <a:latin typeface="Verdana" panose="020B0604030504040204" charset="0"/>
                <a:ea typeface="Verdana" panose="020B0604030504040204" charset="0"/>
              </a:rPr>
              <a:t>pcap</a:t>
            </a:r>
            <a:r>
              <a:rPr lang="en-US" sz="1800" dirty="0">
                <a:solidFill>
                  <a:schemeClr val="bg1"/>
                </a:solidFill>
                <a:latin typeface="Verdana" panose="020B0604030504040204" charset="0"/>
                <a:ea typeface="Verdana" panose="020B0604030504040204" charset="0"/>
              </a:rPr>
              <a:t> or .</a:t>
            </a:r>
            <a:r>
              <a:rPr lang="en-US" sz="1800" dirty="0" err="1">
                <a:solidFill>
                  <a:schemeClr val="bg1"/>
                </a:solidFill>
                <a:latin typeface="Verdana" panose="020B0604030504040204" charset="0"/>
                <a:ea typeface="Verdana" panose="020B0604030504040204" charset="0"/>
              </a:rPr>
              <a:t>pcapng</a:t>
            </a:r>
            <a:r>
              <a:rPr lang="en-US" sz="1800" dirty="0">
                <a:solidFill>
                  <a:schemeClr val="bg1"/>
                </a:solidFill>
                <a:latin typeface="Verdana" panose="020B0604030504040204" charset="0"/>
                <a:ea typeface="Verdana" panose="020B0604030504040204" charset="0"/>
              </a:rPr>
              <a:t>).</a:t>
            </a:r>
            <a:endParaRPr lang="en-US" sz="1800" dirty="0">
              <a:solidFill>
                <a:schemeClr val="bg1"/>
              </a:solidFill>
              <a:latin typeface="Verdana" panose="020B0604030504040204" charset="0"/>
              <a:ea typeface="Verdana" panose="020B0604030504040204" charset="0"/>
            </a:endParaRPr>
          </a:p>
          <a:p>
            <a:pPr lvl="1" algn="just">
              <a:buFont typeface="Arial" panose="020B0604020202020204" pitchFamily="34" charset="0"/>
              <a:buChar char="•"/>
            </a:pPr>
            <a:r>
              <a:rPr lang="en-US" sz="1800" dirty="0">
                <a:solidFill>
                  <a:schemeClr val="bg1"/>
                </a:solidFill>
                <a:latin typeface="Verdana" panose="020B0604030504040204" charset="0"/>
                <a:ea typeface="Verdana" panose="020B0604030504040204" charset="0"/>
              </a:rPr>
              <a:t>Click Save to save the captured data as a dataset file.</a:t>
            </a:r>
            <a:endParaRPr lang="en-US" sz="1800" dirty="0">
              <a:solidFill>
                <a:schemeClr val="bg1"/>
              </a:solidFill>
              <a:latin typeface="Verdana" panose="020B0604030504040204" charset="0"/>
              <a:ea typeface="Verdana" panose="020B0604030504040204" charset="0"/>
            </a:endParaRPr>
          </a:p>
          <a:p>
            <a:pPr lvl="1" algn="just">
              <a:buFont typeface="Arial" panose="020B0604020202020204" pitchFamily="34" charset="0"/>
              <a:buChar char="•"/>
            </a:pPr>
            <a:endParaRPr lang="en-US" sz="1800" dirty="0">
              <a:solidFill>
                <a:schemeClr val="bg1"/>
              </a:solidFill>
              <a:latin typeface="Verdana" panose="020B0604030504040204" charset="0"/>
              <a:ea typeface="Verdana" panose="020B0604030504040204" charset="0"/>
            </a:endParaRPr>
          </a:p>
          <a:p>
            <a:pPr algn="just">
              <a:buFont typeface="Wingdings" panose="05000000000000000000" pitchFamily="2" charset="2"/>
              <a:buChar char="§"/>
            </a:pPr>
            <a:r>
              <a:rPr lang="en-US" b="1" dirty="0">
                <a:solidFill>
                  <a:schemeClr val="bg1"/>
                </a:solidFill>
                <a:latin typeface="Verdana" panose="020B0604030504040204" charset="0"/>
                <a:ea typeface="Verdana" panose="020B0604030504040204" charset="0"/>
              </a:rPr>
              <a:t>Opening Existing Capture Files</a:t>
            </a:r>
            <a:r>
              <a:rPr lang="en-US" dirty="0">
                <a:solidFill>
                  <a:schemeClr val="bg1"/>
                </a:solidFill>
                <a:latin typeface="Verdana" panose="020B0604030504040204" charset="0"/>
                <a:ea typeface="Verdana" panose="020B0604030504040204" charset="0"/>
              </a:rPr>
              <a:t>:</a:t>
            </a:r>
            <a:endParaRPr lang="en-US" dirty="0">
              <a:solidFill>
                <a:schemeClr val="bg1"/>
              </a:solidFill>
              <a:latin typeface="Verdana" panose="020B0604030504040204" charset="0"/>
              <a:ea typeface="Verdana" panose="020B0604030504040204" charset="0"/>
            </a:endParaRPr>
          </a:p>
          <a:p>
            <a:pPr marL="0" indent="0" algn="just">
              <a:buNone/>
            </a:pPr>
            <a:r>
              <a:rPr lang="en-US" dirty="0">
                <a:solidFill>
                  <a:schemeClr val="bg1"/>
                </a:solidFill>
                <a:latin typeface="Verdana" panose="020B0604030504040204" charset="0"/>
                <a:ea typeface="Verdana" panose="020B0604030504040204" charset="0"/>
              </a:rPr>
              <a:t> If you have a pre-existing capture file, you can open it by going to File &gt; Open          and selecting the capture file you want to analyze.</a:t>
            </a:r>
            <a:endParaRPr lang="en-US" dirty="0">
              <a:solidFill>
                <a:schemeClr val="bg1"/>
              </a:solidFill>
              <a:latin typeface="Verdana" panose="020B0604030504040204" charset="0"/>
              <a:ea typeface="Verdana" panose="020B0604030504040204" charset="0"/>
            </a:endParaRPr>
          </a:p>
          <a:p>
            <a:pPr marL="0" indent="0" algn="just">
              <a:buNone/>
            </a:pPr>
            <a:endParaRPr lang="en-US" dirty="0">
              <a:solidFill>
                <a:schemeClr val="bg1"/>
              </a:solidFill>
              <a:latin typeface="Verdana" panose="020B0604030504040204" charset="0"/>
              <a:ea typeface="Verdana" panose="020B0604030504040204" charset="0"/>
            </a:endParaRPr>
          </a:p>
          <a:p>
            <a:pPr algn="just">
              <a:buFont typeface="Wingdings" panose="05000000000000000000" pitchFamily="2" charset="2"/>
              <a:buChar char="§"/>
            </a:pPr>
            <a:r>
              <a:rPr lang="en-US" b="1" dirty="0">
                <a:solidFill>
                  <a:schemeClr val="bg1"/>
                </a:solidFill>
                <a:latin typeface="Verdana" panose="020B0604030504040204" charset="0"/>
                <a:ea typeface="Verdana" panose="020B0604030504040204" charset="0"/>
              </a:rPr>
              <a:t>Filtering and Analyzing Data:</a:t>
            </a:r>
            <a:endParaRPr lang="en-US" b="1" dirty="0">
              <a:solidFill>
                <a:schemeClr val="bg1"/>
              </a:solidFill>
              <a:latin typeface="Verdana" panose="020B0604030504040204" charset="0"/>
              <a:ea typeface="Verdana" panose="020B0604030504040204" charset="0"/>
            </a:endParaRPr>
          </a:p>
          <a:p>
            <a:pPr marL="0" indent="0" algn="just">
              <a:buNone/>
            </a:pPr>
            <a:r>
              <a:rPr lang="en-US" dirty="0">
                <a:solidFill>
                  <a:schemeClr val="bg1"/>
                </a:solidFill>
                <a:latin typeface="Verdana" panose="020B0604030504040204" charset="0"/>
                <a:ea typeface="Verdana" panose="020B0604030504040204" charset="0"/>
              </a:rPr>
              <a:t> Use </a:t>
            </a:r>
            <a:r>
              <a:rPr lang="en-US" dirty="0" err="1">
                <a:solidFill>
                  <a:schemeClr val="bg1"/>
                </a:solidFill>
                <a:latin typeface="Verdana" panose="020B0604030504040204" charset="0"/>
                <a:ea typeface="Verdana" panose="020B0604030504040204" charset="0"/>
              </a:rPr>
              <a:t>Wireshark’s</a:t>
            </a:r>
            <a:r>
              <a:rPr lang="en-US" dirty="0">
                <a:solidFill>
                  <a:schemeClr val="bg1"/>
                </a:solidFill>
                <a:latin typeface="Verdana" panose="020B0604030504040204" charset="0"/>
                <a:ea typeface="Verdana" panose="020B0604030504040204" charset="0"/>
              </a:rPr>
              <a:t> filtering features to narrow down the dataset to specific types of traffic or protocols. This is helpful for creating datasets focused on particular network activities.</a:t>
            </a:r>
            <a:endParaRPr lang="en-US" dirty="0">
              <a:solidFill>
                <a:schemeClr val="bg1"/>
              </a:solidFill>
              <a:latin typeface="Verdana" panose="020B0604030504040204" charset="0"/>
              <a:ea typeface="Verdana" panose="020B0604030504040204" charset="0"/>
            </a:endParaRPr>
          </a:p>
          <a:p>
            <a:pPr algn="just"/>
            <a:endParaRPr lang="en-US" dirty="0">
              <a:solidFill>
                <a:schemeClr val="bg1"/>
              </a:solidFill>
              <a:latin typeface="Verdana" panose="020B0604030504040204" charset="0"/>
              <a:ea typeface="Verdana" panose="020B060403050404020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cstate="print">
            <a:extLst>
              <a:ext uri="{28A0092B-C50C-407E-A947-70E740481C1C}">
                <a14:useLocalDpi xmlns:a14="http://schemas.microsoft.com/office/drawing/2010/main" val="0"/>
              </a:ext>
            </a:extLst>
          </a:blip>
          <a:stretch>
            <a:fillRect/>
          </a:stretch>
        </p:blipFill>
        <p:spPr>
          <a:xfrm>
            <a:off x="1578279" y="100013"/>
            <a:ext cx="3169085" cy="1954255"/>
          </a:xfrm>
        </p:spPr>
      </p:pic>
      <p:pic>
        <p:nvPicPr>
          <p:cNvPr id="7"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9582" y="2154477"/>
            <a:ext cx="10872418" cy="423379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227138" y="150313"/>
            <a:ext cx="10722692" cy="6100176"/>
          </a:xfr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162839"/>
            <a:ext cx="8911687" cy="826718"/>
          </a:xfrm>
        </p:spPr>
        <p:txBody>
          <a:bodyPr>
            <a:normAutofit/>
          </a:bodyPr>
          <a:lstStyle/>
          <a:p>
            <a:r>
              <a:rPr lang="en-US" b="1" dirty="0">
                <a:solidFill>
                  <a:schemeClr val="bg1"/>
                </a:solidFill>
                <a:latin typeface="Verdana" panose="020B0604030504040204" charset="0"/>
                <a:ea typeface="Verdana" panose="020B0604030504040204" charset="0"/>
              </a:rPr>
              <a:t>Generated dataset</a:t>
            </a:r>
            <a:endParaRPr lang="en-US" b="1" dirty="0">
              <a:solidFill>
                <a:schemeClr val="bg1"/>
              </a:solidFill>
              <a:latin typeface="Verdana" panose="020B0604030504040204" charset="0"/>
              <a:ea typeface="Verdana" panose="020B0604030504040204" charset="0"/>
            </a:endParaRPr>
          </a:p>
        </p:txBody>
      </p:sp>
      <p:pic>
        <p:nvPicPr>
          <p:cNvPr id="4" name="Content Placeholder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427966" y="876823"/>
            <a:ext cx="10371551" cy="5248404"/>
          </a:xfr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79982" y="12526"/>
            <a:ext cx="8911687" cy="776614"/>
          </a:xfrm>
        </p:spPr>
        <p:txBody>
          <a:bodyPr>
            <a:normAutofit/>
          </a:bodyPr>
          <a:lstStyle/>
          <a:p>
            <a:r>
              <a:rPr lang="en-US" b="1" dirty="0">
                <a:solidFill>
                  <a:schemeClr val="bg1"/>
                </a:solidFill>
                <a:latin typeface="Verdana" panose="020B0604030504040204" charset="0"/>
                <a:ea typeface="Verdana" panose="020B0604030504040204" charset="0"/>
              </a:rPr>
              <a:t>Comparison of Graph</a:t>
            </a:r>
            <a:endParaRPr lang="en-US" b="1" dirty="0">
              <a:solidFill>
                <a:schemeClr val="bg1"/>
              </a:solidFill>
              <a:latin typeface="Verdana" panose="020B0604030504040204" charset="0"/>
              <a:ea typeface="Verdana" panose="020B0604030504040204" charset="0"/>
            </a:endParaRPr>
          </a:p>
        </p:txBody>
      </p:sp>
      <p:sp>
        <p:nvSpPr>
          <p:cNvPr id="5" name="Content Placeholder 4"/>
          <p:cNvSpPr>
            <a:spLocks noGrp="1"/>
          </p:cNvSpPr>
          <p:nvPr>
            <p:ph idx="1"/>
          </p:nvPr>
        </p:nvSpPr>
        <p:spPr>
          <a:xfrm>
            <a:off x="1578279" y="826718"/>
            <a:ext cx="10371551" cy="5448821"/>
          </a:xfrm>
        </p:spPr>
        <p:txBody>
          <a:bodyPr>
            <a:normAutofit fontScale="92500" lnSpcReduction="10000"/>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sz="1700" dirty="0">
              <a:solidFill>
                <a:schemeClr val="bg1"/>
              </a:solidFill>
              <a:latin typeface="Verdana" panose="020B0604030504040204" charset="0"/>
              <a:ea typeface="Verdana" panose="020B0604030504040204" charset="0"/>
            </a:endParaRPr>
          </a:p>
          <a:p>
            <a:pPr marL="0" indent="0" algn="just">
              <a:buNone/>
            </a:pPr>
            <a:r>
              <a:rPr lang="en-US" dirty="0">
                <a:solidFill>
                  <a:schemeClr val="bg1"/>
                </a:solidFill>
                <a:latin typeface="Verdana" panose="020B0604030504040204" charset="0"/>
                <a:ea typeface="Verdana" panose="020B0604030504040204" charset="0"/>
              </a:rPr>
              <a:t>This ROC curve compares five models: Decision Tree, Random Forest, KNN, Neural Network, and LSTM. The AUC scores show Decision Tree and Random Forest performing perfectly (AUC = 1.00), followed by KNN and Neural Network (AUC = 0.97), and LSTM (AUC = 0.94). A higher AUC indicates better model performance in distinguishing between classes. The curves closer to the top-left corner represent better-performing models</a:t>
            </a:r>
            <a:r>
              <a:rPr lang="en-US" dirty="0"/>
              <a:t>.</a:t>
            </a:r>
            <a:endParaRPr lang="en-US"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39452" y="789140"/>
            <a:ext cx="10747331" cy="380791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2603" y="0"/>
            <a:ext cx="10252009" cy="688932"/>
          </a:xfrm>
        </p:spPr>
        <p:txBody>
          <a:bodyPr/>
          <a:lstStyle/>
          <a:p>
            <a:r>
              <a:rPr lang="en-US" b="1" dirty="0">
                <a:solidFill>
                  <a:schemeClr val="bg1"/>
                </a:solidFill>
                <a:latin typeface="Verdana" panose="020B0604030504040204" charset="0"/>
                <a:ea typeface="Verdana" panose="020B0604030504040204" charset="0"/>
              </a:rPr>
              <a:t>            Comparison of Graph</a:t>
            </a:r>
            <a:endParaRPr lang="en-US" dirty="0"/>
          </a:p>
        </p:txBody>
      </p:sp>
      <p:sp>
        <p:nvSpPr>
          <p:cNvPr id="7" name="Content Placeholder 6"/>
          <p:cNvSpPr>
            <a:spLocks noGrp="1"/>
          </p:cNvSpPr>
          <p:nvPr>
            <p:ph idx="1"/>
          </p:nvPr>
        </p:nvSpPr>
        <p:spPr>
          <a:xfrm>
            <a:off x="363255" y="2133600"/>
            <a:ext cx="11141357" cy="4724400"/>
          </a:xfrm>
        </p:spPr>
        <p:txBody>
          <a:bodyPr>
            <a:normAutofit/>
          </a:bodyPr>
          <a:lstStyle/>
          <a:p>
            <a:pPr algn="just"/>
            <a:endParaRPr lang="en-US" sz="1700" dirty="0">
              <a:solidFill>
                <a:schemeClr val="bg1"/>
              </a:solidFill>
              <a:latin typeface="Verdana" panose="020B0604030504040204" charset="0"/>
              <a:ea typeface="Verdana" panose="020B0604030504040204" charset="0"/>
            </a:endParaRPr>
          </a:p>
          <a:p>
            <a:pPr algn="just"/>
            <a:endParaRPr lang="en-US" sz="1700" dirty="0">
              <a:solidFill>
                <a:schemeClr val="bg1"/>
              </a:solidFill>
              <a:latin typeface="Verdana" panose="020B0604030504040204" charset="0"/>
              <a:ea typeface="Verdana" panose="020B0604030504040204" charset="0"/>
            </a:endParaRPr>
          </a:p>
          <a:p>
            <a:pPr algn="just"/>
            <a:endParaRPr lang="en-US" sz="1700" dirty="0">
              <a:solidFill>
                <a:schemeClr val="bg1"/>
              </a:solidFill>
              <a:latin typeface="Verdana" panose="020B0604030504040204" charset="0"/>
              <a:ea typeface="Verdana" panose="020B0604030504040204" charset="0"/>
            </a:endParaRPr>
          </a:p>
          <a:p>
            <a:pPr algn="just"/>
            <a:endParaRPr lang="en-US" sz="1700" dirty="0">
              <a:solidFill>
                <a:schemeClr val="bg1"/>
              </a:solidFill>
              <a:latin typeface="Verdana" panose="020B0604030504040204" charset="0"/>
              <a:ea typeface="Verdana" panose="020B0604030504040204" charset="0"/>
            </a:endParaRPr>
          </a:p>
          <a:p>
            <a:pPr algn="just"/>
            <a:endParaRPr lang="en-US" sz="1700" dirty="0">
              <a:solidFill>
                <a:schemeClr val="bg1"/>
              </a:solidFill>
              <a:latin typeface="Verdana" panose="020B0604030504040204" charset="0"/>
              <a:ea typeface="Verdana" panose="020B0604030504040204" charset="0"/>
            </a:endParaRPr>
          </a:p>
          <a:p>
            <a:pPr algn="just"/>
            <a:endParaRPr lang="en-US" sz="1700" dirty="0">
              <a:solidFill>
                <a:schemeClr val="bg1"/>
              </a:solidFill>
              <a:latin typeface="Verdana" panose="020B0604030504040204" charset="0"/>
              <a:ea typeface="Verdana" panose="020B0604030504040204" charset="0"/>
            </a:endParaRPr>
          </a:p>
          <a:p>
            <a:pPr algn="just"/>
            <a:endParaRPr lang="en-US" sz="1700" dirty="0">
              <a:solidFill>
                <a:schemeClr val="bg1"/>
              </a:solidFill>
              <a:latin typeface="Verdana" panose="020B0604030504040204" charset="0"/>
              <a:ea typeface="Verdana" panose="020B0604030504040204" charset="0"/>
            </a:endParaRPr>
          </a:p>
          <a:p>
            <a:pPr algn="just"/>
            <a:r>
              <a:rPr lang="en-US" sz="1700" dirty="0">
                <a:solidFill>
                  <a:schemeClr val="bg1"/>
                </a:solidFill>
                <a:latin typeface="Verdana" panose="020B0604030504040204" charset="0"/>
                <a:ea typeface="Verdana" panose="020B0604030504040204" charset="0"/>
              </a:rPr>
              <a:t>This graph compares the energy cost (time in seconds) for different machine learning models as the size of the </a:t>
            </a:r>
            <a:r>
              <a:rPr lang="en-US" sz="1700" dirty="0" err="1">
                <a:solidFill>
                  <a:schemeClr val="bg1"/>
                </a:solidFill>
                <a:latin typeface="Verdana" panose="020B0604030504040204" charset="0"/>
                <a:ea typeface="Verdana" panose="020B0604030504040204" charset="0"/>
              </a:rPr>
              <a:t>Wireshark</a:t>
            </a:r>
            <a:r>
              <a:rPr lang="en-US" sz="1700" dirty="0">
                <a:solidFill>
                  <a:schemeClr val="bg1"/>
                </a:solidFill>
                <a:latin typeface="Verdana" panose="020B0604030504040204" charset="0"/>
                <a:ea typeface="Verdana" panose="020B0604030504040204" charset="0"/>
              </a:rPr>
              <a:t> dataset increases. It shows that Decision Tree, Random Forest, and KNN have relatively low and stable energy costs across different dataset sizes. Neural Network and LSTM exhibit higher energy costs, with LSTM showing a sharp decrease after an initial peak and Neural Network increasing steadily with dataset size. This indicates that simpler models are more energy-efficient for larger datasets, while complex models like LSTM may require optimization for scalability.</a:t>
            </a:r>
            <a:endParaRPr lang="en-US" sz="1700" dirty="0">
              <a:solidFill>
                <a:schemeClr val="bg1"/>
              </a:solidFill>
              <a:latin typeface="Verdana" panose="020B0604030504040204" charset="0"/>
              <a:ea typeface="Verdana" panose="020B0604030504040204" charset="0"/>
            </a:endParaRPr>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26718" y="613776"/>
            <a:ext cx="11248371" cy="407095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91847" y="212942"/>
            <a:ext cx="9412765" cy="6645058"/>
          </a:xfrm>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indent="0" algn="just">
              <a:buNone/>
            </a:pPr>
            <a:r>
              <a:rPr lang="en-US" sz="1700" dirty="0">
                <a:solidFill>
                  <a:schemeClr val="bg1"/>
                </a:solidFill>
                <a:latin typeface="Verdana" panose="020B0604030504040204" charset="0"/>
                <a:ea typeface="Verdana" panose="020B0604030504040204" charset="0"/>
              </a:rPr>
              <a:t>This graph compares the accuracy of five models: Decision Tree, Random Forest, KNN, Neural Network, and LSTM. Decision Tree and Random Forest achieve the highest accuracy (close to 1.0). KNN and Neural Network follow with slightly lower accuracy. LSTM shows the lowest accuracy, indicating it performed the weakest on the dataset.</a:t>
            </a:r>
            <a:endParaRPr lang="en-US" sz="1700" dirty="0">
              <a:solidFill>
                <a:schemeClr val="bg1"/>
              </a:solidFill>
              <a:latin typeface="Verdana" panose="020B0604030504040204" charset="0"/>
              <a:ea typeface="Verdana" panose="020B0604030504040204" charset="0"/>
            </a:endParaRPr>
          </a:p>
        </p:txBody>
      </p:sp>
      <p:pic>
        <p:nvPicPr>
          <p:cNvPr id="2" name="Picture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83383" y="130217"/>
            <a:ext cx="10778973" cy="481756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70039" y="1238865"/>
            <a:ext cx="10679583" cy="5362350"/>
          </a:xfrm>
        </p:spPr>
        <p:txBody>
          <a:bodyPr>
            <a:normAutofit fontScale="92500" lnSpcReduction="20000"/>
          </a:bodyPr>
          <a:lstStyle/>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sz="1700" dirty="0">
              <a:solidFill>
                <a:schemeClr val="bg1"/>
              </a:solidFill>
              <a:latin typeface="Verdana" panose="020B0604030504040204" charset="0"/>
              <a:ea typeface="Verdana" panose="020B0604030504040204" charset="0"/>
            </a:endParaRPr>
          </a:p>
          <a:p>
            <a:pPr algn="just"/>
            <a:endParaRPr lang="en-US" sz="1700" dirty="0">
              <a:solidFill>
                <a:schemeClr val="bg1"/>
              </a:solidFill>
              <a:latin typeface="Verdana" panose="020B0604030504040204" charset="0"/>
              <a:ea typeface="Verdana" panose="020B0604030504040204" charset="0"/>
            </a:endParaRPr>
          </a:p>
          <a:p>
            <a:pPr algn="just"/>
            <a:endParaRPr lang="en-US" sz="1700" dirty="0">
              <a:solidFill>
                <a:schemeClr val="bg1"/>
              </a:solidFill>
              <a:latin typeface="Verdana" panose="020B0604030504040204" charset="0"/>
              <a:ea typeface="Verdana" panose="020B0604030504040204" charset="0"/>
            </a:endParaRPr>
          </a:p>
          <a:p>
            <a:pPr algn="just"/>
            <a:r>
              <a:rPr lang="en-US" sz="1600" dirty="0">
                <a:solidFill>
                  <a:schemeClr val="bg1"/>
                </a:solidFill>
                <a:latin typeface="Verdana" panose="020B0604030504040204" charset="0"/>
                <a:ea typeface="Verdana" panose="020B0604030504040204" charset="0"/>
              </a:rPr>
              <a:t>This pair plot visualizes relationships between the features Flow Duration, </a:t>
            </a:r>
            <a:r>
              <a:rPr lang="en-US" sz="1600" dirty="0" err="1">
                <a:solidFill>
                  <a:schemeClr val="bg1"/>
                </a:solidFill>
                <a:latin typeface="Verdana" panose="020B0604030504040204" charset="0"/>
                <a:ea typeface="Verdana" panose="020B0604030504040204" charset="0"/>
              </a:rPr>
              <a:t>Flow_Byts</a:t>
            </a:r>
            <a:r>
              <a:rPr lang="en-US" sz="1600" dirty="0">
                <a:solidFill>
                  <a:schemeClr val="bg1"/>
                </a:solidFill>
                <a:latin typeface="Verdana" panose="020B0604030504040204" charset="0"/>
                <a:ea typeface="Verdana" panose="020B0604030504040204" charset="0"/>
              </a:rPr>
              <a:t>/s, </a:t>
            </a:r>
            <a:r>
              <a:rPr lang="en-US" sz="1600" dirty="0" err="1">
                <a:solidFill>
                  <a:schemeClr val="bg1"/>
                </a:solidFill>
                <a:latin typeface="Verdana" panose="020B0604030504040204" charset="0"/>
                <a:ea typeface="Verdana" panose="020B0604030504040204" charset="0"/>
              </a:rPr>
              <a:t>Tot_Fwd_Pkts</a:t>
            </a:r>
            <a:r>
              <a:rPr lang="en-US" sz="1600" dirty="0">
                <a:solidFill>
                  <a:schemeClr val="bg1"/>
                </a:solidFill>
                <a:latin typeface="Verdana" panose="020B0604030504040204" charset="0"/>
                <a:ea typeface="Verdana" panose="020B0604030504040204" charset="0"/>
              </a:rPr>
              <a:t>, and </a:t>
            </a:r>
            <a:r>
              <a:rPr lang="en-US" sz="1600" dirty="0" err="1">
                <a:solidFill>
                  <a:schemeClr val="bg1"/>
                </a:solidFill>
                <a:latin typeface="Verdana" panose="020B0604030504040204" charset="0"/>
                <a:ea typeface="Verdana" panose="020B0604030504040204" charset="0"/>
              </a:rPr>
              <a:t>Tot_Bwd_Pkts</a:t>
            </a:r>
            <a:r>
              <a:rPr lang="en-US" sz="1600" dirty="0">
                <a:solidFill>
                  <a:schemeClr val="bg1"/>
                </a:solidFill>
                <a:latin typeface="Verdana" panose="020B0604030504040204" charset="0"/>
                <a:ea typeface="Verdana" panose="020B0604030504040204" charset="0"/>
              </a:rPr>
              <a:t>. Each scatter plot shows the interaction between two features, while the diagonal displays their distributions. The data points are color-coded by Label (0 or 1), highlighting class differences. It helps identify patterns, correlations, and feature </a:t>
            </a:r>
            <a:r>
              <a:rPr lang="en-US" sz="1600" dirty="0" err="1">
                <a:solidFill>
                  <a:schemeClr val="bg1"/>
                </a:solidFill>
                <a:latin typeface="Verdana" panose="020B0604030504040204" charset="0"/>
                <a:ea typeface="Verdana" panose="020B0604030504040204" charset="0"/>
              </a:rPr>
              <a:t>separability</a:t>
            </a:r>
            <a:r>
              <a:rPr lang="en-US" sz="1600" dirty="0">
                <a:solidFill>
                  <a:schemeClr val="bg1"/>
                </a:solidFill>
                <a:latin typeface="Verdana" panose="020B0604030504040204" charset="0"/>
                <a:ea typeface="Verdana" panose="020B0604030504040204" charset="0"/>
              </a:rPr>
              <a:t> between the two classes. This is useful for feature selection and understanding data distribution in a classification context.</a:t>
            </a:r>
            <a:endParaRPr lang="en-US" sz="1600" dirty="0">
              <a:solidFill>
                <a:schemeClr val="bg1"/>
              </a:solidFill>
              <a:latin typeface="Verdana" panose="020B0604030504040204" charset="0"/>
              <a:ea typeface="Verdana" panose="020B0604030504040204" charset="0"/>
            </a:endParaRPr>
          </a:p>
        </p:txBody>
      </p:sp>
      <p:pic>
        <p:nvPicPr>
          <p:cNvPr id="2" name="Picture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26440" y="125730"/>
            <a:ext cx="11013276" cy="513452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26143"/>
            <a:ext cx="8915399" cy="373626"/>
          </a:xfrm>
        </p:spPr>
        <p:txBody>
          <a:bodyPr>
            <a:normAutofit fontScale="90000"/>
          </a:bodyPr>
          <a:lstStyle/>
          <a:p>
            <a:r>
              <a:rPr lang="en-IN" sz="3200" dirty="0">
                <a:solidFill>
                  <a:schemeClr val="bg2"/>
                </a:solidFill>
                <a:latin typeface="Verdana" panose="020B0604030504040204" charset="0"/>
                <a:ea typeface="Verdana" panose="020B0604030504040204" charset="0"/>
              </a:rPr>
              <a:t>Performance comparison</a:t>
            </a:r>
            <a:endParaRPr lang="en-IN" sz="3200" dirty="0">
              <a:solidFill>
                <a:schemeClr val="bg2"/>
              </a:solidFill>
              <a:latin typeface="Verdana" panose="020B0604030504040204" charset="0"/>
              <a:ea typeface="Verdana" panose="020B0604030504040204" charset="0"/>
            </a:endParaRPr>
          </a:p>
        </p:txBody>
      </p:sp>
      <p:pic>
        <p:nvPicPr>
          <p:cNvPr id="4" name="Picture 3"/>
          <p:cNvPicPr>
            <a:picLocks noChangeAspect="1"/>
          </p:cNvPicPr>
          <p:nvPr/>
        </p:nvPicPr>
        <p:blipFill>
          <a:blip r:embed="rId1"/>
          <a:stretch>
            <a:fillRect/>
          </a:stretch>
        </p:blipFill>
        <p:spPr>
          <a:xfrm>
            <a:off x="1753471" y="599769"/>
            <a:ext cx="8055902" cy="4581831"/>
          </a:xfrm>
          <a:prstGeom prst="rect">
            <a:avLst/>
          </a:prstGeom>
        </p:spPr>
      </p:pic>
      <p:sp>
        <p:nvSpPr>
          <p:cNvPr id="3" name="Subtitle 2"/>
          <p:cNvSpPr>
            <a:spLocks noGrp="1"/>
          </p:cNvSpPr>
          <p:nvPr>
            <p:ph type="subTitle" idx="1"/>
          </p:nvPr>
        </p:nvSpPr>
        <p:spPr>
          <a:xfrm>
            <a:off x="1317523" y="5181599"/>
            <a:ext cx="10589342" cy="1543665"/>
          </a:xfrm>
        </p:spPr>
        <p:txBody>
          <a:bodyPr/>
          <a:lstStyle/>
          <a:p>
            <a:pPr algn="just"/>
            <a:r>
              <a:rPr lang="en-US" b="0" i="0" dirty="0">
                <a:solidFill>
                  <a:schemeClr val="bg2"/>
                </a:solidFill>
                <a:effectLst/>
                <a:latin typeface="Verdana" panose="020B0604030504040204" charset="0"/>
                <a:ea typeface="Verdana" panose="020B0604030504040204" charset="0"/>
              </a:rPr>
              <a:t>The graph compares 5 machine learning models (Decision Tree, Random Forest, KNN, Neural Network, and LSTM) across 3 performance metrics (AUC, F1-Score, and Recall). Decision Tree and Random Forest show the best overall performance with scores near 1.0, while LSTM performs the worst with scores around 0.8-0.9 across all metrics.</a:t>
            </a:r>
            <a:endParaRPr lang="en-IN" dirty="0">
              <a:solidFill>
                <a:schemeClr val="bg2"/>
              </a:solidFill>
              <a:latin typeface="Verdana" panose="020B0604030504040204" charset="0"/>
              <a:ea typeface="Verdana" panose="020B060403050404020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100209"/>
            <a:ext cx="8911687" cy="826718"/>
          </a:xfrm>
        </p:spPr>
        <p:txBody>
          <a:bodyPr/>
          <a:lstStyle/>
          <a:p>
            <a:r>
              <a:rPr lang="en-US" b="1" dirty="0">
                <a:solidFill>
                  <a:schemeClr val="bg1"/>
                </a:solidFill>
                <a:latin typeface="Verdana" panose="020B0604030504040204" charset="0"/>
                <a:ea typeface="Verdana" panose="020B0604030504040204" charset="0"/>
              </a:rPr>
              <a:t>Output of generated dataset</a:t>
            </a:r>
            <a:endParaRPr lang="en-US" b="1" dirty="0">
              <a:solidFill>
                <a:schemeClr val="bg1"/>
              </a:solidFill>
              <a:latin typeface="Verdana" panose="020B0604030504040204" charset="0"/>
              <a:ea typeface="Verdana" panose="020B0604030504040204" charset="0"/>
            </a:endParaRPr>
          </a:p>
        </p:txBody>
      </p:sp>
      <p:pic>
        <p:nvPicPr>
          <p:cNvPr id="4" name="Content Placeholder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578279" y="827087"/>
            <a:ext cx="10133557" cy="5285613"/>
          </a:xfr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2821" y="1"/>
            <a:ext cx="8911687" cy="701457"/>
          </a:xfrm>
        </p:spPr>
        <p:txBody>
          <a:bodyPr>
            <a:normAutofit/>
          </a:bodyPr>
          <a:lstStyle/>
          <a:p>
            <a:r>
              <a:rPr lang="en-US" b="1" dirty="0">
                <a:solidFill>
                  <a:schemeClr val="bg1"/>
                </a:solidFill>
                <a:latin typeface="Verdana" panose="020B0604030504040204" charset="0"/>
                <a:ea typeface="Verdana" panose="020B0604030504040204" charset="0"/>
              </a:rPr>
              <a:t>Predicted output of code</a:t>
            </a:r>
            <a:endParaRPr lang="en-US" b="1" dirty="0">
              <a:solidFill>
                <a:schemeClr val="bg1"/>
              </a:solidFill>
              <a:latin typeface="Verdana" panose="020B0604030504040204" charset="0"/>
              <a:ea typeface="Verdana" panose="020B0604030504040204" charset="0"/>
            </a:endParaRPr>
          </a:p>
        </p:txBody>
      </p:sp>
      <p:pic>
        <p:nvPicPr>
          <p:cNvPr id="4" name="Content Placeholder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590805" y="826718"/>
            <a:ext cx="10045874" cy="5010411"/>
          </a:xfr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20900" y="105410"/>
            <a:ext cx="9291320" cy="605790"/>
          </a:xfrm>
        </p:spPr>
        <p:txBody>
          <a:bodyPr>
            <a:normAutofit/>
          </a:bodyPr>
          <a:lstStyle/>
          <a:p>
            <a:r>
              <a:rPr lang="en-IN" sz="3110" b="1" dirty="0">
                <a:solidFill>
                  <a:schemeClr val="bg1"/>
                </a:solidFill>
                <a:latin typeface="Verdana" panose="020B0604030504040204" charset="0"/>
                <a:cs typeface="Verdana" panose="020B0604030504040204" charset="0"/>
              </a:rPr>
              <a:t>Applications of the </a:t>
            </a:r>
            <a:r>
              <a:rPr lang="en-US" altLang="en-IN" sz="3110" b="1" dirty="0">
                <a:solidFill>
                  <a:schemeClr val="bg1"/>
                </a:solidFill>
                <a:latin typeface="Verdana" panose="020B0604030504040204" charset="0"/>
                <a:cs typeface="Verdana" panose="020B0604030504040204" charset="0"/>
              </a:rPr>
              <a:t>Proposal</a:t>
            </a:r>
            <a:endParaRPr lang="en-US" altLang="en-IN" sz="3110" b="1" dirty="0">
              <a:solidFill>
                <a:schemeClr val="bg1"/>
              </a:solidFill>
              <a:latin typeface="Verdana" panose="020B0604030504040204" charset="0"/>
              <a:cs typeface="Verdana" panose="020B0604030504040204" charset="0"/>
            </a:endParaRPr>
          </a:p>
        </p:txBody>
      </p:sp>
      <p:sp>
        <p:nvSpPr>
          <p:cNvPr id="3" name="Content Placeholder 2"/>
          <p:cNvSpPr>
            <a:spLocks noGrp="1"/>
          </p:cNvSpPr>
          <p:nvPr>
            <p:ph idx="1"/>
          </p:nvPr>
        </p:nvSpPr>
        <p:spPr>
          <a:xfrm>
            <a:off x="1963420" y="711200"/>
            <a:ext cx="9079865" cy="6146165"/>
          </a:xfrm>
        </p:spPr>
        <p:txBody>
          <a:bodyPr>
            <a:noAutofit/>
          </a:bodyPr>
          <a:lstStyle/>
          <a:p>
            <a:pPr marL="0" indent="0">
              <a:buNone/>
            </a:pPr>
            <a:r>
              <a:rPr lang="en-US" altLang="en-IN" sz="2000" b="1" i="1" dirty="0">
                <a:solidFill>
                  <a:schemeClr val="bg1"/>
                </a:solidFill>
                <a:latin typeface="Verdana" panose="020B0604030504040204" charset="0"/>
                <a:cs typeface="Verdana" panose="020B0604030504040204" charset="0"/>
              </a:rPr>
              <a:t>1. </a:t>
            </a:r>
            <a:r>
              <a:rPr lang="en-IN" sz="1900" b="1" dirty="0">
                <a:solidFill>
                  <a:schemeClr val="bg1"/>
                </a:solidFill>
                <a:latin typeface="Verdana" panose="020B0604030504040204" charset="0"/>
                <a:cs typeface="Verdana" panose="020B0604030504040204" charset="0"/>
              </a:rPr>
              <a:t>Smart Home Automation:</a:t>
            </a:r>
            <a:endParaRPr lang="en-IN" sz="1900" b="1" dirty="0">
              <a:solidFill>
                <a:schemeClr val="bg1"/>
              </a:solidFill>
              <a:latin typeface="Verdana" panose="020B0604030504040204" charset="0"/>
              <a:cs typeface="Verdana" panose="020B0604030504040204" charset="0"/>
            </a:endParaRPr>
          </a:p>
          <a:p>
            <a:pPr>
              <a:buClr>
                <a:srgbClr val="FFFFFF"/>
              </a:buClr>
              <a:buFont typeface="Wingdings" panose="05000000000000000000" charset="0"/>
              <a:buChar char="§"/>
            </a:pPr>
            <a:r>
              <a:rPr lang="en-IN" sz="1700" dirty="0">
                <a:solidFill>
                  <a:schemeClr val="bg1"/>
                </a:solidFill>
                <a:latin typeface="Verdana" panose="020B0604030504040204" charset="0"/>
                <a:cs typeface="Verdana" panose="020B0604030504040204" charset="0"/>
              </a:rPr>
              <a:t>Use Case: In smart homes, various </a:t>
            </a:r>
            <a:r>
              <a:rPr lang="en-IN" sz="1700" dirty="0" err="1">
                <a:solidFill>
                  <a:schemeClr val="bg1"/>
                </a:solidFill>
                <a:latin typeface="Verdana" panose="020B0604030504040204" charset="0"/>
                <a:cs typeface="Verdana" panose="020B0604030504040204" charset="0"/>
              </a:rPr>
              <a:t>IoT</a:t>
            </a:r>
            <a:r>
              <a:rPr lang="en-IN" sz="1700" dirty="0">
                <a:solidFill>
                  <a:schemeClr val="bg1"/>
                </a:solidFill>
                <a:latin typeface="Verdana" panose="020B0604030504040204" charset="0"/>
                <a:cs typeface="Verdana" panose="020B0604030504040204" charset="0"/>
              </a:rPr>
              <a:t> devices such as smart locks, lights, and thermostats are interconnected.</a:t>
            </a:r>
            <a:endParaRPr lang="en-IN" sz="1700" dirty="0">
              <a:solidFill>
                <a:schemeClr val="bg1"/>
              </a:solidFill>
              <a:latin typeface="Verdana" panose="020B0604030504040204" charset="0"/>
              <a:cs typeface="Verdana" panose="020B0604030504040204" charset="0"/>
            </a:endParaRPr>
          </a:p>
          <a:p>
            <a:pPr>
              <a:buClr>
                <a:srgbClr val="FFFFFF"/>
              </a:buClr>
              <a:buFont typeface="Wingdings" panose="05000000000000000000" charset="0"/>
              <a:buChar char="§"/>
            </a:pPr>
            <a:r>
              <a:rPr lang="en-IN" sz="1700" dirty="0">
                <a:solidFill>
                  <a:schemeClr val="bg1"/>
                </a:solidFill>
                <a:latin typeface="Verdana" panose="020B0604030504040204" charset="0"/>
                <a:cs typeface="Verdana" panose="020B0604030504040204" charset="0"/>
              </a:rPr>
              <a:t>Significance: The framework can monitor traffic to these devices, detecting and mitigating </a:t>
            </a:r>
            <a:r>
              <a:rPr lang="en-IN" sz="1700" dirty="0" err="1">
                <a:solidFill>
                  <a:schemeClr val="bg1"/>
                </a:solidFill>
                <a:latin typeface="Verdana" panose="020B0604030504040204" charset="0"/>
                <a:cs typeface="Verdana" panose="020B0604030504040204" charset="0"/>
              </a:rPr>
              <a:t>DoS</a:t>
            </a:r>
            <a:r>
              <a:rPr lang="en-IN" sz="1700" dirty="0">
                <a:solidFill>
                  <a:schemeClr val="bg1"/>
                </a:solidFill>
                <a:latin typeface="Verdana" panose="020B0604030504040204" charset="0"/>
                <a:cs typeface="Verdana" panose="020B0604030504040204" charset="0"/>
              </a:rPr>
              <a:t> attacks that could prevent users from controlling their home environment, thus ensuring reliability and security.</a:t>
            </a:r>
            <a:endParaRPr lang="en-IN" sz="1700" dirty="0">
              <a:solidFill>
                <a:schemeClr val="bg1"/>
              </a:solidFill>
              <a:latin typeface="Verdana" panose="020B0604030504040204" charset="0"/>
              <a:cs typeface="Verdana" panose="020B0604030504040204" charset="0"/>
            </a:endParaRPr>
          </a:p>
          <a:p>
            <a:pPr marL="0" indent="0">
              <a:buNone/>
            </a:pPr>
            <a:r>
              <a:rPr lang="en-US" altLang="en-IN" sz="2000" b="1" i="1" dirty="0">
                <a:solidFill>
                  <a:schemeClr val="bg1"/>
                </a:solidFill>
                <a:latin typeface="Verdana" panose="020B0604030504040204" charset="0"/>
                <a:cs typeface="Verdana" panose="020B0604030504040204" charset="0"/>
              </a:rPr>
              <a:t>2. </a:t>
            </a:r>
            <a:r>
              <a:rPr lang="en-IN" sz="2000" b="1" i="1" dirty="0">
                <a:solidFill>
                  <a:schemeClr val="bg1"/>
                </a:solidFill>
                <a:latin typeface="Verdana" panose="020B0604030504040204" charset="0"/>
                <a:cs typeface="Verdana" panose="020B0604030504040204" charset="0"/>
              </a:rPr>
              <a:t>Healthcare Monitoring Systems:</a:t>
            </a:r>
            <a:endParaRPr lang="en-IN" sz="2000" b="1" dirty="0">
              <a:solidFill>
                <a:schemeClr val="bg1"/>
              </a:solidFill>
              <a:latin typeface="Verdana" panose="020B0604030504040204" charset="0"/>
              <a:cs typeface="Verdana" panose="020B0604030504040204" charset="0"/>
            </a:endParaRPr>
          </a:p>
          <a:p>
            <a:pPr>
              <a:buClr>
                <a:srgbClr val="FFFFFF"/>
              </a:buClr>
              <a:buFont typeface="Wingdings" panose="05000000000000000000" charset="0"/>
              <a:buChar char="§"/>
            </a:pPr>
            <a:r>
              <a:rPr lang="en-IN" sz="1700" dirty="0">
                <a:solidFill>
                  <a:schemeClr val="bg1"/>
                </a:solidFill>
                <a:latin typeface="Verdana" panose="020B0604030504040204" charset="0"/>
                <a:cs typeface="Verdana" panose="020B0604030504040204" charset="0"/>
              </a:rPr>
              <a:t>Use Case: Wearable health devices continuously transmit data about patients’ vital signs.</a:t>
            </a:r>
            <a:endParaRPr lang="en-IN" sz="1700" dirty="0">
              <a:solidFill>
                <a:schemeClr val="bg1"/>
              </a:solidFill>
              <a:latin typeface="Verdana" panose="020B0604030504040204" charset="0"/>
              <a:cs typeface="Verdana" panose="020B0604030504040204" charset="0"/>
            </a:endParaRPr>
          </a:p>
          <a:p>
            <a:pPr>
              <a:buClr>
                <a:srgbClr val="FFFFFF"/>
              </a:buClr>
              <a:buFont typeface="Wingdings" panose="05000000000000000000" charset="0"/>
              <a:buChar char="§"/>
            </a:pPr>
            <a:r>
              <a:rPr lang="en-IN" sz="1700" dirty="0">
                <a:solidFill>
                  <a:schemeClr val="bg1"/>
                </a:solidFill>
                <a:latin typeface="Verdana" panose="020B0604030504040204" charset="0"/>
                <a:cs typeface="Verdana" panose="020B0604030504040204" charset="0"/>
              </a:rPr>
              <a:t>Significance: By protecting against </a:t>
            </a:r>
            <a:r>
              <a:rPr lang="en-IN" sz="1700" dirty="0" err="1">
                <a:solidFill>
                  <a:schemeClr val="bg1"/>
                </a:solidFill>
                <a:latin typeface="Verdana" panose="020B0604030504040204" charset="0"/>
                <a:cs typeface="Verdana" panose="020B0604030504040204" charset="0"/>
              </a:rPr>
              <a:t>DoS</a:t>
            </a:r>
            <a:r>
              <a:rPr lang="en-IN" sz="1700" dirty="0">
                <a:solidFill>
                  <a:schemeClr val="bg1"/>
                </a:solidFill>
                <a:latin typeface="Verdana" panose="020B0604030504040204" charset="0"/>
                <a:cs typeface="Verdana" panose="020B0604030504040204" charset="0"/>
              </a:rPr>
              <a:t> attacks, the framework ensures continuous monitoring and timely alerts, which are critical for patient safety and effective healthcare delivery.</a:t>
            </a:r>
            <a:endParaRPr lang="en-IN" sz="1700" dirty="0">
              <a:solidFill>
                <a:schemeClr val="bg1"/>
              </a:solidFill>
              <a:latin typeface="Verdana" panose="020B0604030504040204" charset="0"/>
              <a:cs typeface="Verdana" panose="020B0604030504040204" charset="0"/>
            </a:endParaRPr>
          </a:p>
          <a:p>
            <a:pPr marL="0" indent="0">
              <a:buNone/>
            </a:pPr>
            <a:r>
              <a:rPr lang="en-US" altLang="en-IN" b="1" i="1" dirty="0">
                <a:solidFill>
                  <a:schemeClr val="bg1"/>
                </a:solidFill>
                <a:latin typeface="Verdana" panose="020B0604030504040204" charset="0"/>
                <a:cs typeface="Verdana" panose="020B0604030504040204" charset="0"/>
              </a:rPr>
              <a:t>3.</a:t>
            </a:r>
            <a:r>
              <a:rPr lang="en-US" altLang="en-IN" sz="2000" b="1" i="1" dirty="0">
                <a:solidFill>
                  <a:schemeClr val="bg1"/>
                </a:solidFill>
                <a:latin typeface="Verdana" panose="020B0604030504040204" charset="0"/>
                <a:cs typeface="Verdana" panose="020B0604030504040204" charset="0"/>
              </a:rPr>
              <a:t> </a:t>
            </a:r>
            <a:r>
              <a:rPr lang="en-IN" sz="2000" b="1" i="1" dirty="0">
                <a:solidFill>
                  <a:schemeClr val="bg1"/>
                </a:solidFill>
                <a:latin typeface="Verdana" panose="020B0604030504040204" charset="0"/>
                <a:cs typeface="Verdana" panose="020B0604030504040204" charset="0"/>
              </a:rPr>
              <a:t>Industrial </a:t>
            </a:r>
            <a:r>
              <a:rPr lang="en-IN" sz="2000" b="1" i="1" dirty="0" err="1">
                <a:solidFill>
                  <a:schemeClr val="bg1"/>
                </a:solidFill>
                <a:latin typeface="Verdana" panose="020B0604030504040204" charset="0"/>
                <a:cs typeface="Verdana" panose="020B0604030504040204" charset="0"/>
              </a:rPr>
              <a:t>IoT</a:t>
            </a:r>
            <a:r>
              <a:rPr lang="en-IN" sz="2000" b="1" i="1" dirty="0">
                <a:solidFill>
                  <a:schemeClr val="bg1"/>
                </a:solidFill>
                <a:latin typeface="Verdana" panose="020B0604030504040204" charset="0"/>
                <a:cs typeface="Verdana" panose="020B0604030504040204" charset="0"/>
              </a:rPr>
              <a:t> (</a:t>
            </a:r>
            <a:r>
              <a:rPr lang="en-IN" sz="2000" b="1" i="1" dirty="0" err="1">
                <a:solidFill>
                  <a:schemeClr val="bg1"/>
                </a:solidFill>
                <a:latin typeface="Verdana" panose="020B0604030504040204" charset="0"/>
                <a:cs typeface="Verdana" panose="020B0604030504040204" charset="0"/>
              </a:rPr>
              <a:t>IIoT</a:t>
            </a:r>
            <a:r>
              <a:rPr lang="en-IN" sz="2000" b="1" i="1" dirty="0">
                <a:solidFill>
                  <a:schemeClr val="bg1"/>
                </a:solidFill>
                <a:latin typeface="Verdana" panose="020B0604030504040204" charset="0"/>
                <a:cs typeface="Verdana" panose="020B0604030504040204" charset="0"/>
              </a:rPr>
              <a:t>):</a:t>
            </a:r>
            <a:endParaRPr lang="en-IN" b="1" i="1" dirty="0">
              <a:solidFill>
                <a:schemeClr val="bg1"/>
              </a:solidFill>
              <a:latin typeface="Verdana" panose="020B0604030504040204" charset="0"/>
              <a:cs typeface="Verdana" panose="020B0604030504040204" charset="0"/>
            </a:endParaRPr>
          </a:p>
          <a:p>
            <a:pPr>
              <a:buClr>
                <a:srgbClr val="F4F4F4"/>
              </a:buClr>
              <a:buFont typeface="Wingdings" panose="05000000000000000000" charset="0"/>
              <a:buChar char="§"/>
            </a:pPr>
            <a:r>
              <a:rPr lang="en-IN" sz="1700" dirty="0">
                <a:solidFill>
                  <a:schemeClr val="bg1"/>
                </a:solidFill>
                <a:latin typeface="Verdana" panose="020B0604030504040204" charset="0"/>
                <a:cs typeface="Verdana" panose="020B0604030504040204" charset="0"/>
              </a:rPr>
              <a:t>Use Case: In industrial environments, sensors and machines communicate to optimize production processes.</a:t>
            </a:r>
            <a:endParaRPr lang="en-IN" sz="1700" dirty="0">
              <a:solidFill>
                <a:schemeClr val="bg1"/>
              </a:solidFill>
              <a:latin typeface="Verdana" panose="020B0604030504040204" charset="0"/>
              <a:cs typeface="Verdana" panose="020B0604030504040204" charset="0"/>
            </a:endParaRPr>
          </a:p>
          <a:p>
            <a:pPr>
              <a:buClr>
                <a:srgbClr val="F4F4F4"/>
              </a:buClr>
              <a:buFont typeface="Wingdings" panose="05000000000000000000" charset="0"/>
              <a:buChar char="§"/>
            </a:pPr>
            <a:r>
              <a:rPr lang="en-IN" sz="1700" dirty="0">
                <a:solidFill>
                  <a:schemeClr val="bg1"/>
                </a:solidFill>
                <a:latin typeface="Verdana" panose="020B0604030504040204" charset="0"/>
                <a:cs typeface="Verdana" panose="020B0604030504040204" charset="0"/>
              </a:rPr>
              <a:t>Significance: The framework safeguards against </a:t>
            </a:r>
            <a:r>
              <a:rPr lang="en-IN" sz="1700" dirty="0" err="1">
                <a:solidFill>
                  <a:schemeClr val="bg1"/>
                </a:solidFill>
                <a:latin typeface="Verdana" panose="020B0604030504040204" charset="0"/>
                <a:cs typeface="Verdana" panose="020B0604030504040204" charset="0"/>
              </a:rPr>
              <a:t>DoS</a:t>
            </a:r>
            <a:r>
              <a:rPr lang="en-IN" sz="1700" dirty="0">
                <a:solidFill>
                  <a:schemeClr val="bg1"/>
                </a:solidFill>
                <a:latin typeface="Verdana" panose="020B0604030504040204" charset="0"/>
                <a:cs typeface="Verdana" panose="020B0604030504040204" charset="0"/>
              </a:rPr>
              <a:t> attacks that could disrupt operations, ensuring that machinery continues to function efficiently and reducing the risk of financial losses due to downtime.</a:t>
            </a:r>
            <a:endParaRPr lang="en-IN" sz="1700" dirty="0">
              <a:solidFill>
                <a:schemeClr val="bg1"/>
              </a:solidFill>
              <a:latin typeface="Verdana" panose="020B0604030504040204" charset="0"/>
              <a:cs typeface="Verdana" panose="020B0604030504040204" charset="0"/>
            </a:endParaRPr>
          </a:p>
          <a:p>
            <a:pPr>
              <a:buClr>
                <a:srgbClr val="F4F4F4"/>
              </a:buClr>
              <a:buFont typeface="Wingdings" panose="05000000000000000000" charset="0"/>
              <a:buChar char="§"/>
            </a:pPr>
            <a:endParaRPr lang="en-IN" dirty="0"/>
          </a:p>
          <a:p>
            <a:pPr>
              <a:buFont typeface="Wingdings" panose="05000000000000000000" charset="0"/>
              <a:buChar char="§"/>
            </a:pPr>
            <a:endParaRPr lang="en-IN"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21585" y="120015"/>
            <a:ext cx="8982710" cy="6620510"/>
          </a:xfrm>
        </p:spPr>
        <p:txBody>
          <a:bodyPr>
            <a:normAutofit fontScale="92500" lnSpcReduction="10000"/>
          </a:bodyPr>
          <a:lstStyle/>
          <a:p>
            <a:endParaRPr lang="en-IN" dirty="0">
              <a:sym typeface="+mn-ea"/>
            </a:endParaRPr>
          </a:p>
          <a:p>
            <a:pPr marL="0" indent="0">
              <a:buNone/>
            </a:pPr>
            <a:r>
              <a:rPr lang="en-US" altLang="en-IN" sz="1900" b="1" i="1" dirty="0">
                <a:solidFill>
                  <a:schemeClr val="bg1"/>
                </a:solidFill>
                <a:latin typeface="Verdana" panose="020B0604030504040204" charset="0"/>
                <a:cs typeface="Verdana" panose="020B0604030504040204" charset="0"/>
                <a:sym typeface="+mn-ea"/>
              </a:rPr>
              <a:t>4. </a:t>
            </a:r>
            <a:r>
              <a:rPr lang="en-IN" sz="1900" b="1" i="1" dirty="0">
                <a:solidFill>
                  <a:schemeClr val="bg1"/>
                </a:solidFill>
                <a:latin typeface="Verdana" panose="020B0604030504040204" charset="0"/>
                <a:cs typeface="Verdana" panose="020B0604030504040204" charset="0"/>
                <a:sym typeface="+mn-ea"/>
              </a:rPr>
              <a:t>Smart Cities:</a:t>
            </a:r>
            <a:endParaRPr lang="en-IN" sz="1900" b="1" dirty="0">
              <a:solidFill>
                <a:schemeClr val="bg1"/>
              </a:solidFill>
              <a:latin typeface="Verdana" panose="020B0604030504040204" charset="0"/>
              <a:cs typeface="Verdana" panose="020B0604030504040204" charset="0"/>
            </a:endParaRPr>
          </a:p>
          <a:p>
            <a:pPr>
              <a:buClr>
                <a:srgbClr val="F4F4F4"/>
              </a:buClr>
              <a:buFont typeface="Wingdings" panose="05000000000000000000" charset="0"/>
              <a:buChar char="§"/>
            </a:pPr>
            <a:r>
              <a:rPr lang="en-IN" dirty="0">
                <a:solidFill>
                  <a:schemeClr val="bg1"/>
                </a:solidFill>
                <a:latin typeface="Verdana" panose="020B0604030504040204" charset="0"/>
                <a:cs typeface="Verdana" panose="020B0604030504040204" charset="0"/>
                <a:sym typeface="+mn-ea"/>
              </a:rPr>
              <a:t>Use Case: Smart city applications involve traffic management systems, waste management, and public safety surveillance.</a:t>
            </a:r>
            <a:endParaRPr lang="en-IN" dirty="0">
              <a:solidFill>
                <a:schemeClr val="bg1"/>
              </a:solidFill>
              <a:latin typeface="Verdana" panose="020B0604030504040204" charset="0"/>
              <a:cs typeface="Verdana" panose="020B0604030504040204" charset="0"/>
            </a:endParaRPr>
          </a:p>
          <a:p>
            <a:pPr>
              <a:buClr>
                <a:srgbClr val="F4F4F4"/>
              </a:buClr>
              <a:buFont typeface="Wingdings" panose="05000000000000000000" charset="0"/>
              <a:buChar char="§"/>
            </a:pPr>
            <a:r>
              <a:rPr lang="en-IN" dirty="0">
                <a:solidFill>
                  <a:schemeClr val="bg1"/>
                </a:solidFill>
                <a:latin typeface="Verdana" panose="020B0604030504040204" charset="0"/>
                <a:cs typeface="Verdana" panose="020B0604030504040204" charset="0"/>
                <a:sym typeface="+mn-ea"/>
              </a:rPr>
              <a:t>Significance: The framework helps maintain the availability of critical services by mitigating attacks on </a:t>
            </a:r>
            <a:r>
              <a:rPr lang="en-IN" dirty="0" err="1">
                <a:solidFill>
                  <a:schemeClr val="bg1"/>
                </a:solidFill>
                <a:latin typeface="Verdana" panose="020B0604030504040204" charset="0"/>
                <a:cs typeface="Verdana" panose="020B0604030504040204" charset="0"/>
                <a:sym typeface="+mn-ea"/>
              </a:rPr>
              <a:t>IoT</a:t>
            </a:r>
            <a:r>
              <a:rPr lang="en-IN" dirty="0">
                <a:solidFill>
                  <a:schemeClr val="bg1"/>
                </a:solidFill>
                <a:latin typeface="Verdana" panose="020B0604030504040204" charset="0"/>
                <a:cs typeface="Verdana" panose="020B0604030504040204" charset="0"/>
                <a:sym typeface="+mn-ea"/>
              </a:rPr>
              <a:t> infrastructure, thus enhancing urban safety and efficiency.</a:t>
            </a:r>
            <a:endParaRPr lang="en-IN" dirty="0">
              <a:solidFill>
                <a:schemeClr val="bg1"/>
              </a:solidFill>
              <a:latin typeface="Verdana" panose="020B0604030504040204" charset="0"/>
              <a:cs typeface="Verdana" panose="020B0604030504040204" charset="0"/>
              <a:sym typeface="+mn-ea"/>
            </a:endParaRPr>
          </a:p>
          <a:p>
            <a:endParaRPr lang="en-IN" dirty="0">
              <a:solidFill>
                <a:schemeClr val="bg1"/>
              </a:solidFill>
              <a:latin typeface="Verdana" panose="020B0604030504040204" charset="0"/>
              <a:cs typeface="Verdana" panose="020B0604030504040204" charset="0"/>
            </a:endParaRPr>
          </a:p>
          <a:p>
            <a:pPr marL="0" indent="0">
              <a:buNone/>
            </a:pPr>
            <a:r>
              <a:rPr lang="en-US" altLang="en-IN" sz="1900" b="1" i="1" dirty="0">
                <a:solidFill>
                  <a:schemeClr val="bg1"/>
                </a:solidFill>
                <a:latin typeface="Verdana" panose="020B0604030504040204" charset="0"/>
                <a:cs typeface="Verdana" panose="020B0604030504040204" charset="0"/>
                <a:sym typeface="+mn-ea"/>
              </a:rPr>
              <a:t>5. </a:t>
            </a:r>
            <a:r>
              <a:rPr lang="en-IN" sz="1900" b="1" i="1" dirty="0">
                <a:solidFill>
                  <a:schemeClr val="bg1"/>
                </a:solidFill>
                <a:latin typeface="Verdana" panose="020B0604030504040204" charset="0"/>
                <a:cs typeface="Verdana" panose="020B0604030504040204" charset="0"/>
                <a:sym typeface="+mn-ea"/>
              </a:rPr>
              <a:t>Connected Vehicles:</a:t>
            </a:r>
            <a:endParaRPr lang="en-IN" sz="1900" b="1" i="1" dirty="0">
              <a:solidFill>
                <a:schemeClr val="bg1"/>
              </a:solidFill>
              <a:latin typeface="Verdana" panose="020B0604030504040204" charset="0"/>
              <a:cs typeface="Verdana" panose="020B0604030504040204" charset="0"/>
            </a:endParaRPr>
          </a:p>
          <a:p>
            <a:pPr>
              <a:buClr>
                <a:srgbClr val="FFFFFF"/>
              </a:buClr>
              <a:buFont typeface="Wingdings" panose="05000000000000000000" charset="0"/>
              <a:buChar char="§"/>
            </a:pPr>
            <a:r>
              <a:rPr lang="en-IN" dirty="0">
                <a:solidFill>
                  <a:schemeClr val="bg1"/>
                </a:solidFill>
                <a:latin typeface="Verdana" panose="020B0604030504040204" charset="0"/>
                <a:cs typeface="Verdana" panose="020B0604030504040204" charset="0"/>
                <a:sym typeface="+mn-ea"/>
              </a:rPr>
              <a:t>Use Case: Vehicles equipped with </a:t>
            </a:r>
            <a:r>
              <a:rPr lang="en-IN" dirty="0" err="1">
                <a:solidFill>
                  <a:schemeClr val="bg1"/>
                </a:solidFill>
                <a:latin typeface="Verdana" panose="020B0604030504040204" charset="0"/>
                <a:cs typeface="Verdana" panose="020B0604030504040204" charset="0"/>
                <a:sym typeface="+mn-ea"/>
              </a:rPr>
              <a:t>IoT</a:t>
            </a:r>
            <a:r>
              <a:rPr lang="en-IN" dirty="0">
                <a:solidFill>
                  <a:schemeClr val="bg1"/>
                </a:solidFill>
                <a:latin typeface="Verdana" panose="020B0604030504040204" charset="0"/>
                <a:cs typeface="Verdana" panose="020B0604030504040204" charset="0"/>
                <a:sym typeface="+mn-ea"/>
              </a:rPr>
              <a:t> sensors for navigation and safety features require reliable communication with other vehicles and infrastructure.</a:t>
            </a:r>
            <a:endParaRPr lang="en-IN" dirty="0">
              <a:solidFill>
                <a:schemeClr val="bg1"/>
              </a:solidFill>
              <a:latin typeface="Verdana" panose="020B0604030504040204" charset="0"/>
              <a:cs typeface="Verdana" panose="020B0604030504040204" charset="0"/>
            </a:endParaRPr>
          </a:p>
          <a:p>
            <a:pPr>
              <a:buClr>
                <a:srgbClr val="FFFFFF"/>
              </a:buClr>
              <a:buFont typeface="Wingdings" panose="05000000000000000000" charset="0"/>
              <a:buChar char="§"/>
            </a:pPr>
            <a:r>
              <a:rPr lang="en-IN" dirty="0">
                <a:solidFill>
                  <a:schemeClr val="bg1"/>
                </a:solidFill>
                <a:latin typeface="Verdana" panose="020B0604030504040204" charset="0"/>
                <a:cs typeface="Verdana" panose="020B0604030504040204" charset="0"/>
                <a:sym typeface="+mn-ea"/>
              </a:rPr>
              <a:t>Significance: By protecting against </a:t>
            </a:r>
            <a:r>
              <a:rPr lang="en-IN" dirty="0" err="1">
                <a:solidFill>
                  <a:schemeClr val="bg1"/>
                </a:solidFill>
                <a:latin typeface="Verdana" panose="020B0604030504040204" charset="0"/>
                <a:cs typeface="Verdana" panose="020B0604030504040204" charset="0"/>
                <a:sym typeface="+mn-ea"/>
              </a:rPr>
              <a:t>DoS</a:t>
            </a:r>
            <a:r>
              <a:rPr lang="en-IN" dirty="0">
                <a:solidFill>
                  <a:schemeClr val="bg1"/>
                </a:solidFill>
                <a:latin typeface="Verdana" panose="020B0604030504040204" charset="0"/>
                <a:cs typeface="Verdana" panose="020B0604030504040204" charset="0"/>
                <a:sym typeface="+mn-ea"/>
              </a:rPr>
              <a:t> attacks, the framework ensures that safety features remain operational, thereby enhancing road safety and reducing the risk of accidents.</a:t>
            </a:r>
            <a:endParaRPr lang="en-IN" dirty="0">
              <a:solidFill>
                <a:schemeClr val="bg1"/>
              </a:solidFill>
              <a:latin typeface="Verdana" panose="020B0604030504040204" charset="0"/>
              <a:cs typeface="Verdana" panose="020B0604030504040204" charset="0"/>
              <a:sym typeface="+mn-ea"/>
            </a:endParaRPr>
          </a:p>
          <a:p>
            <a:pPr>
              <a:buFont typeface="Wingdings" panose="05000000000000000000" charset="0"/>
              <a:buChar char="§"/>
            </a:pPr>
            <a:endParaRPr lang="en-IN" dirty="0">
              <a:solidFill>
                <a:schemeClr val="bg1"/>
              </a:solidFill>
              <a:latin typeface="Verdana" panose="020B0604030504040204" charset="0"/>
              <a:cs typeface="Verdana" panose="020B0604030504040204" charset="0"/>
            </a:endParaRPr>
          </a:p>
          <a:p>
            <a:pPr marL="0" indent="0">
              <a:buNone/>
            </a:pPr>
            <a:r>
              <a:rPr lang="en-US" altLang="en-IN" sz="1900" b="1" i="1" dirty="0">
                <a:solidFill>
                  <a:schemeClr val="bg1"/>
                </a:solidFill>
                <a:latin typeface="Verdana" panose="020B0604030504040204" charset="0"/>
                <a:cs typeface="Verdana" panose="020B0604030504040204" charset="0"/>
              </a:rPr>
              <a:t>6. </a:t>
            </a:r>
            <a:r>
              <a:rPr lang="en-IN" sz="1900" b="1" i="1" dirty="0">
                <a:solidFill>
                  <a:schemeClr val="bg1"/>
                </a:solidFill>
                <a:latin typeface="Verdana" panose="020B0604030504040204" charset="0"/>
                <a:cs typeface="Verdana" panose="020B0604030504040204" charset="0"/>
              </a:rPr>
              <a:t>Environmental Monitoring:</a:t>
            </a:r>
            <a:endParaRPr lang="en-IN" sz="1900" b="1" i="1" dirty="0">
              <a:solidFill>
                <a:schemeClr val="bg1"/>
              </a:solidFill>
              <a:latin typeface="Verdana" panose="020B0604030504040204" charset="0"/>
              <a:cs typeface="Verdana" panose="020B0604030504040204" charset="0"/>
            </a:endParaRPr>
          </a:p>
          <a:p>
            <a:pPr>
              <a:buClr>
                <a:srgbClr val="FFFFFF"/>
              </a:buClr>
              <a:buFont typeface="Wingdings" panose="05000000000000000000" charset="0"/>
              <a:buChar char="§"/>
            </a:pPr>
            <a:r>
              <a:rPr lang="en-IN" dirty="0">
                <a:solidFill>
                  <a:schemeClr val="bg1"/>
                </a:solidFill>
                <a:latin typeface="Verdana" panose="020B0604030504040204" charset="0"/>
                <a:cs typeface="Verdana" panose="020B0604030504040204" charset="0"/>
              </a:rPr>
              <a:t>Use Case: Sensors collect data on air quality, weather conditions, and pollution levels.</a:t>
            </a:r>
            <a:endParaRPr lang="en-IN" dirty="0">
              <a:solidFill>
                <a:schemeClr val="bg1"/>
              </a:solidFill>
              <a:latin typeface="Verdana" panose="020B0604030504040204" charset="0"/>
              <a:cs typeface="Verdana" panose="020B0604030504040204" charset="0"/>
            </a:endParaRPr>
          </a:p>
          <a:p>
            <a:pPr>
              <a:buClr>
                <a:srgbClr val="FFFFFF"/>
              </a:buClr>
              <a:buFont typeface="Wingdings" panose="05000000000000000000" charset="0"/>
              <a:buChar char="§"/>
            </a:pPr>
            <a:r>
              <a:rPr lang="en-IN" dirty="0">
                <a:solidFill>
                  <a:schemeClr val="bg1"/>
                </a:solidFill>
                <a:latin typeface="Verdana" panose="020B0604030504040204" charset="0"/>
                <a:cs typeface="Verdana" panose="020B0604030504040204" charset="0"/>
              </a:rPr>
              <a:t>Significance: The framework ensures continuous data flow, enabling timely responses to environmental changes and supporting public health initiatives.</a:t>
            </a:r>
            <a:endParaRPr lang="en-IN" dirty="0">
              <a:solidFill>
                <a:schemeClr val="bg1"/>
              </a:solidFill>
              <a:latin typeface="Verdana" panose="020B0604030504040204" charset="0"/>
              <a:cs typeface="Verdana" panose="020B060403050404020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53615" y="330200"/>
            <a:ext cx="8911590" cy="908050"/>
          </a:xfrm>
        </p:spPr>
        <p:txBody>
          <a:bodyPr>
            <a:normAutofit/>
          </a:bodyPr>
          <a:lstStyle/>
          <a:p>
            <a:r>
              <a:rPr lang="en-US">
                <a:solidFill>
                  <a:schemeClr val="bg1"/>
                </a:solidFill>
              </a:rPr>
              <a:t>Conclusion</a:t>
            </a:r>
            <a:endParaRPr lang="en-US">
              <a:solidFill>
                <a:schemeClr val="bg1"/>
              </a:solidFill>
            </a:endParaRPr>
          </a:p>
        </p:txBody>
      </p:sp>
      <p:sp>
        <p:nvSpPr>
          <p:cNvPr id="3" name="Content Placeholder 2"/>
          <p:cNvSpPr>
            <a:spLocks noGrp="1"/>
          </p:cNvSpPr>
          <p:nvPr>
            <p:ph idx="1"/>
          </p:nvPr>
        </p:nvSpPr>
        <p:spPr>
          <a:xfrm>
            <a:off x="1914525" y="1020445"/>
            <a:ext cx="9589770" cy="5263515"/>
          </a:xfrm>
        </p:spPr>
        <p:txBody>
          <a:bodyPr>
            <a:noAutofit/>
          </a:bodyPr>
          <a:lstStyle/>
          <a:p>
            <a:pPr>
              <a:buClr>
                <a:srgbClr val="FFFFFF"/>
              </a:buClr>
              <a:buFont typeface="Wingdings" panose="05000000000000000000" charset="0"/>
              <a:buChar char="Ø"/>
            </a:pPr>
            <a:r>
              <a:rPr lang="en-US" sz="1700">
                <a:solidFill>
                  <a:schemeClr val="bg1"/>
                </a:solidFill>
                <a:latin typeface="Verdana" panose="020B0604030504040204" charset="0"/>
                <a:cs typeface="Verdana" panose="020B0604030504040204" charset="0"/>
              </a:rPr>
              <a:t>In summary, the proposed lightweight machine learning framework for mitigating Denial of Service (DoS) attacks in Internet of Things (IoT) networks effectively addresses a critical security challenge faced by modern IoT deployments.</a:t>
            </a:r>
            <a:endParaRPr lang="en-US" sz="1700">
              <a:solidFill>
                <a:schemeClr val="bg1"/>
              </a:solidFill>
              <a:latin typeface="Verdana" panose="020B0604030504040204" charset="0"/>
              <a:cs typeface="Verdana" panose="020B0604030504040204" charset="0"/>
            </a:endParaRPr>
          </a:p>
          <a:p>
            <a:pPr>
              <a:buClr>
                <a:srgbClr val="FFFFFF"/>
              </a:buClr>
              <a:buFont typeface="Wingdings" panose="05000000000000000000" charset="0"/>
              <a:buChar char="Ø"/>
            </a:pPr>
            <a:r>
              <a:rPr lang="en-US" sz="1700">
                <a:solidFill>
                  <a:schemeClr val="bg1"/>
                </a:solidFill>
                <a:latin typeface="Verdana" panose="020B0604030504040204" charset="0"/>
                <a:cs typeface="Verdana" panose="020B0604030504040204" charset="0"/>
              </a:rPr>
              <a:t> By utilizing algorithms like </a:t>
            </a:r>
            <a:r>
              <a:rPr lang="en-US" sz="1700" u="sng" dirty="0">
                <a:solidFill>
                  <a:schemeClr val="bg1"/>
                </a:solidFill>
                <a:latin typeface="Verdana" panose="020B0604030504040204" charset="0"/>
                <a:ea typeface="Ebrima" panose="02000000000000000000" pitchFamily="2" charset="0"/>
                <a:cs typeface="Verdana" panose="020B0604030504040204" charset="0"/>
                <a:sym typeface="+mn-ea"/>
              </a:rPr>
              <a:t>Decision Tree </a:t>
            </a:r>
            <a:r>
              <a:rPr lang="en-US" sz="1700" u="sng" dirty="0" err="1">
                <a:solidFill>
                  <a:schemeClr val="bg1"/>
                </a:solidFill>
                <a:latin typeface="Verdana" panose="020B0604030504040204" charset="0"/>
                <a:ea typeface="Ebrima" panose="02000000000000000000" pitchFamily="2" charset="0"/>
                <a:cs typeface="Verdana" panose="020B0604030504040204" charset="0"/>
                <a:sym typeface="+mn-ea"/>
              </a:rPr>
              <a:t>algorithm,random</a:t>
            </a:r>
            <a:r>
              <a:rPr lang="en-US" sz="1700" u="sng" dirty="0">
                <a:solidFill>
                  <a:schemeClr val="bg1"/>
                </a:solidFill>
                <a:latin typeface="Verdana" panose="020B0604030504040204" charset="0"/>
                <a:ea typeface="Ebrima" panose="02000000000000000000" pitchFamily="2" charset="0"/>
                <a:cs typeface="Verdana" panose="020B0604030504040204" charset="0"/>
                <a:sym typeface="+mn-ea"/>
              </a:rPr>
              <a:t> </a:t>
            </a:r>
            <a:r>
              <a:rPr lang="en-US" sz="1700" u="sng" dirty="0" err="1">
                <a:solidFill>
                  <a:schemeClr val="bg1"/>
                </a:solidFill>
                <a:latin typeface="Verdana" panose="020B0604030504040204" charset="0"/>
                <a:ea typeface="Ebrima" panose="02000000000000000000" pitchFamily="2" charset="0"/>
                <a:cs typeface="Verdana" panose="020B0604030504040204" charset="0"/>
                <a:sym typeface="+mn-ea"/>
              </a:rPr>
              <a:t>forest,K</a:t>
            </a:r>
            <a:r>
              <a:rPr lang="en-US" sz="1700" u="sng" dirty="0">
                <a:solidFill>
                  <a:schemeClr val="bg1"/>
                </a:solidFill>
                <a:latin typeface="Verdana" panose="020B0604030504040204" charset="0"/>
                <a:ea typeface="Ebrima" panose="02000000000000000000" pitchFamily="2" charset="0"/>
                <a:cs typeface="Verdana" panose="020B0604030504040204" charset="0"/>
                <a:sym typeface="+mn-ea"/>
              </a:rPr>
              <a:t>-nearest neighbor(KNN), longest short-term memory(LSTM), neural network(Multilayer perceptron) </a:t>
            </a:r>
            <a:r>
              <a:rPr lang="en-US" sz="1700">
                <a:solidFill>
                  <a:schemeClr val="bg1"/>
                </a:solidFill>
                <a:latin typeface="Verdana" panose="020B0604030504040204" charset="0"/>
                <a:cs typeface="Verdana" panose="020B0604030504040204" charset="0"/>
              </a:rPr>
              <a:t>the framework efficiently detects and mitigates DoS attacks while maintaining low computational overhead, making it suitable for resource-constrained environments.</a:t>
            </a:r>
            <a:endParaRPr lang="en-US" sz="1700">
              <a:solidFill>
                <a:schemeClr val="bg1"/>
              </a:solidFill>
              <a:latin typeface="Verdana" panose="020B0604030504040204" charset="0"/>
              <a:cs typeface="Verdana" panose="020B0604030504040204" charset="0"/>
            </a:endParaRPr>
          </a:p>
          <a:p>
            <a:pPr>
              <a:buClr>
                <a:srgbClr val="FFFFFF"/>
              </a:buClr>
              <a:buFont typeface="Wingdings" panose="05000000000000000000" charset="0"/>
              <a:buChar char="Ø"/>
            </a:pPr>
            <a:r>
              <a:rPr lang="en-US" sz="1700">
                <a:solidFill>
                  <a:schemeClr val="bg1"/>
                </a:solidFill>
                <a:latin typeface="Verdana" panose="020B0604030504040204" charset="0"/>
                <a:cs typeface="Verdana" panose="020B0604030504040204" charset="0"/>
              </a:rPr>
              <a:t>The architecture supports clustered sensor nodes, enabling real-time data exchange and analysis, which is vital for identifying malicious activities promptly. Its versatility allows integration into various applications, including smart homes, healthcare, industrial systems, and smart cities, ensuring robust protection against potential disruptions.</a:t>
            </a:r>
            <a:endParaRPr lang="en-US" sz="1700">
              <a:solidFill>
                <a:schemeClr val="bg1"/>
              </a:solidFill>
              <a:latin typeface="Verdana" panose="020B0604030504040204" charset="0"/>
              <a:cs typeface="Verdana" panose="020B0604030504040204" charset="0"/>
            </a:endParaRPr>
          </a:p>
          <a:p>
            <a:pPr>
              <a:buClr>
                <a:srgbClr val="FFFFFF"/>
              </a:buClr>
              <a:buFont typeface="Wingdings" panose="05000000000000000000" charset="0"/>
              <a:buChar char="Ø"/>
            </a:pPr>
            <a:r>
              <a:rPr lang="en-US" sz="1700">
                <a:solidFill>
                  <a:schemeClr val="bg1"/>
                </a:solidFill>
                <a:latin typeface="Verdana" panose="020B0604030504040204" charset="0"/>
                <a:cs typeface="Verdana" panose="020B0604030504040204" charset="0"/>
              </a:rPr>
              <a:t>This framework not only enhances the security and reliability of IoT networks but also contributes to their overall performance, fostering a safer and more efficient connected environment.Overall, this project sets the stage for future research and advancements in IoT security, emphasizing the need for effective defenses against cyber threats.</a:t>
            </a:r>
            <a:endParaRPr lang="en-US" sz="1700">
              <a:solidFill>
                <a:schemeClr val="bg1"/>
              </a:solidFill>
              <a:latin typeface="Verdana" panose="020B0604030504040204" charset="0"/>
              <a:cs typeface="Verdana" panose="020B060403050404020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705" y="182245"/>
            <a:ext cx="8911590" cy="518795"/>
          </a:xfrm>
        </p:spPr>
        <p:txBody>
          <a:bodyPr>
            <a:normAutofit fontScale="90000"/>
          </a:bodyPr>
          <a:lstStyle/>
          <a:p>
            <a:r>
              <a:rPr lang="en-US" b="1">
                <a:solidFill>
                  <a:schemeClr val="bg1"/>
                </a:solidFill>
                <a:latin typeface="Verdana" panose="020B0604030504040204" charset="0"/>
                <a:cs typeface="Verdana" panose="020B0604030504040204" charset="0"/>
              </a:rPr>
              <a:t>References</a:t>
            </a:r>
            <a:endParaRPr lang="en-US" b="1">
              <a:solidFill>
                <a:schemeClr val="bg1"/>
              </a:solidFill>
              <a:latin typeface="Verdana" panose="020B0604030504040204" charset="0"/>
              <a:cs typeface="Verdana" panose="020B0604030504040204" charset="0"/>
            </a:endParaRPr>
          </a:p>
        </p:txBody>
      </p:sp>
      <p:sp>
        <p:nvSpPr>
          <p:cNvPr id="3" name="Content Placeholder 2"/>
          <p:cNvSpPr>
            <a:spLocks noGrp="1"/>
          </p:cNvSpPr>
          <p:nvPr>
            <p:ph idx="1"/>
          </p:nvPr>
        </p:nvSpPr>
        <p:spPr>
          <a:xfrm>
            <a:off x="2261235" y="903605"/>
            <a:ext cx="8915400" cy="5443855"/>
          </a:xfrm>
        </p:spPr>
        <p:txBody>
          <a:bodyPr>
            <a:normAutofit/>
          </a:bodyPr>
          <a:lstStyle/>
          <a:p>
            <a:r>
              <a:rPr lang="en-US" sz="1500">
                <a:solidFill>
                  <a:schemeClr val="bg1"/>
                </a:solidFill>
                <a:latin typeface="Verdana" panose="020B0604030504040204" charset="0"/>
                <a:cs typeface="Verdana" panose="020B0604030504040204" charset="0"/>
              </a:rPr>
              <a:t>Syed, N. F., Baig, Z., Ibrahim, A., &amp; Valli, C. (2020). Denial of service attack detection through machine learning for the IoT. Journal of Information and Telecommunication, 4(4), 482-503. https://doi.org/10.1080/24751839.2020.1767484\</a:t>
            </a:r>
            <a:endParaRPr lang="en-US" sz="1500">
              <a:solidFill>
                <a:schemeClr val="bg1"/>
              </a:solidFill>
              <a:latin typeface="Verdana" panose="020B0604030504040204" charset="0"/>
              <a:cs typeface="Verdana" panose="020B0604030504040204" charset="0"/>
            </a:endParaRPr>
          </a:p>
          <a:p>
            <a:r>
              <a:rPr lang="en-US" sz="1500">
                <a:solidFill>
                  <a:schemeClr val="bg1"/>
                </a:solidFill>
                <a:latin typeface="Verdana" panose="020B0604030504040204" charset="0"/>
                <a:cs typeface="Verdana" panose="020B0604030504040204" charset="0"/>
              </a:rPr>
              <a:t>Sadhwani, S., Manibalan, B., Muthalagu, R., &amp; Pawar, P. (n.d.). A lightweight model for DDoS attack detection using machine learning techniques. Department of Computer Science, Birla Institute of Technology and Science Pilani, Dubai Campus. Dubai International Academic City, Dubai.</a:t>
            </a:r>
            <a:endParaRPr lang="en-US" sz="1500">
              <a:solidFill>
                <a:schemeClr val="bg1"/>
              </a:solidFill>
              <a:latin typeface="Verdana" panose="020B0604030504040204" charset="0"/>
              <a:cs typeface="Verdana" panose="020B0604030504040204" charset="0"/>
            </a:endParaRPr>
          </a:p>
          <a:p>
            <a:r>
              <a:rPr lang="en-US" sz="1500">
                <a:solidFill>
                  <a:schemeClr val="bg1"/>
                </a:solidFill>
                <a:latin typeface="Verdana" panose="020B0604030504040204" charset="0"/>
                <a:cs typeface="Verdana" panose="020B0604030504040204" charset="0"/>
              </a:rPr>
              <a:t>Kumar, S. B. J., &amp; Sinha, S. (2023). DoS attack detection in wireless sensor networks (WSN) using hybrid machine learning model. In 10th International Conference on Signal Processing and Integrated Networks (SPIN 2023) (pp. 384-387). IEEE. https://doi.org/10.1109/SPIN57001.2023.10117098</a:t>
            </a:r>
            <a:endParaRPr lang="en-US" sz="1500">
              <a:solidFill>
                <a:schemeClr val="bg1"/>
              </a:solidFill>
              <a:latin typeface="Verdana" panose="020B0604030504040204" charset="0"/>
              <a:cs typeface="Verdana" panose="020B0604030504040204" charset="0"/>
            </a:endParaRPr>
          </a:p>
          <a:p>
            <a:r>
              <a:rPr lang="en-US" sz="1500">
                <a:solidFill>
                  <a:schemeClr val="bg1"/>
                </a:solidFill>
                <a:latin typeface="Verdana" panose="020B0604030504040204" charset="0"/>
                <a:cs typeface="Verdana" panose="020B0604030504040204" charset="0"/>
              </a:rPr>
              <a:t>Elsadig, M. A. (2023). Detection of denial-of-service attack in wireless sensor networks: A lightweight machine learning approach. IEEE Access, 11, 83537-83551. https://doi.org/10.1109/ACCESS.2023.3303113&amp;#8203;:contentReference[oaicite:0]{index=0}.</a:t>
            </a:r>
            <a:endParaRPr lang="en-US" sz="1500">
              <a:solidFill>
                <a:schemeClr val="bg1"/>
              </a:solidFill>
              <a:latin typeface="Verdana" panose="020B0604030504040204" charset="0"/>
              <a:cs typeface="Verdana" panose="020B0604030504040204" charset="0"/>
            </a:endParaRPr>
          </a:p>
          <a:p>
            <a:r>
              <a:rPr lang="en-US" sz="1500">
                <a:solidFill>
                  <a:schemeClr val="bg1"/>
                </a:solidFill>
                <a:latin typeface="Verdana" panose="020B0604030504040204" charset="0"/>
                <a:cs typeface="Verdana" panose="020B0604030504040204" charset="0"/>
              </a:rPr>
              <a:t>AL Mukhaini, G., Anbar, M., Manickam, S., Al-Amiedy, T. A., &amp; Momani, A. (2024). A systematic literature review of recent lightweight detection approaches leveraging machine and deep learning mechanisms in Internet of Things networks. Journal of King Saud University: Computer and Information Sciences, 36(1), 101866. https://doi.org/10.1016/j.jksuci.2023.05.012</a:t>
            </a:r>
            <a:endParaRPr lang="en-US" sz="1500">
              <a:solidFill>
                <a:schemeClr val="bg1"/>
              </a:solidFill>
              <a:latin typeface="Verdana" panose="020B0604030504040204" charset="0"/>
              <a:cs typeface="Verdana" panose="020B0604030504040204" charset="0"/>
            </a:endParaRPr>
          </a:p>
        </p:txBody>
      </p:sp>
    </p:spTree>
  </p:cSld>
  <p:clrMapOvr>
    <a:masterClrMapping/>
  </p:clrMapOvr>
</p:sld>
</file>

<file path=ppt/tags/tag1.xml><?xml version="1.0" encoding="utf-8"?>
<p:tagLst xmlns:p="http://schemas.openxmlformats.org/presentationml/2006/main">
  <p:tag name="TABLE_ENDDRAG_ORIGIN_RECT" val="782*440"/>
  <p:tag name="TABLE_ENDDRAG_RECT" val="118*67*782*440"/>
</p:tagLst>
</file>

<file path=ppt/tags/tag2.xml><?xml version="1.0" encoding="utf-8"?>
<p:tagLst xmlns:p="http://schemas.openxmlformats.org/presentationml/2006/main">
  <p:tag name="TABLE_ENDDRAG_ORIGIN_RECT" val="759*479"/>
  <p:tag name="TABLE_ENDDRAG_RECT" val="133*33*759*479"/>
</p:tagLst>
</file>

<file path=ppt/tags/tag3.xml><?xml version="1.0" encoding="utf-8"?>
<p:tagLst xmlns:p="http://schemas.openxmlformats.org/presentationml/2006/main">
  <p:tag name="TABLE_ENDDRAG_ORIGIN_RECT" val="778*407"/>
  <p:tag name="TABLE_ENDDRAG_RECT" val="139*41*778*407"/>
</p:tagLst>
</file>

<file path=ppt/tags/tag4.xml><?xml version="1.0" encoding="utf-8"?>
<p:tagLst xmlns:p="http://schemas.openxmlformats.org/presentationml/2006/main">
  <p:tag name="TABLE_ENDDRAG_ORIGIN_RECT" val="597*446"/>
  <p:tag name="TABLE_ENDDRAG_RECT" val="232*68*597*446"/>
</p:tagLst>
</file>

<file path=ppt/tags/tag5.xml><?xml version="1.0" encoding="utf-8"?>
<p:tagLst xmlns:p="http://schemas.openxmlformats.org/presentationml/2006/main">
  <p:tag name="TABLE_ENDDRAG_ORIGIN_RECT" val="597*362"/>
  <p:tag name="TABLE_ENDDRAG_RECT" val="236*67*597*362"/>
</p:tagLst>
</file>

<file path=ppt/theme/theme1.xml><?xml version="1.0" encoding="utf-8"?>
<a:theme xmlns:a="http://schemas.openxmlformats.org/drawingml/2006/main" name="Wisp">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0</TotalTime>
  <Words>24001</Words>
  <Application>WPS Presentation</Application>
  <PresentationFormat>Custom</PresentationFormat>
  <Paragraphs>428</Paragraphs>
  <Slides>36</Slides>
  <Notes>2</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36</vt:i4>
      </vt:variant>
    </vt:vector>
  </HeadingPairs>
  <TitlesOfParts>
    <vt:vector size="56" baseType="lpstr">
      <vt:lpstr>Arial</vt:lpstr>
      <vt:lpstr>SimSun</vt:lpstr>
      <vt:lpstr>Wingdings</vt:lpstr>
      <vt:lpstr>Wingdings 3</vt:lpstr>
      <vt:lpstr>Arial</vt:lpstr>
      <vt:lpstr>Constantia</vt:lpstr>
      <vt:lpstr>Calibri</vt:lpstr>
      <vt:lpstr>Britannic Bold</vt:lpstr>
      <vt:lpstr>Verdana</vt:lpstr>
      <vt:lpstr>Wingdings</vt:lpstr>
      <vt:lpstr>Ebrima</vt:lpstr>
      <vt:lpstr>Calibri</vt:lpstr>
      <vt:lpstr>Verdana</vt:lpstr>
      <vt:lpstr>Aptos</vt:lpstr>
      <vt:lpstr>Segoe Print</vt:lpstr>
      <vt:lpstr>Arial Black</vt:lpstr>
      <vt:lpstr>Microsoft YaHei</vt:lpstr>
      <vt:lpstr>Arial Unicode MS</vt:lpstr>
      <vt:lpstr>Times New Roman</vt:lpstr>
      <vt:lpstr>Wisp</vt:lpstr>
      <vt:lpstr>PowerPoint 演示文稿</vt:lpstr>
      <vt:lpstr>Introduction to the Project</vt:lpstr>
      <vt:lpstr>Problem Statement</vt:lpstr>
      <vt:lpstr>Objective</vt:lpstr>
      <vt:lpstr>LITERATURE SURVEY</vt:lpstr>
      <vt:lpstr>PowerPoint 演示文稿</vt:lpstr>
      <vt:lpstr>PowerPoint 演示文稿</vt:lpstr>
      <vt:lpstr>PowerPoint 演示文稿</vt:lpstr>
      <vt:lpstr>System Design</vt:lpstr>
      <vt:lpstr>Highlevel Architecture</vt:lpstr>
      <vt:lpstr>Requirements to develop the project</vt:lpstr>
      <vt:lpstr>PowerPoint 演示文稿</vt:lpstr>
      <vt:lpstr>Algorithm and Datasets used</vt:lpstr>
      <vt:lpstr>Accuracy Of Algorithm</vt:lpstr>
      <vt:lpstr>Classification Report on Test Data</vt:lpstr>
      <vt:lpstr>PowerPoint 演示文稿</vt:lpstr>
      <vt:lpstr>PowerPoint 演示文稿</vt:lpstr>
      <vt:lpstr>PowerPoint 演示文稿</vt:lpstr>
      <vt:lpstr>Introduction to Wireshark</vt:lpstr>
      <vt:lpstr>Purpose of Wireshark</vt:lpstr>
      <vt:lpstr>Generate dataset in Wireshark </vt:lpstr>
      <vt:lpstr>PowerPoint 演示文稿</vt:lpstr>
      <vt:lpstr>PowerPoint 演示文稿</vt:lpstr>
      <vt:lpstr>PowerPoint 演示文稿</vt:lpstr>
      <vt:lpstr>Generated dataset</vt:lpstr>
      <vt:lpstr>Comparison of Graph</vt:lpstr>
      <vt:lpstr>            Comparison of Graph</vt:lpstr>
      <vt:lpstr>PowerPoint 演示文稿</vt:lpstr>
      <vt:lpstr>PowerPoint 演示文稿</vt:lpstr>
      <vt:lpstr>Performance comparison</vt:lpstr>
      <vt:lpstr>Output of generated dataset</vt:lpstr>
      <vt:lpstr>Predicted output of code</vt:lpstr>
      <vt:lpstr>Applications of the Proposal</vt:lpstr>
      <vt:lpstr>PowerPoint 演示文稿</vt:lpstr>
      <vt:lpstr>Conclusion</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MEGHA SHREE</dc:creator>
  <cp:lastModifiedBy>Palguni T R</cp:lastModifiedBy>
  <cp:revision>46</cp:revision>
  <dcterms:created xsi:type="dcterms:W3CDTF">2024-10-15T10:43:00Z</dcterms:created>
  <dcterms:modified xsi:type="dcterms:W3CDTF">2025-01-19T07:23:01Z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13FA8BE967414E618B0D42ED7933D79F_13</vt:lpwstr>
  </property>
  <property fmtid="{D5CDD505-2E9C-101B-9397-08002B2CF9AE}" pid="3" name="KSOProductBuildVer">
    <vt:lpwstr>1033-12.2.0.19805</vt:lpwstr>
  </property>
</Properties>
</file>